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3"/>
  </p:notesMasterIdLst>
  <p:sldIdLst>
    <p:sldId id="257" r:id="rId2"/>
    <p:sldId id="317" r:id="rId3"/>
    <p:sldId id="581" r:id="rId4"/>
    <p:sldId id="582" r:id="rId5"/>
    <p:sldId id="570" r:id="rId6"/>
    <p:sldId id="573" r:id="rId7"/>
    <p:sldId id="579" r:id="rId8"/>
    <p:sldId id="634" r:id="rId9"/>
    <p:sldId id="635" r:id="rId10"/>
    <p:sldId id="601" r:id="rId11"/>
    <p:sldId id="602" r:id="rId12"/>
    <p:sldId id="620" r:id="rId13"/>
    <p:sldId id="624" r:id="rId14"/>
    <p:sldId id="636" r:id="rId15"/>
    <p:sldId id="289" r:id="rId16"/>
    <p:sldId id="637" r:id="rId17"/>
    <p:sldId id="638" r:id="rId18"/>
    <p:sldId id="286" r:id="rId19"/>
    <p:sldId id="267" r:id="rId20"/>
    <p:sldId id="639" r:id="rId21"/>
    <p:sldId id="640" r:id="rId22"/>
    <p:sldId id="641" r:id="rId23"/>
    <p:sldId id="642" r:id="rId24"/>
    <p:sldId id="258" r:id="rId25"/>
    <p:sldId id="643" r:id="rId26"/>
    <p:sldId id="259" r:id="rId27"/>
    <p:sldId id="261" r:id="rId28"/>
    <p:sldId id="266" r:id="rId29"/>
    <p:sldId id="262" r:id="rId30"/>
    <p:sldId id="256" r:id="rId31"/>
    <p:sldId id="263" r:id="rId32"/>
    <p:sldId id="264" r:id="rId33"/>
    <p:sldId id="279" r:id="rId34"/>
    <p:sldId id="644" r:id="rId35"/>
    <p:sldId id="269" r:id="rId36"/>
    <p:sldId id="284" r:id="rId37"/>
    <p:sldId id="285" r:id="rId38"/>
    <p:sldId id="293" r:id="rId39"/>
    <p:sldId id="294" r:id="rId40"/>
    <p:sldId id="297" r:id="rId41"/>
    <p:sldId id="292" r:id="rId42"/>
  </p:sldIdLst>
  <p:sldSz cx="12192000" cy="6858000"/>
  <p:notesSz cx="6858000" cy="9144000"/>
  <p:defaultTex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72F3D"/>
    <a:srgbClr val="CE1E82"/>
    <a:srgbClr val="009900"/>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86" d="100"/>
          <a:sy n="86" d="100"/>
        </p:scale>
        <p:origin x="514" y="67"/>
      </p:cViewPr>
      <p:guideLst>
        <p:guide orient="horz" pos="2160"/>
        <p:guide pos="3840"/>
      </p:guideLst>
    </p:cSldViewPr>
  </p:slideViewPr>
  <p:notesTextViewPr>
    <p:cViewPr>
      <p:scale>
        <a:sx n="1" d="1"/>
        <a:sy n="1" d="1"/>
      </p:scale>
      <p:origin x="0" y="0"/>
    </p:cViewPr>
  </p:notesTextViewPr>
  <p:sorterViewPr>
    <p:cViewPr>
      <p:scale>
        <a:sx n="99" d="100"/>
        <a:sy n="99" d="100"/>
      </p:scale>
      <p:origin x="0" y="-4574"/>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l-G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E06895-E411-444E-92F0-E1F43C5B9AD4}" type="datetimeFigureOut">
              <a:rPr lang="el-GR" smtClean="0"/>
              <a:pPr/>
              <a:t>25/10/2020</a:t>
            </a:fld>
            <a:endParaRPr lang="el-G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l-G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l-G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66B0DF-8290-49D6-AD4A-66FEFED85A5C}" type="slidenum">
              <a:rPr lang="el-GR" smtClean="0"/>
              <a:pPr/>
              <a:t>‹#›</a:t>
            </a:fld>
            <a:endParaRPr lang="el-GR"/>
          </a:p>
        </p:txBody>
      </p:sp>
    </p:spTree>
    <p:extLst>
      <p:ext uri="{BB962C8B-B14F-4D97-AF65-F5344CB8AC3E}">
        <p14:creationId xmlns:p14="http://schemas.microsoft.com/office/powerpoint/2010/main" val="37028815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524000" y="1635161"/>
            <a:ext cx="9144000" cy="1874801"/>
          </a:xfrm>
        </p:spPr>
        <p:txBody>
          <a:bodyPr anchor="b">
            <a:noAutofit/>
          </a:bodyPr>
          <a:lstStyle>
            <a:lvl1pPr algn="ctr">
              <a:defRPr sz="4000" baseline="0">
                <a:solidFill>
                  <a:srgbClr val="CE1E82"/>
                </a:solidFill>
              </a:defRPr>
            </a:lvl1pPr>
          </a:lstStyle>
          <a:p>
            <a:r>
              <a:rPr lang="el-GR" dirty="0"/>
              <a:t>Τίτλος Πτυχιακής / Διπλωματικής Εργασίας</a:t>
            </a:r>
          </a:p>
        </p:txBody>
      </p:sp>
      <p:sp>
        <p:nvSpPr>
          <p:cNvPr id="3" name="Subtitle 2"/>
          <p:cNvSpPr>
            <a:spLocks noGrp="1"/>
          </p:cNvSpPr>
          <p:nvPr>
            <p:ph type="subTitle" idx="1" hasCustomPrompt="1"/>
          </p:nvPr>
        </p:nvSpPr>
        <p:spPr>
          <a:xfrm>
            <a:off x="1524000" y="3744913"/>
            <a:ext cx="9144000" cy="636587"/>
          </a:xfrm>
        </p:spPr>
        <p:txBody>
          <a:bodyPr/>
          <a:lstStyle>
            <a:lvl1pPr marL="0" indent="0" algn="ctr">
              <a:buNone/>
              <a:defRPr sz="2400">
                <a:solidFill>
                  <a:srgbClr val="272F3D"/>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l-GR" dirty="0"/>
              <a:t>Ονοματεπώνυμο Φοιτητή/Φοιτήτριας</a:t>
            </a:r>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66887" y="285089"/>
            <a:ext cx="2881233" cy="1110241"/>
          </a:xfrm>
          <a:prstGeom prst="rect">
            <a:avLst/>
          </a:prstGeom>
        </p:spPr>
      </p:pic>
      <p:sp>
        <p:nvSpPr>
          <p:cNvPr id="25" name="Text Placeholder 24"/>
          <p:cNvSpPr>
            <a:spLocks noGrp="1"/>
          </p:cNvSpPr>
          <p:nvPr>
            <p:ph type="body" sz="quarter" idx="10" hasCustomPrompt="1"/>
          </p:nvPr>
        </p:nvSpPr>
        <p:spPr>
          <a:xfrm>
            <a:off x="4152900" y="400050"/>
            <a:ext cx="6515100" cy="995363"/>
          </a:xfrm>
        </p:spPr>
        <p:txBody>
          <a:bodyPr>
            <a:normAutofit/>
          </a:bodyPr>
          <a:lstStyle>
            <a:lvl1pPr marL="0" indent="0" algn="ctr">
              <a:buNone/>
              <a:defRPr sz="3200" cap="small" baseline="0">
                <a:solidFill>
                  <a:srgbClr val="272F3D"/>
                </a:solidFill>
              </a:defRPr>
            </a:lvl1pPr>
          </a:lstStyle>
          <a:p>
            <a:pPr lvl="0"/>
            <a:r>
              <a:rPr lang="el-GR" dirty="0"/>
              <a:t>Τίτλος Προγράμματος Σπουδών</a:t>
            </a:r>
            <a:endParaRPr lang="en-US" dirty="0"/>
          </a:p>
        </p:txBody>
      </p:sp>
      <p:sp>
        <p:nvSpPr>
          <p:cNvPr id="27" name="Text Placeholder 26"/>
          <p:cNvSpPr>
            <a:spLocks noGrp="1"/>
          </p:cNvSpPr>
          <p:nvPr>
            <p:ph type="body" sz="quarter" idx="11" hasCustomPrompt="1"/>
          </p:nvPr>
        </p:nvSpPr>
        <p:spPr>
          <a:xfrm>
            <a:off x="6168000" y="4929943"/>
            <a:ext cx="4500000" cy="370800"/>
          </a:xfrm>
        </p:spPr>
        <p:txBody>
          <a:bodyPr anchor="ctr" anchorCtr="0">
            <a:normAutofit/>
          </a:bodyPr>
          <a:lstStyle>
            <a:lvl1pPr marL="0" indent="0">
              <a:buNone/>
              <a:defRPr sz="1800" baseline="0"/>
            </a:lvl1pPr>
            <a:lvl2pPr marL="457200" indent="0">
              <a:buNone/>
              <a:defRPr/>
            </a:lvl2pPr>
          </a:lstStyle>
          <a:p>
            <a:pPr lvl="0"/>
            <a:r>
              <a:rPr lang="el-GR" dirty="0"/>
              <a:t>Ονοματεπώνυμο Επιβλέποντος Καθηγητή</a:t>
            </a:r>
          </a:p>
        </p:txBody>
      </p:sp>
      <p:sp>
        <p:nvSpPr>
          <p:cNvPr id="28" name="Text Placeholder 26"/>
          <p:cNvSpPr>
            <a:spLocks noGrp="1"/>
          </p:cNvSpPr>
          <p:nvPr>
            <p:ph type="body" sz="quarter" idx="12" hasCustomPrompt="1"/>
          </p:nvPr>
        </p:nvSpPr>
        <p:spPr>
          <a:xfrm>
            <a:off x="6168000" y="5360036"/>
            <a:ext cx="4500000" cy="370800"/>
          </a:xfrm>
        </p:spPr>
        <p:txBody>
          <a:bodyPr anchor="ctr" anchorCtr="0">
            <a:normAutofit/>
          </a:bodyPr>
          <a:lstStyle>
            <a:lvl1pPr marL="0" indent="0">
              <a:buNone/>
              <a:defRPr sz="1800" baseline="0"/>
            </a:lvl1pPr>
            <a:lvl2pPr marL="457200" indent="0">
              <a:buNone/>
              <a:defRPr/>
            </a:lvl2pPr>
          </a:lstStyle>
          <a:p>
            <a:pPr lvl="0"/>
            <a:r>
              <a:rPr lang="el-GR" dirty="0"/>
              <a:t>Ονοματεπώνυμο Συν-Επιβλέποντος Καθηγητή</a:t>
            </a:r>
          </a:p>
        </p:txBody>
      </p:sp>
      <p:sp>
        <p:nvSpPr>
          <p:cNvPr id="29" name="TextBox 28"/>
          <p:cNvSpPr txBox="1"/>
          <p:nvPr userDrawn="1"/>
        </p:nvSpPr>
        <p:spPr>
          <a:xfrm>
            <a:off x="2958075" y="4916411"/>
            <a:ext cx="3209925" cy="369332"/>
          </a:xfrm>
          <a:prstGeom prst="rect">
            <a:avLst/>
          </a:prstGeom>
          <a:noFill/>
        </p:spPr>
        <p:txBody>
          <a:bodyPr wrap="square" rtlCol="0">
            <a:spAutoFit/>
          </a:bodyPr>
          <a:lstStyle/>
          <a:p>
            <a:pPr algn="r"/>
            <a:r>
              <a:rPr lang="el-GR" dirty="0"/>
              <a:t>Επιβλέπων</a:t>
            </a:r>
            <a:r>
              <a:rPr lang="el-GR" baseline="0" dirty="0"/>
              <a:t> καθηγητής:</a:t>
            </a:r>
            <a:endParaRPr lang="el-GR" dirty="0"/>
          </a:p>
        </p:txBody>
      </p:sp>
      <p:sp>
        <p:nvSpPr>
          <p:cNvPr id="30" name="TextBox 29"/>
          <p:cNvSpPr txBox="1"/>
          <p:nvPr userDrawn="1"/>
        </p:nvSpPr>
        <p:spPr>
          <a:xfrm>
            <a:off x="2958074" y="5345036"/>
            <a:ext cx="3209925" cy="369332"/>
          </a:xfrm>
          <a:prstGeom prst="rect">
            <a:avLst/>
          </a:prstGeom>
          <a:noFill/>
        </p:spPr>
        <p:txBody>
          <a:bodyPr wrap="square" rtlCol="0">
            <a:spAutoFit/>
          </a:bodyPr>
          <a:lstStyle/>
          <a:p>
            <a:pPr algn="r"/>
            <a:r>
              <a:rPr lang="el-GR" dirty="0" err="1"/>
              <a:t>Συνεπιβλέπων</a:t>
            </a:r>
            <a:r>
              <a:rPr lang="el-GR" dirty="0"/>
              <a:t> καθηγητής: </a:t>
            </a:r>
          </a:p>
        </p:txBody>
      </p:sp>
    </p:spTree>
    <p:extLst>
      <p:ext uri="{BB962C8B-B14F-4D97-AF65-F5344CB8AC3E}">
        <p14:creationId xmlns:p14="http://schemas.microsoft.com/office/powerpoint/2010/main" val="28516952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l-GR"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4" name="Date Placeholder 3"/>
          <p:cNvSpPr>
            <a:spLocks noGrp="1"/>
          </p:cNvSpPr>
          <p:nvPr>
            <p:ph type="dt" sz="half" idx="10"/>
          </p:nvPr>
        </p:nvSpPr>
        <p:spPr/>
        <p:txBody>
          <a:bodyPr/>
          <a:lstStyle/>
          <a:p>
            <a:fld id="{2F155C2B-0C9C-4BD2-B6C7-804AF6A85710}" type="datetime1">
              <a:rPr lang="el-GR" smtClean="0"/>
              <a:pPr/>
              <a:t>25/10/2020</a:t>
            </a:fld>
            <a:endParaRPr lang="el-GR"/>
          </a:p>
        </p:txBody>
      </p:sp>
      <p:sp>
        <p:nvSpPr>
          <p:cNvPr id="5" name="Footer Placeholder 4"/>
          <p:cNvSpPr>
            <a:spLocks noGrp="1"/>
          </p:cNvSpPr>
          <p:nvPr>
            <p:ph type="ftr" sz="quarter" idx="11"/>
          </p:nvPr>
        </p:nvSpPr>
        <p:spPr/>
        <p:txBody>
          <a:bodyPr/>
          <a:lstStyle/>
          <a:p>
            <a:endParaRPr lang="el-GR"/>
          </a:p>
        </p:txBody>
      </p:sp>
      <p:sp>
        <p:nvSpPr>
          <p:cNvPr id="6" name="Slide Number Placeholder 5"/>
          <p:cNvSpPr>
            <a:spLocks noGrp="1"/>
          </p:cNvSpPr>
          <p:nvPr>
            <p:ph type="sldNum" sz="quarter" idx="12"/>
          </p:nvPr>
        </p:nvSpPr>
        <p:spPr/>
        <p:txBody>
          <a:bodyPr/>
          <a:lstStyle/>
          <a:p>
            <a:fld id="{28C4B9FD-BBCD-4D20-BE68-D5FD8F544B57}" type="slidenum">
              <a:rPr lang="el-GR" smtClean="0"/>
              <a:pPr/>
              <a:t>‹#›</a:t>
            </a:fld>
            <a:endParaRPr lang="el-GR"/>
          </a:p>
        </p:txBody>
      </p:sp>
    </p:spTree>
    <p:extLst>
      <p:ext uri="{BB962C8B-B14F-4D97-AF65-F5344CB8AC3E}">
        <p14:creationId xmlns:p14="http://schemas.microsoft.com/office/powerpoint/2010/main" val="15885738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l-GR"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C480712-B4F2-449A-A132-25D3AF7A8C5B}" type="datetime1">
              <a:rPr lang="el-GR" smtClean="0"/>
              <a:pPr/>
              <a:t>25/10/2020</a:t>
            </a:fld>
            <a:endParaRPr lang="el-GR"/>
          </a:p>
        </p:txBody>
      </p:sp>
      <p:sp>
        <p:nvSpPr>
          <p:cNvPr id="5" name="Footer Placeholder 4"/>
          <p:cNvSpPr>
            <a:spLocks noGrp="1"/>
          </p:cNvSpPr>
          <p:nvPr>
            <p:ph type="ftr" sz="quarter" idx="11"/>
          </p:nvPr>
        </p:nvSpPr>
        <p:spPr/>
        <p:txBody>
          <a:bodyPr/>
          <a:lstStyle/>
          <a:p>
            <a:endParaRPr lang="el-GR"/>
          </a:p>
        </p:txBody>
      </p:sp>
      <p:sp>
        <p:nvSpPr>
          <p:cNvPr id="6" name="Slide Number Placeholder 5"/>
          <p:cNvSpPr>
            <a:spLocks noGrp="1"/>
          </p:cNvSpPr>
          <p:nvPr>
            <p:ph type="sldNum" sz="quarter" idx="12"/>
          </p:nvPr>
        </p:nvSpPr>
        <p:spPr/>
        <p:txBody>
          <a:bodyPr/>
          <a:lstStyle/>
          <a:p>
            <a:fld id="{28C4B9FD-BBCD-4D20-BE68-D5FD8F544B57}" type="slidenum">
              <a:rPr lang="el-GR" smtClean="0"/>
              <a:pPr/>
              <a:t>‹#›</a:t>
            </a:fld>
            <a:endParaRPr lang="el-GR"/>
          </a:p>
        </p:txBody>
      </p:sp>
    </p:spTree>
    <p:extLst>
      <p:ext uri="{BB962C8B-B14F-4D97-AF65-F5344CB8AC3E}">
        <p14:creationId xmlns:p14="http://schemas.microsoft.com/office/powerpoint/2010/main" val="34996316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l-GR"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5" name="Date Placeholder 4"/>
          <p:cNvSpPr>
            <a:spLocks noGrp="1"/>
          </p:cNvSpPr>
          <p:nvPr>
            <p:ph type="dt" sz="half" idx="10"/>
          </p:nvPr>
        </p:nvSpPr>
        <p:spPr/>
        <p:txBody>
          <a:bodyPr/>
          <a:lstStyle/>
          <a:p>
            <a:fld id="{485E9EAD-DFEB-4565-B7A5-3E520C091F5D}" type="datetime1">
              <a:rPr lang="el-GR" smtClean="0"/>
              <a:pPr/>
              <a:t>25/10/2020</a:t>
            </a:fld>
            <a:endParaRPr lang="el-GR"/>
          </a:p>
        </p:txBody>
      </p:sp>
      <p:sp>
        <p:nvSpPr>
          <p:cNvPr id="6" name="Footer Placeholder 5"/>
          <p:cNvSpPr>
            <a:spLocks noGrp="1"/>
          </p:cNvSpPr>
          <p:nvPr>
            <p:ph type="ftr" sz="quarter" idx="11"/>
          </p:nvPr>
        </p:nvSpPr>
        <p:spPr/>
        <p:txBody>
          <a:bodyPr/>
          <a:lstStyle/>
          <a:p>
            <a:endParaRPr lang="el-GR"/>
          </a:p>
        </p:txBody>
      </p:sp>
      <p:sp>
        <p:nvSpPr>
          <p:cNvPr id="7" name="Slide Number Placeholder 6"/>
          <p:cNvSpPr>
            <a:spLocks noGrp="1"/>
          </p:cNvSpPr>
          <p:nvPr>
            <p:ph type="sldNum" sz="quarter" idx="12"/>
          </p:nvPr>
        </p:nvSpPr>
        <p:spPr/>
        <p:txBody>
          <a:bodyPr/>
          <a:lstStyle/>
          <a:p>
            <a:fld id="{28C4B9FD-BBCD-4D20-BE68-D5FD8F544B57}" type="slidenum">
              <a:rPr lang="el-GR" smtClean="0"/>
              <a:pPr/>
              <a:t>‹#›</a:t>
            </a:fld>
            <a:endParaRPr lang="el-GR"/>
          </a:p>
        </p:txBody>
      </p:sp>
    </p:spTree>
    <p:extLst>
      <p:ext uri="{BB962C8B-B14F-4D97-AF65-F5344CB8AC3E}">
        <p14:creationId xmlns:p14="http://schemas.microsoft.com/office/powerpoint/2010/main" val="33238070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34000" y="363600"/>
            <a:ext cx="7524000" cy="1325563"/>
          </a:xfrm>
        </p:spPr>
        <p:txBody>
          <a:bodyPr/>
          <a:lstStyle/>
          <a:p>
            <a:r>
              <a:rPr lang="en-US"/>
              <a:t>Click to edit Master title style</a:t>
            </a:r>
            <a:endParaRPr lang="el-GR"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solidFill>
                  <a:srgbClr val="CE1E8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solidFill>
                  <a:srgbClr val="CE1E8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7" name="Date Placeholder 6"/>
          <p:cNvSpPr>
            <a:spLocks noGrp="1"/>
          </p:cNvSpPr>
          <p:nvPr>
            <p:ph type="dt" sz="half" idx="10"/>
          </p:nvPr>
        </p:nvSpPr>
        <p:spPr/>
        <p:txBody>
          <a:bodyPr/>
          <a:lstStyle/>
          <a:p>
            <a:fld id="{E3FFD5EC-99FC-4D6E-9F2C-3BC0936AA1DB}" type="datetime1">
              <a:rPr lang="el-GR" smtClean="0"/>
              <a:pPr/>
              <a:t>25/10/2020</a:t>
            </a:fld>
            <a:endParaRPr lang="el-GR"/>
          </a:p>
        </p:txBody>
      </p:sp>
      <p:sp>
        <p:nvSpPr>
          <p:cNvPr id="8" name="Footer Placeholder 7"/>
          <p:cNvSpPr>
            <a:spLocks noGrp="1"/>
          </p:cNvSpPr>
          <p:nvPr>
            <p:ph type="ftr" sz="quarter" idx="11"/>
          </p:nvPr>
        </p:nvSpPr>
        <p:spPr/>
        <p:txBody>
          <a:bodyPr/>
          <a:lstStyle/>
          <a:p>
            <a:endParaRPr lang="el-GR"/>
          </a:p>
        </p:txBody>
      </p:sp>
      <p:sp>
        <p:nvSpPr>
          <p:cNvPr id="9" name="Slide Number Placeholder 8"/>
          <p:cNvSpPr>
            <a:spLocks noGrp="1"/>
          </p:cNvSpPr>
          <p:nvPr>
            <p:ph type="sldNum" sz="quarter" idx="12"/>
          </p:nvPr>
        </p:nvSpPr>
        <p:spPr/>
        <p:txBody>
          <a:bodyPr/>
          <a:lstStyle/>
          <a:p>
            <a:fld id="{28C4B9FD-BBCD-4D20-BE68-D5FD8F544B57}" type="slidenum">
              <a:rPr lang="el-GR" smtClean="0"/>
              <a:pPr/>
              <a:t>‹#›</a:t>
            </a:fld>
            <a:endParaRPr lang="el-GR"/>
          </a:p>
        </p:txBody>
      </p:sp>
    </p:spTree>
    <p:extLst>
      <p:ext uri="{BB962C8B-B14F-4D97-AF65-F5344CB8AC3E}">
        <p14:creationId xmlns:p14="http://schemas.microsoft.com/office/powerpoint/2010/main" val="10350466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l-GR"/>
          </a:p>
        </p:txBody>
      </p:sp>
      <p:sp>
        <p:nvSpPr>
          <p:cNvPr id="3" name="Date Placeholder 2"/>
          <p:cNvSpPr>
            <a:spLocks noGrp="1"/>
          </p:cNvSpPr>
          <p:nvPr>
            <p:ph type="dt" sz="half" idx="10"/>
          </p:nvPr>
        </p:nvSpPr>
        <p:spPr/>
        <p:txBody>
          <a:bodyPr/>
          <a:lstStyle/>
          <a:p>
            <a:fld id="{71123903-EEDC-444C-9207-385EB443286F}" type="datetime1">
              <a:rPr lang="el-GR" smtClean="0"/>
              <a:pPr/>
              <a:t>25/10/2020</a:t>
            </a:fld>
            <a:endParaRPr lang="el-GR"/>
          </a:p>
        </p:txBody>
      </p:sp>
      <p:sp>
        <p:nvSpPr>
          <p:cNvPr id="4" name="Footer Placeholder 3"/>
          <p:cNvSpPr>
            <a:spLocks noGrp="1"/>
          </p:cNvSpPr>
          <p:nvPr>
            <p:ph type="ftr" sz="quarter" idx="11"/>
          </p:nvPr>
        </p:nvSpPr>
        <p:spPr/>
        <p:txBody>
          <a:bodyPr/>
          <a:lstStyle/>
          <a:p>
            <a:endParaRPr lang="el-GR"/>
          </a:p>
        </p:txBody>
      </p:sp>
      <p:sp>
        <p:nvSpPr>
          <p:cNvPr id="5" name="Slide Number Placeholder 4"/>
          <p:cNvSpPr>
            <a:spLocks noGrp="1"/>
          </p:cNvSpPr>
          <p:nvPr>
            <p:ph type="sldNum" sz="quarter" idx="12"/>
          </p:nvPr>
        </p:nvSpPr>
        <p:spPr/>
        <p:txBody>
          <a:bodyPr/>
          <a:lstStyle/>
          <a:p>
            <a:fld id="{28C4B9FD-BBCD-4D20-BE68-D5FD8F544B57}" type="slidenum">
              <a:rPr lang="el-GR" smtClean="0"/>
              <a:pPr/>
              <a:t>‹#›</a:t>
            </a:fld>
            <a:endParaRPr lang="el-GR"/>
          </a:p>
        </p:txBody>
      </p:sp>
    </p:spTree>
    <p:extLst>
      <p:ext uri="{BB962C8B-B14F-4D97-AF65-F5344CB8AC3E}">
        <p14:creationId xmlns:p14="http://schemas.microsoft.com/office/powerpoint/2010/main" val="24140385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645883-9285-4D58-B805-7A0A6A52D9F8}" type="datetime1">
              <a:rPr lang="el-GR" smtClean="0"/>
              <a:pPr/>
              <a:t>25/10/2020</a:t>
            </a:fld>
            <a:endParaRPr lang="el-GR"/>
          </a:p>
        </p:txBody>
      </p:sp>
      <p:sp>
        <p:nvSpPr>
          <p:cNvPr id="3" name="Footer Placeholder 2"/>
          <p:cNvSpPr>
            <a:spLocks noGrp="1"/>
          </p:cNvSpPr>
          <p:nvPr>
            <p:ph type="ftr" sz="quarter" idx="11"/>
          </p:nvPr>
        </p:nvSpPr>
        <p:spPr/>
        <p:txBody>
          <a:bodyPr/>
          <a:lstStyle/>
          <a:p>
            <a:endParaRPr lang="el-GR"/>
          </a:p>
        </p:txBody>
      </p:sp>
      <p:sp>
        <p:nvSpPr>
          <p:cNvPr id="4" name="Slide Number Placeholder 3"/>
          <p:cNvSpPr>
            <a:spLocks noGrp="1"/>
          </p:cNvSpPr>
          <p:nvPr>
            <p:ph type="sldNum" sz="quarter" idx="12"/>
          </p:nvPr>
        </p:nvSpPr>
        <p:spPr/>
        <p:txBody>
          <a:bodyPr/>
          <a:lstStyle/>
          <a:p>
            <a:fld id="{28C4B9FD-BBCD-4D20-BE68-D5FD8F544B57}" type="slidenum">
              <a:rPr lang="el-GR" smtClean="0"/>
              <a:pPr/>
              <a:t>‹#›</a:t>
            </a:fld>
            <a:endParaRPr lang="el-GR"/>
          </a:p>
        </p:txBody>
      </p:sp>
    </p:spTree>
    <p:extLst>
      <p:ext uri="{BB962C8B-B14F-4D97-AF65-F5344CB8AC3E}">
        <p14:creationId xmlns:p14="http://schemas.microsoft.com/office/powerpoint/2010/main" val="21117505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1424763"/>
            <a:ext cx="3932237" cy="1031358"/>
          </a:xfrm>
        </p:spPr>
        <p:txBody>
          <a:bodyPr anchor="b"/>
          <a:lstStyle>
            <a:lvl1pPr>
              <a:defRPr sz="3200"/>
            </a:lvl1pPr>
          </a:lstStyle>
          <a:p>
            <a:r>
              <a:rPr lang="en-US"/>
              <a:t>Click to edit Master title style</a:t>
            </a:r>
            <a:endParaRPr lang="el-G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4" name="Text Placeholder 3"/>
          <p:cNvSpPr>
            <a:spLocks noGrp="1"/>
          </p:cNvSpPr>
          <p:nvPr>
            <p:ph type="body" sz="half" idx="2"/>
          </p:nvPr>
        </p:nvSpPr>
        <p:spPr>
          <a:xfrm>
            <a:off x="839788" y="2583712"/>
            <a:ext cx="3932237" cy="327733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DCC323-CC5F-4863-81F1-93D54F88C512}" type="datetime1">
              <a:rPr lang="el-GR" smtClean="0"/>
              <a:pPr/>
              <a:t>25/10/2020</a:t>
            </a:fld>
            <a:endParaRPr lang="el-GR"/>
          </a:p>
        </p:txBody>
      </p:sp>
      <p:sp>
        <p:nvSpPr>
          <p:cNvPr id="6" name="Footer Placeholder 5"/>
          <p:cNvSpPr>
            <a:spLocks noGrp="1"/>
          </p:cNvSpPr>
          <p:nvPr>
            <p:ph type="ftr" sz="quarter" idx="11"/>
          </p:nvPr>
        </p:nvSpPr>
        <p:spPr/>
        <p:txBody>
          <a:bodyPr/>
          <a:lstStyle/>
          <a:p>
            <a:endParaRPr lang="el-GR"/>
          </a:p>
        </p:txBody>
      </p:sp>
      <p:sp>
        <p:nvSpPr>
          <p:cNvPr id="7" name="Slide Number Placeholder 6"/>
          <p:cNvSpPr>
            <a:spLocks noGrp="1"/>
          </p:cNvSpPr>
          <p:nvPr>
            <p:ph type="sldNum" sz="quarter" idx="12"/>
          </p:nvPr>
        </p:nvSpPr>
        <p:spPr/>
        <p:txBody>
          <a:bodyPr/>
          <a:lstStyle/>
          <a:p>
            <a:fld id="{28C4B9FD-BBCD-4D20-BE68-D5FD8F544B57}" type="slidenum">
              <a:rPr lang="el-GR" smtClean="0"/>
              <a:pPr/>
              <a:t>‹#›</a:t>
            </a:fld>
            <a:endParaRPr lang="el-GR"/>
          </a:p>
        </p:txBody>
      </p:sp>
    </p:spTree>
    <p:extLst>
      <p:ext uri="{BB962C8B-B14F-4D97-AF65-F5344CB8AC3E}">
        <p14:creationId xmlns:p14="http://schemas.microsoft.com/office/powerpoint/2010/main" val="26760394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l-GR" dirty="0"/>
          </a:p>
        </p:txBody>
      </p:sp>
      <p:sp>
        <p:nvSpPr>
          <p:cNvPr id="5" name="Date Placeholder 4"/>
          <p:cNvSpPr>
            <a:spLocks noGrp="1"/>
          </p:cNvSpPr>
          <p:nvPr>
            <p:ph type="dt" sz="half" idx="10"/>
          </p:nvPr>
        </p:nvSpPr>
        <p:spPr/>
        <p:txBody>
          <a:bodyPr/>
          <a:lstStyle/>
          <a:p>
            <a:fld id="{A6BCE75A-F852-4657-8ADB-83360D3D6C52}" type="datetime1">
              <a:rPr lang="el-GR" smtClean="0"/>
              <a:pPr/>
              <a:t>25/10/2020</a:t>
            </a:fld>
            <a:endParaRPr lang="el-GR"/>
          </a:p>
        </p:txBody>
      </p:sp>
      <p:sp>
        <p:nvSpPr>
          <p:cNvPr id="6" name="Footer Placeholder 5"/>
          <p:cNvSpPr>
            <a:spLocks noGrp="1"/>
          </p:cNvSpPr>
          <p:nvPr>
            <p:ph type="ftr" sz="quarter" idx="11"/>
          </p:nvPr>
        </p:nvSpPr>
        <p:spPr/>
        <p:txBody>
          <a:bodyPr/>
          <a:lstStyle/>
          <a:p>
            <a:endParaRPr lang="el-GR"/>
          </a:p>
        </p:txBody>
      </p:sp>
      <p:sp>
        <p:nvSpPr>
          <p:cNvPr id="7" name="Slide Number Placeholder 6"/>
          <p:cNvSpPr>
            <a:spLocks noGrp="1"/>
          </p:cNvSpPr>
          <p:nvPr>
            <p:ph type="sldNum" sz="quarter" idx="12"/>
          </p:nvPr>
        </p:nvSpPr>
        <p:spPr/>
        <p:txBody>
          <a:bodyPr/>
          <a:lstStyle/>
          <a:p>
            <a:fld id="{28C4B9FD-BBCD-4D20-BE68-D5FD8F544B57}" type="slidenum">
              <a:rPr lang="el-GR" smtClean="0"/>
              <a:pPr/>
              <a:t>‹#›</a:t>
            </a:fld>
            <a:endParaRPr lang="el-GR"/>
          </a:p>
        </p:txBody>
      </p:sp>
      <p:sp>
        <p:nvSpPr>
          <p:cNvPr id="8" name="Title 1"/>
          <p:cNvSpPr>
            <a:spLocks noGrp="1"/>
          </p:cNvSpPr>
          <p:nvPr>
            <p:ph type="title"/>
          </p:nvPr>
        </p:nvSpPr>
        <p:spPr>
          <a:xfrm>
            <a:off x="839788" y="1424763"/>
            <a:ext cx="3932237" cy="1031358"/>
          </a:xfrm>
        </p:spPr>
        <p:txBody>
          <a:bodyPr anchor="b"/>
          <a:lstStyle>
            <a:lvl1pPr>
              <a:defRPr sz="3200"/>
            </a:lvl1pPr>
          </a:lstStyle>
          <a:p>
            <a:r>
              <a:rPr lang="en-US"/>
              <a:t>Click to edit Master title style</a:t>
            </a:r>
            <a:endParaRPr lang="el-GR"/>
          </a:p>
        </p:txBody>
      </p:sp>
      <p:sp>
        <p:nvSpPr>
          <p:cNvPr id="9" name="Text Placeholder 3"/>
          <p:cNvSpPr>
            <a:spLocks noGrp="1"/>
          </p:cNvSpPr>
          <p:nvPr>
            <p:ph type="body" sz="half" idx="2"/>
          </p:nvPr>
        </p:nvSpPr>
        <p:spPr>
          <a:xfrm>
            <a:off x="839788" y="2583712"/>
            <a:ext cx="3932237" cy="327733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25614382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cSld name="Αντικείμενο">
    <p:spTree>
      <p:nvGrpSpPr>
        <p:cNvPr id="1" name=""/>
        <p:cNvGrpSpPr/>
        <p:nvPr/>
      </p:nvGrpSpPr>
      <p:grpSpPr>
        <a:xfrm>
          <a:off x="0" y="0"/>
          <a:ext cx="0" cy="0"/>
          <a:chOff x="0" y="0"/>
          <a:chExt cx="0" cy="0"/>
        </a:xfrm>
      </p:grpSpPr>
      <p:sp>
        <p:nvSpPr>
          <p:cNvPr id="2" name="Θέση περιεχομένου 1">
            <a:extLst>
              <a:ext uri="{FF2B5EF4-FFF2-40B4-BE49-F238E27FC236}">
                <a16:creationId xmlns:a16="http://schemas.microsoft.com/office/drawing/2014/main" id="{98D52599-6D9B-4CFD-B6D8-701D96617454}"/>
              </a:ext>
            </a:extLst>
          </p:cNvPr>
          <p:cNvSpPr>
            <a:spLocks noGrp="1"/>
          </p:cNvSpPr>
          <p:nvPr>
            <p:ph/>
          </p:nvPr>
        </p:nvSpPr>
        <p:spPr>
          <a:xfrm>
            <a:off x="609600" y="274639"/>
            <a:ext cx="10972800" cy="5851525"/>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a:p>
        </p:txBody>
      </p:sp>
      <p:sp>
        <p:nvSpPr>
          <p:cNvPr id="3" name="Θέση ημερομηνίας 2">
            <a:extLst>
              <a:ext uri="{FF2B5EF4-FFF2-40B4-BE49-F238E27FC236}">
                <a16:creationId xmlns:a16="http://schemas.microsoft.com/office/drawing/2014/main" id="{09BF5096-4AAB-4D5A-862A-1FAB2BBCACBB}"/>
              </a:ext>
            </a:extLst>
          </p:cNvPr>
          <p:cNvSpPr>
            <a:spLocks noGrp="1"/>
          </p:cNvSpPr>
          <p:nvPr>
            <p:ph type="dt" sz="half" idx="10"/>
          </p:nvPr>
        </p:nvSpPr>
        <p:spPr>
          <a:xfrm>
            <a:off x="609600" y="6245225"/>
            <a:ext cx="2844800" cy="476250"/>
          </a:xfrm>
        </p:spPr>
        <p:txBody>
          <a:bodyPr/>
          <a:lstStyle>
            <a:lvl1pPr>
              <a:defRPr/>
            </a:lvl1pPr>
          </a:lstStyle>
          <a:p>
            <a:endParaRPr lang="el-GR" altLang="en-US"/>
          </a:p>
        </p:txBody>
      </p:sp>
      <p:sp>
        <p:nvSpPr>
          <p:cNvPr id="4" name="Θέση υποσέλιδου 3">
            <a:extLst>
              <a:ext uri="{FF2B5EF4-FFF2-40B4-BE49-F238E27FC236}">
                <a16:creationId xmlns:a16="http://schemas.microsoft.com/office/drawing/2014/main" id="{7C09C373-5A78-4D99-A077-8C98B0F0EB3E}"/>
              </a:ext>
            </a:extLst>
          </p:cNvPr>
          <p:cNvSpPr>
            <a:spLocks noGrp="1"/>
          </p:cNvSpPr>
          <p:nvPr>
            <p:ph type="ftr" sz="quarter" idx="11"/>
          </p:nvPr>
        </p:nvSpPr>
        <p:spPr>
          <a:xfrm>
            <a:off x="4165600" y="6245225"/>
            <a:ext cx="3860800" cy="476250"/>
          </a:xfrm>
        </p:spPr>
        <p:txBody>
          <a:bodyPr/>
          <a:lstStyle>
            <a:lvl1pPr>
              <a:defRPr/>
            </a:lvl1pPr>
          </a:lstStyle>
          <a:p>
            <a:endParaRPr lang="el-GR" altLang="en-US"/>
          </a:p>
        </p:txBody>
      </p:sp>
      <p:sp>
        <p:nvSpPr>
          <p:cNvPr id="5" name="Θέση αριθμού διαφάνειας 4">
            <a:extLst>
              <a:ext uri="{FF2B5EF4-FFF2-40B4-BE49-F238E27FC236}">
                <a16:creationId xmlns:a16="http://schemas.microsoft.com/office/drawing/2014/main" id="{BD6F45A2-E652-4203-86C5-6DEBFE46BBC7}"/>
              </a:ext>
            </a:extLst>
          </p:cNvPr>
          <p:cNvSpPr>
            <a:spLocks noGrp="1"/>
          </p:cNvSpPr>
          <p:nvPr>
            <p:ph type="sldNum" sz="quarter" idx="12"/>
          </p:nvPr>
        </p:nvSpPr>
        <p:spPr>
          <a:xfrm>
            <a:off x="8737600" y="6245225"/>
            <a:ext cx="2844800" cy="476250"/>
          </a:xfrm>
        </p:spPr>
        <p:txBody>
          <a:bodyPr/>
          <a:lstStyle>
            <a:lvl1pPr>
              <a:defRPr/>
            </a:lvl1pPr>
          </a:lstStyle>
          <a:p>
            <a:fld id="{9553127D-8D41-4FC2-A762-82BBD7DB4D9D}" type="slidenum">
              <a:rPr lang="el-GR" altLang="en-US"/>
              <a:pPr/>
              <a:t>‹#›</a:t>
            </a:fld>
            <a:endParaRPr lang="el-GR" altLang="en-US"/>
          </a:p>
        </p:txBody>
      </p:sp>
    </p:spTree>
    <p:extLst>
      <p:ext uri="{BB962C8B-B14F-4D97-AF65-F5344CB8AC3E}">
        <p14:creationId xmlns:p14="http://schemas.microsoft.com/office/powerpoint/2010/main" val="2054430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cSld name="Διαφάνεια τίτλου">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392046B3-A40B-4852-9189-A59B593E74AA}"/>
              </a:ext>
            </a:extLst>
          </p:cNvPr>
          <p:cNvSpPr>
            <a:spLocks noGrp="1"/>
          </p:cNvSpPr>
          <p:nvPr>
            <p:ph type="ctrTitle"/>
          </p:nvPr>
        </p:nvSpPr>
        <p:spPr>
          <a:xfrm>
            <a:off x="1524000" y="1122363"/>
            <a:ext cx="9144000" cy="2387600"/>
          </a:xfrm>
        </p:spPr>
        <p:txBody>
          <a:bodyPr anchor="b"/>
          <a:lstStyle>
            <a:lvl1pPr algn="ctr">
              <a:defRPr sz="6000"/>
            </a:lvl1pPr>
          </a:lstStyle>
          <a:p>
            <a:r>
              <a:rPr lang="el-GR"/>
              <a:t>Κάντε κλικ για να επεξεργαστείτε τον τίτλο υποδείγματος</a:t>
            </a:r>
            <a:endParaRPr lang="en-US"/>
          </a:p>
        </p:txBody>
      </p:sp>
      <p:sp>
        <p:nvSpPr>
          <p:cNvPr id="3" name="Υπότιτλος 2">
            <a:extLst>
              <a:ext uri="{FF2B5EF4-FFF2-40B4-BE49-F238E27FC236}">
                <a16:creationId xmlns:a16="http://schemas.microsoft.com/office/drawing/2014/main" id="{8658A3E2-03B3-4554-81AB-8C5641231E1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l-GR"/>
              <a:t>Κάντε κλικ για να επεξεργαστείτε τον υπότιτλο του υποδείγματος</a:t>
            </a:r>
            <a:endParaRPr lang="en-US"/>
          </a:p>
        </p:txBody>
      </p:sp>
      <p:sp>
        <p:nvSpPr>
          <p:cNvPr id="4" name="Θέση ημερομηνίας 3">
            <a:extLst>
              <a:ext uri="{FF2B5EF4-FFF2-40B4-BE49-F238E27FC236}">
                <a16:creationId xmlns:a16="http://schemas.microsoft.com/office/drawing/2014/main" id="{C586CF5D-4780-428B-8F4D-E6E7E927B470}"/>
              </a:ext>
            </a:extLst>
          </p:cNvPr>
          <p:cNvSpPr>
            <a:spLocks noGrp="1"/>
          </p:cNvSpPr>
          <p:nvPr>
            <p:ph type="dt" sz="half" idx="10"/>
          </p:nvPr>
        </p:nvSpPr>
        <p:spPr/>
        <p:txBody>
          <a:bodyPr/>
          <a:lstStyle/>
          <a:p>
            <a:fld id="{71A6B1E6-9BFF-4969-A02E-35B38F93681C}" type="datetimeFigureOut">
              <a:rPr lang="en-US" smtClean="0"/>
              <a:t>10/25/2020</a:t>
            </a:fld>
            <a:endParaRPr lang="en-US"/>
          </a:p>
        </p:txBody>
      </p:sp>
      <p:sp>
        <p:nvSpPr>
          <p:cNvPr id="5" name="Θέση υποσέλιδου 4">
            <a:extLst>
              <a:ext uri="{FF2B5EF4-FFF2-40B4-BE49-F238E27FC236}">
                <a16:creationId xmlns:a16="http://schemas.microsoft.com/office/drawing/2014/main" id="{62633861-6E04-42A2-A0F3-C6BB518BFF7E}"/>
              </a:ext>
            </a:extLst>
          </p:cNvPr>
          <p:cNvSpPr>
            <a:spLocks noGrp="1"/>
          </p:cNvSpPr>
          <p:nvPr>
            <p:ph type="ftr" sz="quarter" idx="11"/>
          </p:nvPr>
        </p:nvSpPr>
        <p:spPr/>
        <p:txBody>
          <a:bodyPr/>
          <a:lstStyle/>
          <a:p>
            <a:endParaRPr lang="en-US"/>
          </a:p>
        </p:txBody>
      </p:sp>
      <p:sp>
        <p:nvSpPr>
          <p:cNvPr id="6" name="Θέση αριθμού διαφάνειας 5">
            <a:extLst>
              <a:ext uri="{FF2B5EF4-FFF2-40B4-BE49-F238E27FC236}">
                <a16:creationId xmlns:a16="http://schemas.microsoft.com/office/drawing/2014/main" id="{8A1DA5FF-72D0-414E-8984-9CED9C2A595C}"/>
              </a:ext>
            </a:extLst>
          </p:cNvPr>
          <p:cNvSpPr>
            <a:spLocks noGrp="1"/>
          </p:cNvSpPr>
          <p:nvPr>
            <p:ph type="sldNum" sz="quarter" idx="12"/>
          </p:nvPr>
        </p:nvSpPr>
        <p:spPr/>
        <p:txBody>
          <a:bodyPr/>
          <a:lstStyle/>
          <a:p>
            <a:fld id="{EC74E0C9-7292-4169-B6E6-178CF824F93D}" type="slidenum">
              <a:rPr lang="en-US" smtClean="0"/>
              <a:t>‹#›</a:t>
            </a:fld>
            <a:endParaRPr lang="en-US"/>
          </a:p>
        </p:txBody>
      </p:sp>
    </p:spTree>
    <p:extLst>
      <p:ext uri="{BB962C8B-B14F-4D97-AF65-F5344CB8AC3E}">
        <p14:creationId xmlns:p14="http://schemas.microsoft.com/office/powerpoint/2010/main" val="24172574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tif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tif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33939" y="365125"/>
            <a:ext cx="7524000" cy="1325563"/>
          </a:xfrm>
          <a:prstGeom prst="rect">
            <a:avLst/>
          </a:prstGeom>
        </p:spPr>
        <p:txBody>
          <a:bodyPr vert="horz" lIns="91440" tIns="45720" rIns="91440" bIns="45720" rtlCol="0" anchor="t">
            <a:normAutofit/>
          </a:bodyPr>
          <a:lstStyle/>
          <a:p>
            <a:r>
              <a:rPr lang="en-US"/>
              <a:t>Click to edit Master title style</a:t>
            </a:r>
            <a:endParaRPr lang="el-GR"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l-GR"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55F75D4-3E8F-4EF7-80BC-9667B1E2DFC7}" type="datetime1">
              <a:rPr lang="el-GR" smtClean="0"/>
              <a:pPr/>
              <a:t>25/10/2020</a:t>
            </a:fld>
            <a:endParaRPr lang="el-G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l-G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C4B9FD-BBCD-4D20-BE68-D5FD8F544B57}" type="slidenum">
              <a:rPr lang="el-GR" smtClean="0"/>
              <a:pPr/>
              <a:t>‹#›</a:t>
            </a:fld>
            <a:endParaRPr lang="el-GR"/>
          </a:p>
        </p:txBody>
      </p:sp>
      <p:pic>
        <p:nvPicPr>
          <p:cNvPr id="10" name="Picture 9"/>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1439619" y="1"/>
            <a:ext cx="752381" cy="6858000"/>
          </a:xfrm>
          <a:prstGeom prst="rect">
            <a:avLst/>
          </a:prstGeom>
        </p:spPr>
      </p:pic>
      <p:pic>
        <p:nvPicPr>
          <p:cNvPr id="12" name="Picture 11"/>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9524" y="0"/>
            <a:ext cx="761905" cy="6858000"/>
          </a:xfrm>
          <a:prstGeom prst="rect">
            <a:avLst/>
          </a:prstGeom>
        </p:spPr>
      </p:pic>
      <p:pic>
        <p:nvPicPr>
          <p:cNvPr id="13" name="Picture 12"/>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866887" y="285089"/>
            <a:ext cx="2881233" cy="1110241"/>
          </a:xfrm>
          <a:prstGeom prst="rect">
            <a:avLst/>
          </a:prstGeom>
        </p:spPr>
      </p:pic>
    </p:spTree>
    <p:extLst>
      <p:ext uri="{BB962C8B-B14F-4D97-AF65-F5344CB8AC3E}">
        <p14:creationId xmlns:p14="http://schemas.microsoft.com/office/powerpoint/2010/main" val="39338415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rgbClr val="CE1E8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CE1E8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CE1E8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CE1E8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CE1E8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padlet.com/ppiliour/5p98jta5cg2vzdhf"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10749" y="2142986"/>
            <a:ext cx="9886122" cy="701675"/>
          </a:xfrm>
        </p:spPr>
        <p:txBody>
          <a:bodyPr>
            <a:normAutofit/>
          </a:bodyPr>
          <a:lstStyle/>
          <a:p>
            <a:r>
              <a:rPr lang="el-GR" b="1" dirty="0">
                <a:solidFill>
                  <a:schemeClr val="tx2">
                    <a:lumMod val="50000"/>
                  </a:schemeClr>
                </a:solidFill>
                <a:latin typeface="Tahoma" pitchFamily="34" charset="0"/>
                <a:ea typeface="Tahoma" pitchFamily="34" charset="0"/>
                <a:cs typeface="Tahoma" pitchFamily="34" charset="0"/>
              </a:rPr>
              <a:t>Θ.Ε. «Διδακτική Φυσικών Επιστημών»</a:t>
            </a:r>
          </a:p>
        </p:txBody>
      </p:sp>
      <p:sp>
        <p:nvSpPr>
          <p:cNvPr id="4" name="Date Placeholder 3"/>
          <p:cNvSpPr>
            <a:spLocks noGrp="1"/>
          </p:cNvSpPr>
          <p:nvPr>
            <p:ph type="dt" sz="half" idx="10"/>
          </p:nvPr>
        </p:nvSpPr>
        <p:spPr/>
        <p:txBody>
          <a:bodyPr/>
          <a:lstStyle/>
          <a:p>
            <a:fld id="{2F155C2B-0C9C-4BD2-B6C7-804AF6A85710}" type="datetime1">
              <a:rPr lang="el-GR" smtClean="0"/>
              <a:pPr/>
              <a:t>25/10/2020</a:t>
            </a:fld>
            <a:endParaRPr lang="el-GR"/>
          </a:p>
        </p:txBody>
      </p:sp>
      <p:sp>
        <p:nvSpPr>
          <p:cNvPr id="6" name="Slide Number Placeholder 5"/>
          <p:cNvSpPr>
            <a:spLocks noGrp="1"/>
          </p:cNvSpPr>
          <p:nvPr>
            <p:ph type="sldNum" sz="quarter" idx="12"/>
          </p:nvPr>
        </p:nvSpPr>
        <p:spPr/>
        <p:txBody>
          <a:bodyPr/>
          <a:lstStyle/>
          <a:p>
            <a:fld id="{28C4B9FD-BBCD-4D20-BE68-D5FD8F544B57}" type="slidenum">
              <a:rPr lang="el-GR" smtClean="0"/>
              <a:pPr/>
              <a:t>1</a:t>
            </a:fld>
            <a:endParaRPr lang="el-GR"/>
          </a:p>
        </p:txBody>
      </p:sp>
      <p:sp>
        <p:nvSpPr>
          <p:cNvPr id="7" name="Title 1"/>
          <p:cNvSpPr txBox="1">
            <a:spLocks/>
          </p:cNvSpPr>
          <p:nvPr/>
        </p:nvSpPr>
        <p:spPr>
          <a:xfrm>
            <a:off x="2411895" y="3228009"/>
            <a:ext cx="8327721" cy="744151"/>
          </a:xfrm>
          <a:prstGeom prst="rect">
            <a:avLst/>
          </a:prstGeom>
        </p:spPr>
        <p:txBody>
          <a:bodyPr vert="horz" lIns="91440" tIns="45720" rIns="91440" bIns="45720" rtlCol="0" anchor="t">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l-GR" sz="2800" i="0" u="none" strike="noStrike" kern="1200" cap="none" spc="0" normalizeH="0" baseline="0" noProof="0" dirty="0">
                <a:ln>
                  <a:noFill/>
                </a:ln>
                <a:solidFill>
                  <a:schemeClr val="tx2">
                    <a:lumMod val="50000"/>
                  </a:schemeClr>
                </a:solidFill>
                <a:effectLst/>
                <a:uLnTx/>
                <a:uFillTx/>
                <a:latin typeface="Tahoma" pitchFamily="34" charset="0"/>
                <a:ea typeface="Tahoma" pitchFamily="34" charset="0"/>
                <a:cs typeface="Tahoma" pitchFamily="34" charset="0"/>
              </a:rPr>
              <a:t>1</a:t>
            </a:r>
            <a:r>
              <a:rPr kumimoji="0" lang="el-GR" sz="2800" i="0" u="none" strike="noStrike" kern="1200" cap="none" spc="0" normalizeH="0" baseline="30000" noProof="0" dirty="0">
                <a:ln>
                  <a:noFill/>
                </a:ln>
                <a:solidFill>
                  <a:schemeClr val="tx2">
                    <a:lumMod val="50000"/>
                  </a:schemeClr>
                </a:solidFill>
                <a:effectLst/>
                <a:uLnTx/>
                <a:uFillTx/>
                <a:latin typeface="Tahoma" pitchFamily="34" charset="0"/>
                <a:ea typeface="Tahoma" pitchFamily="34" charset="0"/>
                <a:cs typeface="Tahoma" pitchFamily="34" charset="0"/>
              </a:rPr>
              <a:t>η</a:t>
            </a:r>
            <a:r>
              <a:rPr kumimoji="0" lang="el-GR" sz="2800" i="0" u="none" strike="noStrike" kern="1200" cap="none" spc="0" normalizeH="0" baseline="0" noProof="0" dirty="0">
                <a:ln>
                  <a:noFill/>
                </a:ln>
                <a:solidFill>
                  <a:schemeClr val="tx2">
                    <a:lumMod val="50000"/>
                  </a:schemeClr>
                </a:solidFill>
                <a:effectLst/>
                <a:uLnTx/>
                <a:uFillTx/>
                <a:latin typeface="Tahoma" pitchFamily="34" charset="0"/>
                <a:ea typeface="Tahoma" pitchFamily="34" charset="0"/>
                <a:cs typeface="Tahoma" pitchFamily="34" charset="0"/>
              </a:rPr>
              <a:t> </a:t>
            </a:r>
            <a:r>
              <a:rPr kumimoji="0" lang="en-US" sz="2800" i="0" u="none" strike="noStrike" kern="1200" cap="none" spc="0" normalizeH="0" baseline="0" noProof="0" dirty="0">
                <a:ln>
                  <a:noFill/>
                </a:ln>
                <a:solidFill>
                  <a:schemeClr val="tx2">
                    <a:lumMod val="50000"/>
                  </a:schemeClr>
                </a:solidFill>
                <a:effectLst/>
                <a:uLnTx/>
                <a:uFillTx/>
                <a:latin typeface="Tahoma" pitchFamily="34" charset="0"/>
                <a:ea typeface="Tahoma" pitchFamily="34" charset="0"/>
                <a:cs typeface="Tahoma" pitchFamily="34" charset="0"/>
              </a:rPr>
              <a:t>e</a:t>
            </a:r>
            <a:r>
              <a:rPr kumimoji="0" lang="el-GR" sz="2800" i="0" u="none" strike="noStrike" kern="1200" cap="none" spc="0" normalizeH="0" baseline="0" noProof="0" dirty="0">
                <a:ln>
                  <a:noFill/>
                </a:ln>
                <a:solidFill>
                  <a:schemeClr val="tx2">
                    <a:lumMod val="50000"/>
                  </a:schemeClr>
                </a:solidFill>
                <a:effectLst/>
                <a:uLnTx/>
                <a:uFillTx/>
                <a:latin typeface="Tahoma" pitchFamily="34" charset="0"/>
                <a:ea typeface="Tahoma" pitchFamily="34" charset="0"/>
                <a:cs typeface="Tahoma" pitchFamily="34" charset="0"/>
              </a:rPr>
              <a:t>Ομαδική Συμβουλευτική Συνάντηση (</a:t>
            </a:r>
            <a:r>
              <a:rPr kumimoji="0" lang="en-US" sz="2800" i="0" u="none" strike="noStrike" kern="1200" cap="none" spc="0" normalizeH="0" baseline="0" noProof="0" dirty="0">
                <a:ln>
                  <a:noFill/>
                </a:ln>
                <a:solidFill>
                  <a:schemeClr val="tx2">
                    <a:lumMod val="50000"/>
                  </a:schemeClr>
                </a:solidFill>
                <a:effectLst/>
                <a:uLnTx/>
                <a:uFillTx/>
                <a:latin typeface="Tahoma" pitchFamily="34" charset="0"/>
                <a:ea typeface="Tahoma" pitchFamily="34" charset="0"/>
                <a:cs typeface="Tahoma" pitchFamily="34" charset="0"/>
              </a:rPr>
              <a:t>e</a:t>
            </a:r>
            <a:r>
              <a:rPr kumimoji="0" lang="el-GR" sz="2800" i="0" u="none" strike="noStrike" kern="1200" cap="none" spc="0" normalizeH="0" baseline="0" noProof="0" dirty="0">
                <a:ln>
                  <a:noFill/>
                </a:ln>
                <a:solidFill>
                  <a:schemeClr val="tx2">
                    <a:lumMod val="50000"/>
                  </a:schemeClr>
                </a:solidFill>
                <a:effectLst/>
                <a:uLnTx/>
                <a:uFillTx/>
                <a:latin typeface="Tahoma" pitchFamily="34" charset="0"/>
                <a:ea typeface="Tahoma" pitchFamily="34" charset="0"/>
                <a:cs typeface="Tahoma" pitchFamily="34" charset="0"/>
              </a:rPr>
              <a:t>ΟΣΣ)</a:t>
            </a:r>
          </a:p>
        </p:txBody>
      </p:sp>
      <p:sp>
        <p:nvSpPr>
          <p:cNvPr id="9" name="Oval 8"/>
          <p:cNvSpPr/>
          <p:nvPr/>
        </p:nvSpPr>
        <p:spPr>
          <a:xfrm>
            <a:off x="11383618" y="849243"/>
            <a:ext cx="1505778" cy="17526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396871" y="2697921"/>
            <a:ext cx="1521514" cy="17526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11423375" y="4546599"/>
            <a:ext cx="1495010" cy="17526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752889" y="1266686"/>
            <a:ext cx="1505778" cy="17526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752889" y="3102111"/>
            <a:ext cx="1505778" cy="17526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752889" y="4937538"/>
            <a:ext cx="1505778" cy="17526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3168062" y="4170969"/>
            <a:ext cx="5876930" cy="830997"/>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l-GR" sz="4800" b="1" cap="none" spc="0" dirty="0">
                <a:ln w="11430"/>
                <a:solidFill>
                  <a:srgbClr val="00B0F0"/>
                </a:solidFill>
                <a:effectLst>
                  <a:outerShdw blurRad="50800" dist="39000" dir="5460000" algn="tl">
                    <a:srgbClr val="000000">
                      <a:alpha val="38000"/>
                    </a:srgbClr>
                  </a:outerShdw>
                </a:effectLst>
                <a:latin typeface="Tahoma" pitchFamily="34" charset="0"/>
                <a:ea typeface="Tahoma" pitchFamily="34" charset="0"/>
                <a:cs typeface="Tahoma" pitchFamily="34" charset="0"/>
              </a:rPr>
              <a:t>1</a:t>
            </a:r>
            <a:r>
              <a:rPr lang="el-GR" sz="4800" b="1" cap="none" spc="0" baseline="30000" dirty="0">
                <a:ln w="11430"/>
                <a:solidFill>
                  <a:srgbClr val="00B0F0"/>
                </a:solidFill>
                <a:effectLst>
                  <a:outerShdw blurRad="50800" dist="39000" dir="5460000" algn="tl">
                    <a:srgbClr val="000000">
                      <a:alpha val="38000"/>
                    </a:srgbClr>
                  </a:outerShdw>
                </a:effectLst>
                <a:latin typeface="Tahoma" pitchFamily="34" charset="0"/>
                <a:ea typeface="Tahoma" pitchFamily="34" charset="0"/>
                <a:cs typeface="Tahoma" pitchFamily="34" charset="0"/>
              </a:rPr>
              <a:t>η</a:t>
            </a:r>
            <a:r>
              <a:rPr lang="el-GR" sz="4800" b="1" cap="none" spc="0" dirty="0">
                <a:ln w="11430"/>
                <a:solidFill>
                  <a:srgbClr val="00B0F0"/>
                </a:solidFill>
                <a:effectLst>
                  <a:outerShdw blurRad="50800" dist="39000" dir="5460000" algn="tl">
                    <a:srgbClr val="000000">
                      <a:alpha val="38000"/>
                    </a:srgbClr>
                  </a:outerShdw>
                </a:effectLst>
                <a:latin typeface="Tahoma" pitchFamily="34" charset="0"/>
                <a:ea typeface="Tahoma" pitchFamily="34" charset="0"/>
                <a:cs typeface="Tahoma" pitchFamily="34" charset="0"/>
              </a:rPr>
              <a:t> γραπτή εργασία</a:t>
            </a:r>
            <a:endParaRPr lang="en-US" sz="4800" b="1" cap="none" spc="0" dirty="0">
              <a:ln w="11430"/>
              <a:solidFill>
                <a:srgbClr val="00B0F0"/>
              </a:solidFill>
              <a:effectLst>
                <a:outerShdw blurRad="50800" dist="39000" dir="5460000" algn="tl">
                  <a:srgbClr val="000000">
                    <a:alpha val="38000"/>
                  </a:srgbClr>
                </a:outerShdw>
              </a:effectLst>
              <a:latin typeface="Tahoma" pitchFamily="34" charset="0"/>
              <a:ea typeface="Tahoma" pitchFamily="34" charset="0"/>
              <a:cs typeface="Tahoma" pitchFamily="34" charset="0"/>
            </a:endParaRPr>
          </a:p>
        </p:txBody>
      </p:sp>
      <p:sp>
        <p:nvSpPr>
          <p:cNvPr id="16" name="Footer Placeholder 4">
            <a:extLst>
              <a:ext uri="{FF2B5EF4-FFF2-40B4-BE49-F238E27FC236}">
                <a16:creationId xmlns:a16="http://schemas.microsoft.com/office/drawing/2014/main" id="{67772FFC-D40A-422C-AB15-192A5954E5E2}"/>
              </a:ext>
            </a:extLst>
          </p:cNvPr>
          <p:cNvSpPr>
            <a:spLocks noGrp="1"/>
          </p:cNvSpPr>
          <p:nvPr>
            <p:ph type="ftr" sz="quarter" idx="11"/>
          </p:nvPr>
        </p:nvSpPr>
        <p:spPr>
          <a:xfrm>
            <a:off x="4038600" y="6356350"/>
            <a:ext cx="4114800" cy="365125"/>
          </a:xfrm>
        </p:spPr>
        <p:txBody>
          <a:bodyPr/>
          <a:lstStyle/>
          <a:p>
            <a:r>
              <a:rPr lang="el-GR" dirty="0">
                <a:solidFill>
                  <a:schemeClr val="tx2">
                    <a:lumMod val="50000"/>
                  </a:schemeClr>
                </a:solidFill>
                <a:latin typeface="Tahoma" pitchFamily="34" charset="0"/>
                <a:ea typeface="Tahoma" pitchFamily="34" charset="0"/>
                <a:cs typeface="Tahoma" pitchFamily="34" charset="0"/>
              </a:rPr>
              <a:t>Παναγιώτης </a:t>
            </a:r>
            <a:r>
              <a:rPr lang="el-GR" dirty="0" err="1">
                <a:solidFill>
                  <a:schemeClr val="tx2">
                    <a:lumMod val="50000"/>
                  </a:schemeClr>
                </a:solidFill>
                <a:latin typeface="Tahoma" pitchFamily="34" charset="0"/>
                <a:ea typeface="Tahoma" pitchFamily="34" charset="0"/>
                <a:cs typeface="Tahoma" pitchFamily="34" charset="0"/>
              </a:rPr>
              <a:t>Πήλιουρας</a:t>
            </a:r>
            <a:r>
              <a:rPr lang="el-GR" dirty="0">
                <a:solidFill>
                  <a:schemeClr val="tx2">
                    <a:lumMod val="50000"/>
                  </a:schemeClr>
                </a:solidFill>
                <a:latin typeface="Tahoma" pitchFamily="34" charset="0"/>
                <a:ea typeface="Tahoma" pitchFamily="34" charset="0"/>
                <a:cs typeface="Tahoma" pitchFamily="34" charset="0"/>
              </a:rPr>
              <a:t> @ Θ.Ε. ΕΚΠ63 1</a:t>
            </a:r>
            <a:r>
              <a:rPr lang="el-GR" baseline="30000" dirty="0">
                <a:solidFill>
                  <a:schemeClr val="tx2">
                    <a:lumMod val="50000"/>
                  </a:schemeClr>
                </a:solidFill>
                <a:latin typeface="Tahoma" pitchFamily="34" charset="0"/>
                <a:ea typeface="Tahoma" pitchFamily="34" charset="0"/>
                <a:cs typeface="Tahoma" pitchFamily="34" charset="0"/>
              </a:rPr>
              <a:t>Η</a:t>
            </a:r>
            <a:r>
              <a:rPr lang="el-GR" dirty="0">
                <a:solidFill>
                  <a:schemeClr val="tx2">
                    <a:lumMod val="50000"/>
                  </a:schemeClr>
                </a:solidFill>
                <a:latin typeface="Tahoma" pitchFamily="34" charset="0"/>
                <a:ea typeface="Tahoma" pitchFamily="34" charset="0"/>
                <a:cs typeface="Tahoma" pitchFamily="34" charset="0"/>
              </a:rPr>
              <a:t> ΟΣΣ 2020-21</a:t>
            </a:r>
          </a:p>
        </p:txBody>
      </p:sp>
    </p:spTree>
    <p:extLst>
      <p:ext uri="{BB962C8B-B14F-4D97-AF65-F5344CB8AC3E}">
        <p14:creationId xmlns:p14="http://schemas.microsoft.com/office/powerpoint/2010/main" val="26896654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362A8879-8787-42C1-999B-ABCEB8EC01C0}"/>
              </a:ext>
            </a:extLst>
          </p:cNvPr>
          <p:cNvSpPr>
            <a:spLocks noGrp="1"/>
          </p:cNvSpPr>
          <p:nvPr>
            <p:ph type="title"/>
          </p:nvPr>
        </p:nvSpPr>
        <p:spPr>
          <a:xfrm>
            <a:off x="3829800" y="730251"/>
            <a:ext cx="7524000" cy="620296"/>
          </a:xfrm>
        </p:spPr>
        <p:txBody>
          <a:bodyPr>
            <a:noAutofit/>
          </a:bodyPr>
          <a:lstStyle/>
          <a:p>
            <a:r>
              <a:rPr lang="en-US" sz="2800" dirty="0">
                <a:effectLst/>
                <a:latin typeface="Calibri" panose="020F0502020204030204" pitchFamily="34" charset="0"/>
                <a:ea typeface="Calibri" panose="020F0502020204030204" pitchFamily="34" charset="0"/>
                <a:cs typeface="Times New Roman" panose="02020603050405020304" pitchFamily="18" charset="0"/>
                <a:hlinkClick r:id="rId2"/>
              </a:rPr>
              <a:t>https://padlet.com/ppiliour/5p98jta5cg2vzdhf</a:t>
            </a:r>
            <a:br>
              <a:rPr lang="el-GR" sz="2800" dirty="0">
                <a:effectLst/>
                <a:latin typeface="Calibri" panose="020F0502020204030204" pitchFamily="34" charset="0"/>
                <a:ea typeface="Calibri" panose="020F0502020204030204" pitchFamily="34" charset="0"/>
                <a:cs typeface="Times New Roman" panose="02020603050405020304" pitchFamily="18" charset="0"/>
              </a:rPr>
            </a:br>
            <a:endParaRPr lang="en-US" sz="2800" dirty="0"/>
          </a:p>
        </p:txBody>
      </p:sp>
      <p:sp>
        <p:nvSpPr>
          <p:cNvPr id="4" name="Θέση ημερομηνίας 3">
            <a:extLst>
              <a:ext uri="{FF2B5EF4-FFF2-40B4-BE49-F238E27FC236}">
                <a16:creationId xmlns:a16="http://schemas.microsoft.com/office/drawing/2014/main" id="{9FFFCA3C-2CF7-43CD-8F1E-E90046B44364}"/>
              </a:ext>
            </a:extLst>
          </p:cNvPr>
          <p:cNvSpPr>
            <a:spLocks noGrp="1"/>
          </p:cNvSpPr>
          <p:nvPr>
            <p:ph type="dt" sz="half" idx="10"/>
          </p:nvPr>
        </p:nvSpPr>
        <p:spPr/>
        <p:txBody>
          <a:bodyPr/>
          <a:lstStyle/>
          <a:p>
            <a:fld id="{2F155C2B-0C9C-4BD2-B6C7-804AF6A85710}" type="datetime1">
              <a:rPr lang="el-GR" smtClean="0"/>
              <a:pPr/>
              <a:t>25/10/2020</a:t>
            </a:fld>
            <a:endParaRPr lang="el-GR"/>
          </a:p>
        </p:txBody>
      </p:sp>
      <p:sp>
        <p:nvSpPr>
          <p:cNvPr id="6" name="Θέση αριθμού διαφάνειας 5">
            <a:extLst>
              <a:ext uri="{FF2B5EF4-FFF2-40B4-BE49-F238E27FC236}">
                <a16:creationId xmlns:a16="http://schemas.microsoft.com/office/drawing/2014/main" id="{428F932C-1634-4E07-BB73-C8849B43F69C}"/>
              </a:ext>
            </a:extLst>
          </p:cNvPr>
          <p:cNvSpPr>
            <a:spLocks noGrp="1"/>
          </p:cNvSpPr>
          <p:nvPr>
            <p:ph type="sldNum" sz="quarter" idx="12"/>
          </p:nvPr>
        </p:nvSpPr>
        <p:spPr/>
        <p:txBody>
          <a:bodyPr/>
          <a:lstStyle/>
          <a:p>
            <a:fld id="{28C4B9FD-BBCD-4D20-BE68-D5FD8F544B57}" type="slidenum">
              <a:rPr lang="el-GR" smtClean="0"/>
              <a:pPr/>
              <a:t>2</a:t>
            </a:fld>
            <a:endParaRPr lang="el-GR"/>
          </a:p>
        </p:txBody>
      </p:sp>
      <p:sp>
        <p:nvSpPr>
          <p:cNvPr id="8" name="Footer Placeholder 4">
            <a:extLst>
              <a:ext uri="{FF2B5EF4-FFF2-40B4-BE49-F238E27FC236}">
                <a16:creationId xmlns:a16="http://schemas.microsoft.com/office/drawing/2014/main" id="{AA96D12E-70C2-4626-BDEA-77C11FF86870}"/>
              </a:ext>
            </a:extLst>
          </p:cNvPr>
          <p:cNvSpPr>
            <a:spLocks noGrp="1"/>
          </p:cNvSpPr>
          <p:nvPr>
            <p:ph type="ftr" sz="quarter" idx="11"/>
          </p:nvPr>
        </p:nvSpPr>
        <p:spPr>
          <a:xfrm>
            <a:off x="4038600" y="6356350"/>
            <a:ext cx="4114800" cy="365125"/>
          </a:xfrm>
        </p:spPr>
        <p:txBody>
          <a:bodyPr/>
          <a:lstStyle/>
          <a:p>
            <a:r>
              <a:rPr lang="el-GR" dirty="0">
                <a:solidFill>
                  <a:schemeClr val="tx2">
                    <a:lumMod val="50000"/>
                  </a:schemeClr>
                </a:solidFill>
                <a:latin typeface="Tahoma" pitchFamily="34" charset="0"/>
                <a:ea typeface="Tahoma" pitchFamily="34" charset="0"/>
                <a:cs typeface="Tahoma" pitchFamily="34" charset="0"/>
              </a:rPr>
              <a:t>Παναγιώτης </a:t>
            </a:r>
            <a:r>
              <a:rPr lang="el-GR" dirty="0" err="1">
                <a:solidFill>
                  <a:schemeClr val="tx2">
                    <a:lumMod val="50000"/>
                  </a:schemeClr>
                </a:solidFill>
                <a:latin typeface="Tahoma" pitchFamily="34" charset="0"/>
                <a:ea typeface="Tahoma" pitchFamily="34" charset="0"/>
                <a:cs typeface="Tahoma" pitchFamily="34" charset="0"/>
              </a:rPr>
              <a:t>Πήλιουρας</a:t>
            </a:r>
            <a:r>
              <a:rPr lang="el-GR" dirty="0">
                <a:solidFill>
                  <a:schemeClr val="tx2">
                    <a:lumMod val="50000"/>
                  </a:schemeClr>
                </a:solidFill>
                <a:latin typeface="Tahoma" pitchFamily="34" charset="0"/>
                <a:ea typeface="Tahoma" pitchFamily="34" charset="0"/>
                <a:cs typeface="Tahoma" pitchFamily="34" charset="0"/>
              </a:rPr>
              <a:t> @ Θ.Ε. ΕΚΠ63 1</a:t>
            </a:r>
            <a:r>
              <a:rPr lang="el-GR" baseline="30000" dirty="0">
                <a:solidFill>
                  <a:schemeClr val="tx2">
                    <a:lumMod val="50000"/>
                  </a:schemeClr>
                </a:solidFill>
                <a:latin typeface="Tahoma" pitchFamily="34" charset="0"/>
                <a:ea typeface="Tahoma" pitchFamily="34" charset="0"/>
                <a:cs typeface="Tahoma" pitchFamily="34" charset="0"/>
              </a:rPr>
              <a:t>Η</a:t>
            </a:r>
            <a:r>
              <a:rPr lang="el-GR" dirty="0">
                <a:solidFill>
                  <a:schemeClr val="tx2">
                    <a:lumMod val="50000"/>
                  </a:schemeClr>
                </a:solidFill>
                <a:latin typeface="Tahoma" pitchFamily="34" charset="0"/>
                <a:ea typeface="Tahoma" pitchFamily="34" charset="0"/>
                <a:cs typeface="Tahoma" pitchFamily="34" charset="0"/>
              </a:rPr>
              <a:t> ΟΣΣ 2020-21</a:t>
            </a:r>
          </a:p>
        </p:txBody>
      </p:sp>
      <p:pic>
        <p:nvPicPr>
          <p:cNvPr id="3" name="Εικόνα 2">
            <a:extLst>
              <a:ext uri="{FF2B5EF4-FFF2-40B4-BE49-F238E27FC236}">
                <a16:creationId xmlns:a16="http://schemas.microsoft.com/office/drawing/2014/main" id="{62A7841A-34EC-4B84-A057-DCDB9B3CEE82}"/>
              </a:ext>
            </a:extLst>
          </p:cNvPr>
          <p:cNvPicPr>
            <a:picLocks noChangeAspect="1"/>
          </p:cNvPicPr>
          <p:nvPr/>
        </p:nvPicPr>
        <p:blipFill>
          <a:blip r:embed="rId3"/>
          <a:stretch>
            <a:fillRect/>
          </a:stretch>
        </p:blipFill>
        <p:spPr>
          <a:xfrm>
            <a:off x="1089498" y="1624485"/>
            <a:ext cx="9847634" cy="4457927"/>
          </a:xfrm>
          <a:prstGeom prst="rect">
            <a:avLst/>
          </a:prstGeom>
        </p:spPr>
      </p:pic>
      <p:sp>
        <p:nvSpPr>
          <p:cNvPr id="9" name="Θέση περιεχομένου 8">
            <a:extLst>
              <a:ext uri="{FF2B5EF4-FFF2-40B4-BE49-F238E27FC236}">
                <a16:creationId xmlns:a16="http://schemas.microsoft.com/office/drawing/2014/main" id="{975BC8D6-8C49-42D2-ACC6-009B86B5FBD4}"/>
              </a:ext>
            </a:extLst>
          </p:cNvPr>
          <p:cNvSpPr>
            <a:spLocks noGrp="1"/>
          </p:cNvSpPr>
          <p:nvPr>
            <p:ph idx="1"/>
          </p:nvPr>
        </p:nvSpPr>
        <p:spPr>
          <a:xfrm>
            <a:off x="838200" y="1825624"/>
            <a:ext cx="10640438" cy="4457927"/>
          </a:xfrm>
        </p:spPr>
        <p:txBody>
          <a:bodyPr/>
          <a:lstStyle/>
          <a:p>
            <a:endParaRPr lang="en-US" dirty="0"/>
          </a:p>
        </p:txBody>
      </p:sp>
    </p:spTree>
    <p:extLst>
      <p:ext uri="{BB962C8B-B14F-4D97-AF65-F5344CB8AC3E}">
        <p14:creationId xmlns:p14="http://schemas.microsoft.com/office/powerpoint/2010/main" val="20713727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4" name="Rectangle 2">
            <a:extLst>
              <a:ext uri="{FF2B5EF4-FFF2-40B4-BE49-F238E27FC236}">
                <a16:creationId xmlns:a16="http://schemas.microsoft.com/office/drawing/2014/main" id="{F9AEB186-2CAB-4B11-82BF-F800535CB96A}"/>
              </a:ext>
            </a:extLst>
          </p:cNvPr>
          <p:cNvSpPr>
            <a:spLocks noGrp="1" noChangeArrowheads="1"/>
          </p:cNvSpPr>
          <p:nvPr>
            <p:ph type="title"/>
          </p:nvPr>
        </p:nvSpPr>
        <p:spPr>
          <a:xfrm>
            <a:off x="4160196" y="453621"/>
            <a:ext cx="6880698" cy="1116417"/>
          </a:xfrm>
        </p:spPr>
        <p:txBody>
          <a:bodyPr>
            <a:normAutofit fontScale="90000"/>
          </a:bodyPr>
          <a:lstStyle/>
          <a:p>
            <a:r>
              <a:rPr lang="el-GR" altLang="en-US" sz="4000" dirty="0">
                <a:solidFill>
                  <a:srgbClr val="000066"/>
                </a:solidFill>
              </a:rPr>
              <a:t>«Επιστημονικός </a:t>
            </a:r>
            <a:r>
              <a:rPr lang="el-GR" altLang="en-US" sz="4000" dirty="0" err="1">
                <a:solidFill>
                  <a:srgbClr val="000066"/>
                </a:solidFill>
              </a:rPr>
              <a:t>γραμματισμός</a:t>
            </a:r>
            <a:r>
              <a:rPr lang="el-GR" altLang="en-US" sz="4000" dirty="0">
                <a:solidFill>
                  <a:srgbClr val="000066"/>
                </a:solidFill>
              </a:rPr>
              <a:t>» σημαίνει το ίδιο για όλους;</a:t>
            </a:r>
            <a:br>
              <a:rPr lang="el-GR" altLang="en-US" sz="4000" dirty="0">
                <a:solidFill>
                  <a:srgbClr val="000066"/>
                </a:solidFill>
              </a:rPr>
            </a:br>
            <a:endParaRPr lang="el-GR" altLang="en-US" sz="4000" dirty="0">
              <a:solidFill>
                <a:srgbClr val="000066"/>
              </a:solidFill>
            </a:endParaRPr>
          </a:p>
        </p:txBody>
      </p:sp>
      <p:sp>
        <p:nvSpPr>
          <p:cNvPr id="371715" name="Rectangle 3">
            <a:extLst>
              <a:ext uri="{FF2B5EF4-FFF2-40B4-BE49-F238E27FC236}">
                <a16:creationId xmlns:a16="http://schemas.microsoft.com/office/drawing/2014/main" id="{63724F08-7D10-40FA-87F7-F49789180AED}"/>
              </a:ext>
            </a:extLst>
          </p:cNvPr>
          <p:cNvSpPr>
            <a:spLocks noGrp="1" noChangeArrowheads="1"/>
          </p:cNvSpPr>
          <p:nvPr>
            <p:ph type="body" idx="1"/>
          </p:nvPr>
        </p:nvSpPr>
        <p:spPr>
          <a:xfrm>
            <a:off x="1981200" y="2332038"/>
            <a:ext cx="8229600" cy="4525962"/>
          </a:xfrm>
        </p:spPr>
        <p:txBody>
          <a:bodyPr/>
          <a:lstStyle/>
          <a:p>
            <a:pPr>
              <a:buFontTx/>
              <a:buNone/>
            </a:pPr>
            <a:r>
              <a:rPr lang="el-GR" altLang="en-US"/>
              <a:t>Ερευνώντας στην ερευνητική εργογραφία διαπιστώνουμε πως το νόημα του γραμματισμού δεν είναι το ίδιο για όλους τους ερευνητές. </a:t>
            </a:r>
          </a:p>
          <a:p>
            <a:pPr>
              <a:buFontTx/>
              <a:buNone/>
            </a:pPr>
            <a:endParaRPr lang="el-GR" altLang="en-US"/>
          </a:p>
        </p:txBody>
      </p:sp>
      <p:sp>
        <p:nvSpPr>
          <p:cNvPr id="371716" name="Rectangle 4">
            <a:extLst>
              <a:ext uri="{FF2B5EF4-FFF2-40B4-BE49-F238E27FC236}">
                <a16:creationId xmlns:a16="http://schemas.microsoft.com/office/drawing/2014/main" id="{5555B91B-412D-4CEC-BBFF-60C943E0F0D9}"/>
              </a:ext>
            </a:extLst>
          </p:cNvPr>
          <p:cNvSpPr>
            <a:spLocks noChangeArrowheads="1"/>
          </p:cNvSpPr>
          <p:nvPr/>
        </p:nvSpPr>
        <p:spPr bwMode="auto">
          <a:xfrm>
            <a:off x="1981200" y="4411493"/>
            <a:ext cx="7848600" cy="1295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l-GR" altLang="en-US"/>
              <a:t>«Όση σχέση έχει ο εγγραμματισμός με κώδικες και δεξιότητες, </a:t>
            </a:r>
          </a:p>
          <a:p>
            <a:pPr algn="ctr"/>
            <a:r>
              <a:rPr lang="el-GR" altLang="en-US"/>
              <a:t>άλλη τόση έχει με ιδεολογίες, ταυτότητες και αξίες.»</a:t>
            </a:r>
          </a:p>
          <a:p>
            <a:pPr algn="ctr"/>
            <a:r>
              <a:rPr lang="el-GR" altLang="en-US"/>
              <a:t>					</a:t>
            </a:r>
            <a:r>
              <a:rPr lang="en-US" altLang="en-US"/>
              <a:t>(Luke, 1993)</a:t>
            </a:r>
            <a:endParaRPr lang="el-GR" altLang="en-US"/>
          </a:p>
        </p:txBody>
      </p:sp>
      <p:sp>
        <p:nvSpPr>
          <p:cNvPr id="5" name="Footer Placeholder 4">
            <a:extLst>
              <a:ext uri="{FF2B5EF4-FFF2-40B4-BE49-F238E27FC236}">
                <a16:creationId xmlns:a16="http://schemas.microsoft.com/office/drawing/2014/main" id="{CC8B4AA7-76C4-4214-A03A-BE560425C822}"/>
              </a:ext>
            </a:extLst>
          </p:cNvPr>
          <p:cNvSpPr>
            <a:spLocks noGrp="1"/>
          </p:cNvSpPr>
          <p:nvPr>
            <p:ph type="ftr" sz="quarter" idx="11"/>
          </p:nvPr>
        </p:nvSpPr>
        <p:spPr>
          <a:xfrm>
            <a:off x="4038600" y="6366078"/>
            <a:ext cx="4114800" cy="365125"/>
          </a:xfrm>
        </p:spPr>
        <p:txBody>
          <a:bodyPr/>
          <a:lstStyle/>
          <a:p>
            <a:r>
              <a:rPr lang="el-GR" dirty="0">
                <a:solidFill>
                  <a:schemeClr val="tx2">
                    <a:lumMod val="50000"/>
                  </a:schemeClr>
                </a:solidFill>
                <a:latin typeface="Tahoma" pitchFamily="34" charset="0"/>
                <a:ea typeface="Tahoma" pitchFamily="34" charset="0"/>
                <a:cs typeface="Tahoma" pitchFamily="34" charset="0"/>
              </a:rPr>
              <a:t>Παναγιώτης </a:t>
            </a:r>
            <a:r>
              <a:rPr lang="el-GR" dirty="0" err="1">
                <a:solidFill>
                  <a:schemeClr val="tx2">
                    <a:lumMod val="50000"/>
                  </a:schemeClr>
                </a:solidFill>
                <a:latin typeface="Tahoma" pitchFamily="34" charset="0"/>
                <a:ea typeface="Tahoma" pitchFamily="34" charset="0"/>
                <a:cs typeface="Tahoma" pitchFamily="34" charset="0"/>
              </a:rPr>
              <a:t>Πήλιουρας</a:t>
            </a:r>
            <a:r>
              <a:rPr lang="el-GR" dirty="0">
                <a:solidFill>
                  <a:schemeClr val="tx2">
                    <a:lumMod val="50000"/>
                  </a:schemeClr>
                </a:solidFill>
                <a:latin typeface="Tahoma" pitchFamily="34" charset="0"/>
                <a:ea typeface="Tahoma" pitchFamily="34" charset="0"/>
                <a:cs typeface="Tahoma" pitchFamily="34" charset="0"/>
              </a:rPr>
              <a:t> @ Θ.Ε. ΕΚΠ63 1</a:t>
            </a:r>
            <a:r>
              <a:rPr lang="el-GR" baseline="30000" dirty="0">
                <a:solidFill>
                  <a:schemeClr val="tx2">
                    <a:lumMod val="50000"/>
                  </a:schemeClr>
                </a:solidFill>
                <a:latin typeface="Tahoma" pitchFamily="34" charset="0"/>
                <a:ea typeface="Tahoma" pitchFamily="34" charset="0"/>
                <a:cs typeface="Tahoma" pitchFamily="34" charset="0"/>
              </a:rPr>
              <a:t>Η</a:t>
            </a:r>
            <a:r>
              <a:rPr lang="el-GR" dirty="0">
                <a:solidFill>
                  <a:schemeClr val="tx2">
                    <a:lumMod val="50000"/>
                  </a:schemeClr>
                </a:solidFill>
                <a:latin typeface="Tahoma" pitchFamily="34" charset="0"/>
                <a:ea typeface="Tahoma" pitchFamily="34" charset="0"/>
                <a:cs typeface="Tahoma" pitchFamily="34" charset="0"/>
              </a:rPr>
              <a:t> ΟΣΣ 2020-21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72738" name="Group 2">
            <a:extLst>
              <a:ext uri="{FF2B5EF4-FFF2-40B4-BE49-F238E27FC236}">
                <a16:creationId xmlns:a16="http://schemas.microsoft.com/office/drawing/2014/main" id="{4A99C138-B7DE-4EFF-ACB7-5F5E1B69EC87}"/>
              </a:ext>
            </a:extLst>
          </p:cNvPr>
          <p:cNvGraphicFramePr>
            <a:graphicFrameLocks noGrp="1"/>
          </p:cNvGraphicFramePr>
          <p:nvPr>
            <p:ph/>
            <p:extLst>
              <p:ext uri="{D42A27DB-BD31-4B8C-83A1-F6EECF244321}">
                <p14:modId xmlns:p14="http://schemas.microsoft.com/office/powerpoint/2010/main" val="3162058984"/>
              </p:ext>
            </p:extLst>
          </p:nvPr>
        </p:nvGraphicFramePr>
        <p:xfrm>
          <a:off x="1595438" y="1637710"/>
          <a:ext cx="8964612" cy="4572000"/>
        </p:xfrm>
        <a:graphic>
          <a:graphicData uri="http://schemas.openxmlformats.org/drawingml/2006/table">
            <a:tbl>
              <a:tblPr/>
              <a:tblGrid>
                <a:gridCol w="1704975">
                  <a:extLst>
                    <a:ext uri="{9D8B030D-6E8A-4147-A177-3AD203B41FA5}">
                      <a16:colId xmlns:a16="http://schemas.microsoft.com/office/drawing/2014/main" val="887030613"/>
                    </a:ext>
                  </a:extLst>
                </a:gridCol>
                <a:gridCol w="1884430">
                  <a:extLst>
                    <a:ext uri="{9D8B030D-6E8A-4147-A177-3AD203B41FA5}">
                      <a16:colId xmlns:a16="http://schemas.microsoft.com/office/drawing/2014/main" val="3274591314"/>
                    </a:ext>
                  </a:extLst>
                </a:gridCol>
                <a:gridCol w="1819072">
                  <a:extLst>
                    <a:ext uri="{9D8B030D-6E8A-4147-A177-3AD203B41FA5}">
                      <a16:colId xmlns:a16="http://schemas.microsoft.com/office/drawing/2014/main" val="1221518101"/>
                    </a:ext>
                  </a:extLst>
                </a:gridCol>
                <a:gridCol w="1819072">
                  <a:extLst>
                    <a:ext uri="{9D8B030D-6E8A-4147-A177-3AD203B41FA5}">
                      <a16:colId xmlns:a16="http://schemas.microsoft.com/office/drawing/2014/main" val="680968564"/>
                    </a:ext>
                  </a:extLst>
                </a:gridCol>
                <a:gridCol w="1737063">
                  <a:extLst>
                    <a:ext uri="{9D8B030D-6E8A-4147-A177-3AD203B41FA5}">
                      <a16:colId xmlns:a16="http://schemas.microsoft.com/office/drawing/2014/main" val="4083071307"/>
                    </a:ext>
                  </a:extLst>
                </a:gridCol>
              </a:tblGrid>
              <a:tr h="1190427">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l-GR" altLang="en-US" sz="1600" b="1" i="0" u="none" strike="noStrike" cap="none" normalizeH="0" baseline="0">
                          <a:ln>
                            <a:noFill/>
                          </a:ln>
                          <a:solidFill>
                            <a:schemeClr val="tx1"/>
                          </a:solidFill>
                          <a:effectLst/>
                          <a:latin typeface="Arial" panose="020B0604020202020204" pitchFamily="34" charset="0"/>
                          <a:cs typeface="Times New Roman" panose="02020603050405020304" pitchFamily="18" charset="0"/>
                        </a:rPr>
                        <a:t>Παραδοσιακός</a:t>
                      </a:r>
                    </a:p>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l-GR" altLang="en-US" sz="1600" b="1" i="0" u="none" strike="noStrike" cap="none" normalizeH="0" baseline="0">
                          <a:ln>
                            <a:noFill/>
                          </a:ln>
                          <a:solidFill>
                            <a:schemeClr val="tx1"/>
                          </a:solidFill>
                          <a:effectLst/>
                          <a:latin typeface="Arial" panose="020B0604020202020204" pitchFamily="34" charset="0"/>
                          <a:cs typeface="Times New Roman" panose="02020603050405020304" pitchFamily="18" charset="0"/>
                        </a:rPr>
                        <a:t>Επιστημονικός</a:t>
                      </a:r>
                    </a:p>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l-GR" altLang="en-US" sz="1600" b="1" i="0" u="none" strike="noStrike" cap="none" normalizeH="0" baseline="0">
                          <a:ln>
                            <a:noFill/>
                          </a:ln>
                          <a:solidFill>
                            <a:schemeClr val="tx1"/>
                          </a:solidFill>
                          <a:effectLst/>
                          <a:latin typeface="Arial" panose="020B0604020202020204" pitchFamily="34" charset="0"/>
                          <a:cs typeface="Times New Roman" panose="02020603050405020304" pitchFamily="18" charset="0"/>
                        </a:rPr>
                        <a:t>Γραμματισμός</a:t>
                      </a:r>
                      <a:endParaRPr kumimoji="0" lang="el-GR" altLang="en-US" sz="1400" b="1" i="0" u="none" strike="noStrike" cap="none" normalizeH="0" baseline="0">
                        <a:ln>
                          <a:noFill/>
                        </a:ln>
                        <a:solidFill>
                          <a:schemeClr val="tx1"/>
                        </a:solidFill>
                        <a:effectLst/>
                        <a:latin typeface="Arial" panose="020B0604020202020204" pitchFamily="34" charset="0"/>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l-GR" altLang="en-US" sz="1600" b="1" i="0" u="none" strike="noStrike" cap="none" normalizeH="0" baseline="0">
                          <a:ln>
                            <a:noFill/>
                          </a:ln>
                          <a:solidFill>
                            <a:schemeClr val="tx1"/>
                          </a:solidFill>
                          <a:effectLst/>
                          <a:latin typeface="Arial" panose="020B0604020202020204" pitchFamily="34" charset="0"/>
                          <a:cs typeface="Times New Roman" panose="02020603050405020304" pitchFamily="18" charset="0"/>
                        </a:rPr>
                        <a:t>(</a:t>
                      </a:r>
                      <a:r>
                        <a:rPr kumimoji="0" lang="en-US" altLang="en-US" sz="1600" b="1" i="0" u="none" strike="noStrike" cap="none" normalizeH="0" baseline="0">
                          <a:ln>
                            <a:noFill/>
                          </a:ln>
                          <a:solidFill>
                            <a:schemeClr val="tx1"/>
                          </a:solidFill>
                          <a:effectLst/>
                          <a:latin typeface="Arial" panose="020B0604020202020204" pitchFamily="34" charset="0"/>
                          <a:cs typeface="Times New Roman" panose="02020603050405020304" pitchFamily="18" charset="0"/>
                        </a:rPr>
                        <a:t>Spectator</a:t>
                      </a:r>
                      <a:r>
                        <a:rPr kumimoji="0" lang="el-GR" altLang="en-US" sz="1600" b="1" i="0" u="none" strike="noStrike" cap="none" normalizeH="0" baseline="0">
                          <a:ln>
                            <a:noFill/>
                          </a:ln>
                          <a:solidFill>
                            <a:schemeClr val="tx1"/>
                          </a:solidFill>
                          <a:effectLst/>
                          <a:latin typeface="Arial" panose="020B0604020202020204" pitchFamily="34" charset="0"/>
                          <a:cs typeface="Times New Roman" panose="02020603050405020304" pitchFamily="18" charset="0"/>
                        </a:rPr>
                        <a:t>)</a:t>
                      </a:r>
                      <a:endParaRPr kumimoji="0" lang="el-GR" altLang="en-US" sz="3200" b="1"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l-GR" altLang="en-US" sz="1600" b="1" i="0" u="none" strike="noStrike" cap="none" normalizeH="0" baseline="0">
                          <a:ln>
                            <a:noFill/>
                          </a:ln>
                          <a:solidFill>
                            <a:schemeClr val="tx1"/>
                          </a:solidFill>
                          <a:effectLst/>
                          <a:latin typeface="Arial" panose="020B0604020202020204" pitchFamily="34" charset="0"/>
                          <a:cs typeface="Times New Roman" panose="02020603050405020304" pitchFamily="18" charset="0"/>
                        </a:rPr>
                        <a:t>Τεχνικός</a:t>
                      </a:r>
                    </a:p>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l-GR" altLang="en-US" sz="1600" b="1" i="0" u="none" strike="noStrike" cap="none" normalizeH="0" baseline="0">
                          <a:ln>
                            <a:noFill/>
                          </a:ln>
                          <a:solidFill>
                            <a:schemeClr val="tx1"/>
                          </a:solidFill>
                          <a:effectLst/>
                          <a:latin typeface="Arial" panose="020B0604020202020204" pitchFamily="34" charset="0"/>
                          <a:cs typeface="Times New Roman" panose="02020603050405020304" pitchFamily="18" charset="0"/>
                        </a:rPr>
                        <a:t>Επιστημονικός</a:t>
                      </a:r>
                    </a:p>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l-GR" altLang="en-US" sz="1600" b="1" i="0" u="none" strike="noStrike" cap="none" normalizeH="0" baseline="0">
                          <a:ln>
                            <a:noFill/>
                          </a:ln>
                          <a:solidFill>
                            <a:schemeClr val="tx1"/>
                          </a:solidFill>
                          <a:effectLst/>
                          <a:latin typeface="Arial" panose="020B0604020202020204" pitchFamily="34" charset="0"/>
                          <a:cs typeface="Times New Roman" panose="02020603050405020304" pitchFamily="18" charset="0"/>
                        </a:rPr>
                        <a:t>Γραμματισμός</a:t>
                      </a:r>
                    </a:p>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l-GR" altLang="en-US" sz="1600" b="1" i="0" u="none" strike="noStrike" cap="none" normalizeH="0" baseline="0">
                          <a:ln>
                            <a:noFill/>
                          </a:ln>
                          <a:solidFill>
                            <a:schemeClr val="tx1"/>
                          </a:solidFill>
                          <a:effectLst/>
                          <a:latin typeface="Arial" panose="020B0604020202020204" pitchFamily="34" charset="0"/>
                          <a:cs typeface="Times New Roman" panose="02020603050405020304" pitchFamily="18" charset="0"/>
                        </a:rPr>
                        <a:t>(</a:t>
                      </a:r>
                      <a:r>
                        <a:rPr kumimoji="0" lang="en-US" altLang="en-US" sz="1600" b="1" i="0" u="none" strike="noStrike" cap="none" normalizeH="0" baseline="0">
                          <a:ln>
                            <a:noFill/>
                          </a:ln>
                          <a:solidFill>
                            <a:schemeClr val="tx1"/>
                          </a:solidFill>
                          <a:effectLst/>
                          <a:latin typeface="Arial" panose="020B0604020202020204" pitchFamily="34" charset="0"/>
                          <a:cs typeface="Times New Roman" panose="02020603050405020304" pitchFamily="18" charset="0"/>
                        </a:rPr>
                        <a:t>disciplinary</a:t>
                      </a:r>
                      <a:endParaRPr kumimoji="0" lang="el-GR" altLang="en-US" sz="1600" b="1" i="0" u="none" strike="noStrike" cap="none" normalizeH="0" baseline="0">
                        <a:ln>
                          <a:noFill/>
                        </a:ln>
                        <a:solidFill>
                          <a:schemeClr val="tx1"/>
                        </a:solidFill>
                        <a:effectLst/>
                        <a:latin typeface="Arial" panose="020B0604020202020204" pitchFamily="34" charset="0"/>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l-GR" altLang="en-US" sz="1600" b="1" i="0" u="none" strike="noStrike" cap="none" normalizeH="0" baseline="0">
                          <a:ln>
                            <a:noFill/>
                          </a:ln>
                          <a:solidFill>
                            <a:schemeClr val="tx1"/>
                          </a:solidFill>
                          <a:effectLst/>
                          <a:latin typeface="Arial" panose="020B0604020202020204" pitchFamily="34" charset="0"/>
                          <a:cs typeface="Times New Roman" panose="02020603050405020304" pitchFamily="18" charset="0"/>
                        </a:rPr>
                        <a:t> /</a:t>
                      </a:r>
                      <a:r>
                        <a:rPr kumimoji="0" lang="en-US" altLang="en-US" sz="1600" b="1" i="0" u="none" strike="noStrike" cap="none" normalizeH="0" baseline="0">
                          <a:ln>
                            <a:noFill/>
                          </a:ln>
                          <a:solidFill>
                            <a:schemeClr val="tx1"/>
                          </a:solidFill>
                          <a:effectLst/>
                          <a:latin typeface="Arial" panose="020B0604020202020204" pitchFamily="34" charset="0"/>
                          <a:cs typeface="Times New Roman" panose="02020603050405020304" pitchFamily="18" charset="0"/>
                        </a:rPr>
                        <a:t>technical</a:t>
                      </a:r>
                      <a:r>
                        <a:rPr kumimoji="0" lang="el-GR" altLang="en-US" sz="1600" b="1" i="0" u="none" strike="noStrike" cap="none" normalizeH="0" baseline="0">
                          <a:ln>
                            <a:noFill/>
                          </a:ln>
                          <a:solidFill>
                            <a:schemeClr val="tx1"/>
                          </a:solidFill>
                          <a:effectLst/>
                          <a:latin typeface="Arial" panose="020B0604020202020204" pitchFamily="34" charset="0"/>
                          <a:cs typeface="Times New Roman" panose="02020603050405020304" pitchFamily="18"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l-GR" altLang="en-US" sz="1600" b="1" i="0" u="none" strike="noStrike" cap="none" normalizeH="0" baseline="0">
                          <a:ln>
                            <a:noFill/>
                          </a:ln>
                          <a:solidFill>
                            <a:schemeClr val="tx1"/>
                          </a:solidFill>
                          <a:effectLst/>
                          <a:latin typeface="Arial" panose="020B0604020202020204" pitchFamily="34" charset="0"/>
                          <a:cs typeface="Times New Roman" panose="02020603050405020304" pitchFamily="18" charset="0"/>
                        </a:rPr>
                        <a:t>Κοινωνικός-</a:t>
                      </a:r>
                    </a:p>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l-GR" altLang="en-US" sz="1600" b="1" i="0" u="none" strike="noStrike" cap="none" normalizeH="0" baseline="0">
                          <a:ln>
                            <a:noFill/>
                          </a:ln>
                          <a:solidFill>
                            <a:schemeClr val="tx1"/>
                          </a:solidFill>
                          <a:effectLst/>
                          <a:latin typeface="Arial" panose="020B0604020202020204" pitchFamily="34" charset="0"/>
                          <a:cs typeface="Times New Roman" panose="02020603050405020304" pitchFamily="18" charset="0"/>
                        </a:rPr>
                        <a:t>Τεχνολογικός</a:t>
                      </a:r>
                    </a:p>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l-GR" altLang="en-US" sz="1600" b="1" i="0" u="none" strike="noStrike" cap="none" normalizeH="0" baseline="0">
                          <a:ln>
                            <a:noFill/>
                          </a:ln>
                          <a:solidFill>
                            <a:schemeClr val="tx1"/>
                          </a:solidFill>
                          <a:effectLst/>
                          <a:latin typeface="Arial" panose="020B0604020202020204" pitchFamily="34" charset="0"/>
                          <a:cs typeface="Times New Roman" panose="02020603050405020304" pitchFamily="18" charset="0"/>
                        </a:rPr>
                        <a:t>Επιστημονικός</a:t>
                      </a:r>
                    </a:p>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l-GR" altLang="en-US" sz="1600" b="1" i="0" u="none" strike="noStrike" cap="none" normalizeH="0" baseline="0">
                          <a:ln>
                            <a:noFill/>
                          </a:ln>
                          <a:solidFill>
                            <a:schemeClr val="tx1"/>
                          </a:solidFill>
                          <a:effectLst/>
                          <a:latin typeface="Arial" panose="020B0604020202020204" pitchFamily="34" charset="0"/>
                          <a:cs typeface="Times New Roman" panose="02020603050405020304" pitchFamily="18" charset="0"/>
                        </a:rPr>
                        <a:t>Γραμματισμός</a:t>
                      </a:r>
                      <a:endParaRPr kumimoji="0" lang="el-GR" altLang="en-US" sz="1400" b="1" i="0" u="none" strike="noStrike" cap="none" normalizeH="0" baseline="0">
                        <a:ln>
                          <a:noFill/>
                        </a:ln>
                        <a:solidFill>
                          <a:schemeClr val="tx1"/>
                        </a:solidFill>
                        <a:effectLst/>
                        <a:latin typeface="Arial" panose="020B0604020202020204" pitchFamily="34" charset="0"/>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l-GR" altLang="en-US" sz="1600" b="1" i="0" u="none" strike="noStrike" cap="none" normalizeH="0" baseline="0">
                          <a:ln>
                            <a:noFill/>
                          </a:ln>
                          <a:solidFill>
                            <a:schemeClr val="tx1"/>
                          </a:solidFill>
                          <a:effectLst/>
                          <a:latin typeface="Arial" panose="020B0604020202020204" pitchFamily="34" charset="0"/>
                          <a:cs typeface="Times New Roman" panose="02020603050405020304" pitchFamily="18" charset="0"/>
                        </a:rPr>
                        <a:t>(</a:t>
                      </a:r>
                      <a:r>
                        <a:rPr kumimoji="0" lang="en-US" altLang="en-US" sz="1600" b="1" i="0" u="none" strike="noStrike" cap="none" normalizeH="0" baseline="0">
                          <a:ln>
                            <a:noFill/>
                          </a:ln>
                          <a:solidFill>
                            <a:schemeClr val="tx1"/>
                          </a:solidFill>
                          <a:effectLst/>
                          <a:latin typeface="Arial" panose="020B0604020202020204" pitchFamily="34" charset="0"/>
                          <a:cs typeface="Times New Roman" panose="02020603050405020304" pitchFamily="18" charset="0"/>
                        </a:rPr>
                        <a:t>social</a:t>
                      </a:r>
                      <a:r>
                        <a:rPr kumimoji="0" lang="el-GR" altLang="en-US" sz="1600" b="1" i="0" u="none" strike="noStrike" cap="none" normalizeH="0" baseline="0">
                          <a:ln>
                            <a:noFill/>
                          </a:ln>
                          <a:solidFill>
                            <a:schemeClr val="tx1"/>
                          </a:solidFill>
                          <a:effectLst/>
                          <a:latin typeface="Arial" panose="020B0604020202020204" pitchFamily="34" charset="0"/>
                          <a:cs typeface="Times New Roman" panose="02020603050405020304" pitchFamily="18" charset="0"/>
                        </a:rPr>
                        <a:t> / </a:t>
                      </a:r>
                      <a:r>
                        <a:rPr kumimoji="0" lang="en-US" altLang="en-US" sz="1600" b="1" i="0" u="none" strike="noStrike" cap="none" normalizeH="0" baseline="0">
                          <a:ln>
                            <a:noFill/>
                          </a:ln>
                          <a:solidFill>
                            <a:schemeClr val="tx1"/>
                          </a:solidFill>
                          <a:effectLst/>
                          <a:latin typeface="Arial" panose="020B0604020202020204" pitchFamily="34" charset="0"/>
                          <a:cs typeface="Times New Roman" panose="02020603050405020304" pitchFamily="18" charset="0"/>
                        </a:rPr>
                        <a:t>STS</a:t>
                      </a:r>
                      <a:r>
                        <a:rPr kumimoji="0" lang="el-GR" altLang="en-US" sz="1600" b="1" i="0" u="none" strike="noStrike" cap="none" normalizeH="0" baseline="0">
                          <a:ln>
                            <a:noFill/>
                          </a:ln>
                          <a:solidFill>
                            <a:schemeClr val="tx1"/>
                          </a:solidFill>
                          <a:effectLst/>
                          <a:latin typeface="Arial" panose="020B0604020202020204" pitchFamily="34" charset="0"/>
                          <a:cs typeface="Times New Roman" panose="02020603050405020304" pitchFamily="18"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tabLst>
                          <a:tab pos="914400" algn="l"/>
                        </a:tabLst>
                        <a:defRPr sz="2800">
                          <a:solidFill>
                            <a:schemeClr val="tx1"/>
                          </a:solidFill>
                          <a:latin typeface="Arial" panose="020B0604020202020204" pitchFamily="34" charset="0"/>
                        </a:defRPr>
                      </a:lvl1pPr>
                      <a:lvl2pPr marL="742950" indent="-285750">
                        <a:spcBef>
                          <a:spcPct val="20000"/>
                        </a:spcBef>
                        <a:tabLst>
                          <a:tab pos="914400" algn="l"/>
                        </a:tabLst>
                        <a:defRPr sz="2400">
                          <a:solidFill>
                            <a:schemeClr val="tx1"/>
                          </a:solidFill>
                          <a:latin typeface="Arial" panose="020B0604020202020204" pitchFamily="34" charset="0"/>
                        </a:defRPr>
                      </a:lvl2pPr>
                      <a:lvl3pPr marL="1143000" indent="-228600">
                        <a:spcBef>
                          <a:spcPct val="20000"/>
                        </a:spcBef>
                        <a:tabLst>
                          <a:tab pos="914400" algn="l"/>
                        </a:tabLst>
                        <a:defRPr sz="2000">
                          <a:solidFill>
                            <a:schemeClr val="tx1"/>
                          </a:solidFill>
                          <a:latin typeface="Arial" panose="020B0604020202020204" pitchFamily="34" charset="0"/>
                        </a:defRPr>
                      </a:lvl3pPr>
                      <a:lvl4pPr marL="1600200" indent="-228600">
                        <a:spcBef>
                          <a:spcPct val="20000"/>
                        </a:spcBef>
                        <a:tabLst>
                          <a:tab pos="914400" algn="l"/>
                        </a:tabLst>
                        <a:defRPr>
                          <a:solidFill>
                            <a:schemeClr val="tx1"/>
                          </a:solidFill>
                          <a:latin typeface="Arial" panose="020B0604020202020204" pitchFamily="34" charset="0"/>
                        </a:defRPr>
                      </a:lvl4pPr>
                      <a:lvl5pPr marL="2057400" indent="-228600">
                        <a:spcBef>
                          <a:spcPct val="20000"/>
                        </a:spcBef>
                        <a:tabLst>
                          <a:tab pos="914400" algn="l"/>
                        </a:tabLst>
                        <a:defRPr>
                          <a:solidFill>
                            <a:schemeClr val="tx1"/>
                          </a:solidFill>
                          <a:latin typeface="Arial" panose="020B0604020202020204" pitchFamily="34" charset="0"/>
                        </a:defRPr>
                      </a:lvl5pPr>
                      <a:lvl6pPr marL="2514600" indent="-228600" fontAlgn="base">
                        <a:spcBef>
                          <a:spcPct val="20000"/>
                        </a:spcBef>
                        <a:spcAft>
                          <a:spcPct val="0"/>
                        </a:spcAft>
                        <a:tabLst>
                          <a:tab pos="914400" algn="l"/>
                        </a:tabLst>
                        <a:defRPr>
                          <a:solidFill>
                            <a:schemeClr val="tx1"/>
                          </a:solidFill>
                          <a:latin typeface="Arial" panose="020B0604020202020204" pitchFamily="34" charset="0"/>
                        </a:defRPr>
                      </a:lvl6pPr>
                      <a:lvl7pPr marL="2971800" indent="-228600" fontAlgn="base">
                        <a:spcBef>
                          <a:spcPct val="20000"/>
                        </a:spcBef>
                        <a:spcAft>
                          <a:spcPct val="0"/>
                        </a:spcAft>
                        <a:tabLst>
                          <a:tab pos="914400" algn="l"/>
                        </a:tabLst>
                        <a:defRPr>
                          <a:solidFill>
                            <a:schemeClr val="tx1"/>
                          </a:solidFill>
                          <a:latin typeface="Arial" panose="020B0604020202020204" pitchFamily="34" charset="0"/>
                        </a:defRPr>
                      </a:lvl7pPr>
                      <a:lvl8pPr marL="3429000" indent="-228600" fontAlgn="base">
                        <a:spcBef>
                          <a:spcPct val="20000"/>
                        </a:spcBef>
                        <a:spcAft>
                          <a:spcPct val="0"/>
                        </a:spcAft>
                        <a:tabLst>
                          <a:tab pos="914400" algn="l"/>
                        </a:tabLst>
                        <a:defRPr>
                          <a:solidFill>
                            <a:schemeClr val="tx1"/>
                          </a:solidFill>
                          <a:latin typeface="Arial" panose="020B0604020202020204" pitchFamily="34" charset="0"/>
                        </a:defRPr>
                      </a:lvl8pPr>
                      <a:lvl9pPr marL="3886200" indent="-228600" fontAlgn="base">
                        <a:spcBef>
                          <a:spcPct val="20000"/>
                        </a:spcBef>
                        <a:spcAft>
                          <a:spcPct val="0"/>
                        </a:spcAft>
                        <a:tabLst>
                          <a:tab pos="914400" algn="l"/>
                        </a:tabLs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914400" algn="l"/>
                        </a:tabLst>
                      </a:pPr>
                      <a:r>
                        <a:rPr kumimoji="0" lang="el-GR" altLang="en-US" sz="1600" b="1" i="0" u="none" strike="noStrike" cap="none" normalizeH="0" baseline="0">
                          <a:ln>
                            <a:noFill/>
                          </a:ln>
                          <a:solidFill>
                            <a:schemeClr val="tx1"/>
                          </a:solidFill>
                          <a:effectLst/>
                          <a:latin typeface="Arial" panose="020B0604020202020204" pitchFamily="34" charset="0"/>
                          <a:cs typeface="Times New Roman" panose="02020603050405020304" pitchFamily="18" charset="0"/>
                        </a:rPr>
                        <a:t>Φιλελεύθερος</a:t>
                      </a:r>
                      <a:endParaRPr kumimoji="0" lang="el-GR" altLang="en-US" sz="1400" b="1" i="0" u="none" strike="noStrike" cap="none" normalizeH="0" baseline="0">
                        <a:ln>
                          <a:noFill/>
                        </a:ln>
                        <a:solidFill>
                          <a:schemeClr val="tx1"/>
                        </a:solidFill>
                        <a:effectLst/>
                        <a:latin typeface="Arial" panose="020B0604020202020204" pitchFamily="34" charset="0"/>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tab pos="914400" algn="l"/>
                        </a:tabLst>
                      </a:pPr>
                      <a:r>
                        <a:rPr kumimoji="0" lang="el-GR" altLang="en-US" sz="1600" b="1" i="0" u="none" strike="noStrike" cap="none" normalizeH="0" baseline="0">
                          <a:ln>
                            <a:noFill/>
                          </a:ln>
                          <a:solidFill>
                            <a:schemeClr val="tx1"/>
                          </a:solidFill>
                          <a:effectLst/>
                          <a:latin typeface="Arial" panose="020B0604020202020204" pitchFamily="34" charset="0"/>
                          <a:cs typeface="Times New Roman" panose="02020603050405020304" pitchFamily="18" charset="0"/>
                        </a:rPr>
                        <a:t>Επιστημονικός</a:t>
                      </a:r>
                    </a:p>
                    <a:p>
                      <a:pPr marL="342900" marR="0" lvl="0" indent="-342900" algn="ctr" defTabSz="914400" rtl="0" eaLnBrk="0" fontAlgn="base" latinLnBrk="0" hangingPunct="0">
                        <a:lnSpc>
                          <a:spcPct val="100000"/>
                        </a:lnSpc>
                        <a:spcBef>
                          <a:spcPct val="0"/>
                        </a:spcBef>
                        <a:spcAft>
                          <a:spcPct val="0"/>
                        </a:spcAft>
                        <a:buClrTx/>
                        <a:buSzTx/>
                        <a:buFontTx/>
                        <a:buNone/>
                        <a:tabLst>
                          <a:tab pos="914400" algn="l"/>
                        </a:tabLst>
                      </a:pPr>
                      <a:r>
                        <a:rPr kumimoji="0" lang="el-GR" altLang="en-US" sz="1600" b="1" i="0" u="none" strike="noStrike" cap="none" normalizeH="0" baseline="0">
                          <a:ln>
                            <a:noFill/>
                          </a:ln>
                          <a:solidFill>
                            <a:schemeClr val="tx1"/>
                          </a:solidFill>
                          <a:effectLst/>
                          <a:latin typeface="Arial" panose="020B0604020202020204" pitchFamily="34" charset="0"/>
                          <a:cs typeface="Times New Roman" panose="02020603050405020304" pitchFamily="18" charset="0"/>
                        </a:rPr>
                        <a:t>Γραμματισμός</a:t>
                      </a:r>
                      <a:endParaRPr kumimoji="0" lang="el-GR" altLang="en-US" sz="1400" b="1" i="0" u="none" strike="noStrike" cap="none" normalizeH="0" baseline="0">
                        <a:ln>
                          <a:noFill/>
                        </a:ln>
                        <a:solidFill>
                          <a:schemeClr val="tx1"/>
                        </a:solidFill>
                        <a:effectLst/>
                        <a:latin typeface="Arial" panose="020B0604020202020204" pitchFamily="34" charset="0"/>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tab pos="914400" algn="l"/>
                        </a:tabLst>
                      </a:pPr>
                      <a:r>
                        <a:rPr kumimoji="0" lang="el-GR" altLang="en-US" sz="1600" b="1" i="0" u="none" strike="noStrike" cap="none" normalizeH="0" baseline="0">
                          <a:ln>
                            <a:noFill/>
                          </a:ln>
                          <a:solidFill>
                            <a:schemeClr val="tx1"/>
                          </a:solidFill>
                          <a:effectLst/>
                          <a:latin typeface="Arial" panose="020B0604020202020204" pitchFamily="34" charset="0"/>
                          <a:cs typeface="Times New Roman" panose="02020603050405020304" pitchFamily="18" charset="0"/>
                        </a:rPr>
                        <a:t>(</a:t>
                      </a:r>
                      <a:r>
                        <a:rPr kumimoji="0" lang="en-US" altLang="en-US" sz="1600" b="1" i="0" u="none" strike="noStrike" cap="none" normalizeH="0" baseline="0">
                          <a:ln>
                            <a:noFill/>
                          </a:ln>
                          <a:solidFill>
                            <a:schemeClr val="tx1"/>
                          </a:solidFill>
                          <a:effectLst/>
                          <a:latin typeface="Arial" panose="020B0604020202020204" pitchFamily="34" charset="0"/>
                          <a:cs typeface="Times New Roman" panose="02020603050405020304" pitchFamily="18" charset="0"/>
                        </a:rPr>
                        <a:t>liberal</a:t>
                      </a:r>
                      <a:r>
                        <a:rPr kumimoji="0" lang="el-GR" altLang="en-US" sz="1600" b="1" i="0" u="none" strike="noStrike" cap="none" normalizeH="0" baseline="0">
                          <a:ln>
                            <a:noFill/>
                          </a:ln>
                          <a:solidFill>
                            <a:schemeClr val="tx1"/>
                          </a:solidFill>
                          <a:effectLst/>
                          <a:latin typeface="Arial" panose="020B0604020202020204" pitchFamily="34" charset="0"/>
                          <a:cs typeface="Times New Roman" panose="02020603050405020304" pitchFamily="18"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l-GR" altLang="en-US" sz="1600" b="1" i="0" u="none" strike="noStrike" cap="none" normalizeH="0" baseline="0">
                          <a:ln>
                            <a:noFill/>
                          </a:ln>
                          <a:solidFill>
                            <a:schemeClr val="tx1"/>
                          </a:solidFill>
                          <a:effectLst/>
                          <a:latin typeface="Arial" panose="020B0604020202020204" pitchFamily="34" charset="0"/>
                          <a:cs typeface="Times New Roman" panose="02020603050405020304" pitchFamily="18" charset="0"/>
                        </a:rPr>
                        <a:t>Κριτικός</a:t>
                      </a:r>
                      <a:endParaRPr kumimoji="0" lang="el-GR" altLang="en-US" sz="1400" b="1" i="0" u="none" strike="noStrike" cap="none" normalizeH="0" baseline="0">
                        <a:ln>
                          <a:noFill/>
                        </a:ln>
                        <a:solidFill>
                          <a:schemeClr val="tx1"/>
                        </a:solidFill>
                        <a:effectLst/>
                        <a:latin typeface="Arial" panose="020B0604020202020204" pitchFamily="34" charset="0"/>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l-GR" altLang="en-US" sz="1600" b="1" i="0" u="none" strike="noStrike" cap="none" normalizeH="0" baseline="0">
                          <a:ln>
                            <a:noFill/>
                          </a:ln>
                          <a:solidFill>
                            <a:schemeClr val="tx1"/>
                          </a:solidFill>
                          <a:effectLst/>
                          <a:latin typeface="Arial" panose="020B0604020202020204" pitchFamily="34" charset="0"/>
                          <a:cs typeface="Times New Roman" panose="02020603050405020304" pitchFamily="18" charset="0"/>
                        </a:rPr>
                        <a:t>Επιστημονικός</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l-GR" altLang="en-US" sz="1600" b="1" i="0" u="none" strike="noStrike" cap="none" normalizeH="0" baseline="0">
                          <a:ln>
                            <a:noFill/>
                          </a:ln>
                          <a:solidFill>
                            <a:schemeClr val="tx1"/>
                          </a:solidFill>
                          <a:effectLst/>
                          <a:latin typeface="Arial" panose="020B0604020202020204" pitchFamily="34" charset="0"/>
                          <a:cs typeface="Times New Roman" panose="02020603050405020304" pitchFamily="18" charset="0"/>
                        </a:rPr>
                        <a:t>Γραμματισμός</a:t>
                      </a:r>
                      <a:endParaRPr kumimoji="0" lang="el-GR" altLang="en-US" sz="1400" b="1" i="0" u="none" strike="noStrike" cap="none" normalizeH="0" baseline="0">
                        <a:ln>
                          <a:noFill/>
                        </a:ln>
                        <a:solidFill>
                          <a:schemeClr val="tx1"/>
                        </a:solidFill>
                        <a:effectLst/>
                        <a:latin typeface="Arial" panose="020B0604020202020204" pitchFamily="34" charset="0"/>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l-GR" altLang="en-US" sz="1600" b="1" i="0" u="none" strike="noStrike" cap="none" normalizeH="0" baseline="0">
                          <a:ln>
                            <a:noFill/>
                          </a:ln>
                          <a:solidFill>
                            <a:schemeClr val="tx1"/>
                          </a:solidFill>
                          <a:effectLst/>
                          <a:latin typeface="Arial" panose="020B0604020202020204" pitchFamily="34" charset="0"/>
                          <a:cs typeface="Times New Roman" panose="02020603050405020304" pitchFamily="18" charset="0"/>
                        </a:rPr>
                        <a:t>(</a:t>
                      </a:r>
                      <a:r>
                        <a:rPr kumimoji="0" lang="en-US" altLang="en-US" sz="1600" b="1" i="0" u="none" strike="noStrike" cap="none" normalizeH="0" baseline="0">
                          <a:ln>
                            <a:noFill/>
                          </a:ln>
                          <a:solidFill>
                            <a:schemeClr val="tx1"/>
                          </a:solidFill>
                          <a:effectLst/>
                          <a:latin typeface="Arial" panose="020B0604020202020204" pitchFamily="34" charset="0"/>
                          <a:cs typeface="Times New Roman" panose="02020603050405020304" pitchFamily="18" charset="0"/>
                        </a:rPr>
                        <a:t>critical) </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13353878"/>
                  </a:ext>
                </a:extLst>
              </a:tr>
              <a:tr h="3045214">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l-GR" altLang="en-US" sz="16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NewBaskerville-Roman" charset="0"/>
                        </a:rPr>
                        <a:t>Γνώση σχετική με τη ΦΕ, και </a:t>
                      </a:r>
                    </a:p>
                    <a:p>
                      <a:pPr marL="342900" marR="0" lvl="0" indent="-342900" algn="l" defTabSz="914400" rtl="0" eaLnBrk="1" fontAlgn="base" latinLnBrk="0" hangingPunct="1">
                        <a:lnSpc>
                          <a:spcPct val="100000"/>
                        </a:lnSpc>
                        <a:spcBef>
                          <a:spcPct val="0"/>
                        </a:spcBef>
                        <a:spcAft>
                          <a:spcPct val="0"/>
                        </a:spcAft>
                        <a:buClrTx/>
                        <a:buSzTx/>
                        <a:buFontTx/>
                        <a:buNone/>
                        <a:tabLst/>
                      </a:pPr>
                      <a:r>
                        <a:rPr kumimoji="0" lang="el-GR" altLang="en-US" sz="16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NewBaskerville-Roman" charset="0"/>
                        </a:rPr>
                        <a:t>κάποια γνώση σχετική με το περιεχόμενο</a:t>
                      </a:r>
                      <a:endParaRPr kumimoji="0" lang="el-GR" altLang="en-US" sz="14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NewBaskerville-Roman" charset="0"/>
                      </a:endParaRPr>
                    </a:p>
                    <a:p>
                      <a:pPr marL="342900" marR="0" lvl="0" indent="-342900" algn="l" defTabSz="914400" rtl="0" eaLnBrk="0" fontAlgn="base" latinLnBrk="0" hangingPunct="0">
                        <a:lnSpc>
                          <a:spcPct val="100000"/>
                        </a:lnSpc>
                        <a:spcBef>
                          <a:spcPct val="0"/>
                        </a:spcBef>
                        <a:spcAft>
                          <a:spcPct val="0"/>
                        </a:spcAft>
                        <a:buClrTx/>
                        <a:buSzTx/>
                        <a:buFontTx/>
                        <a:buNone/>
                        <a:tabLst/>
                      </a:pPr>
                      <a:endParaRPr kumimoji="0" lang="el-GR" altLang="en-US" sz="16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NewBaskerville-Roman" charset="0"/>
                      </a:endParaRP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NewBaskerville-Roman" charset="0"/>
                        </a:rPr>
                        <a:t>(Shamos 1995) </a:t>
                      </a:r>
                      <a:endParaRPr kumimoji="0" lang="el-GR" altLang="en-US" sz="16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NewBaskerville-Roman" charset="0"/>
                      </a:endParaRPr>
                    </a:p>
                    <a:p>
                      <a:pPr marL="342900" marR="0" lvl="0" indent="-342900" algn="l" defTabSz="914400" rtl="0" eaLnBrk="0" fontAlgn="base" latinLnBrk="0" hangingPunct="0">
                        <a:lnSpc>
                          <a:spcPct val="100000"/>
                        </a:lnSpc>
                        <a:spcBef>
                          <a:spcPct val="0"/>
                        </a:spcBef>
                        <a:spcAft>
                          <a:spcPct val="0"/>
                        </a:spcAft>
                        <a:buClrTx/>
                        <a:buSzTx/>
                        <a:buFontTx/>
                        <a:buNone/>
                        <a:tabLst/>
                      </a:pPr>
                      <a:endParaRPr kumimoji="0" lang="en-US" altLang="en-US" sz="32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NewBaskerville-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l-GR" altLang="en-US" sz="16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NewBaskerville-Roman" charset="0"/>
                        </a:rPr>
                        <a:t>Κάποια γνώση του περιεχομένου και</a:t>
                      </a:r>
                    </a:p>
                    <a:p>
                      <a:pPr marL="342900" marR="0" lvl="0" indent="-342900" algn="l" defTabSz="914400" rtl="0" eaLnBrk="1" fontAlgn="base" latinLnBrk="0" hangingPunct="1">
                        <a:lnSpc>
                          <a:spcPct val="100000"/>
                        </a:lnSpc>
                        <a:spcBef>
                          <a:spcPct val="0"/>
                        </a:spcBef>
                        <a:spcAft>
                          <a:spcPct val="0"/>
                        </a:spcAft>
                        <a:buClrTx/>
                        <a:buSzTx/>
                        <a:buFontTx/>
                        <a:buNone/>
                        <a:tabLst/>
                      </a:pPr>
                      <a:r>
                        <a:rPr kumimoji="0" lang="el-GR" altLang="en-US" sz="16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NewBaskerville-Roman" charset="0"/>
                        </a:rPr>
                        <a:t> κάποια επάρκεια στις δεξιότητες και τη μέθοδο </a:t>
                      </a:r>
                    </a:p>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l-GR" altLang="en-US" sz="16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NewBaskerville-Roman" charset="0"/>
                      </a:endParaRPr>
                    </a:p>
                    <a:p>
                      <a:pPr marL="342900" marR="0" lvl="0" indent="-342900" algn="l" defTabSz="914400" rtl="0" eaLnBrk="1" fontAlgn="base" latinLnBrk="0" hangingPunct="1">
                        <a:lnSpc>
                          <a:spcPct val="100000"/>
                        </a:lnSpc>
                        <a:spcBef>
                          <a:spcPct val="0"/>
                        </a:spcBef>
                        <a:spcAft>
                          <a:spcPct val="0"/>
                        </a:spcAft>
                        <a:buClrTx/>
                        <a:buSzTx/>
                        <a:buFontTx/>
                        <a:buNone/>
                        <a:tabLst/>
                      </a:pPr>
                      <a:r>
                        <a:rPr kumimoji="0" lang="el-GR" altLang="en-US" sz="16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NewBaskerville-Roman" charset="0"/>
                        </a:rPr>
                        <a:t>(</a:t>
                      </a:r>
                      <a:r>
                        <a:rPr kumimoji="0" lang="en-US" altLang="en-US" sz="16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NewBaskerville-Roman" charset="0"/>
                        </a:rPr>
                        <a:t>Miller</a:t>
                      </a:r>
                      <a:r>
                        <a:rPr kumimoji="0" lang="el-GR" altLang="en-US" sz="16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NewBaskerville-Roman" charset="0"/>
                        </a:rPr>
                        <a:t> 1992) </a:t>
                      </a:r>
                    </a:p>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l-GR" altLang="en-US" sz="32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NewBaskerville-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l-GR" altLang="en-US" sz="16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NewBaskerville-Roman" charset="0"/>
                        </a:rPr>
                        <a:t>Κάποια γνώση περιεχομένου και επάρκεια, </a:t>
                      </a:r>
                    </a:p>
                    <a:p>
                      <a:pPr marL="342900" marR="0" lvl="0" indent="-342900" algn="l" defTabSz="914400" rtl="0" eaLnBrk="1" fontAlgn="base" latinLnBrk="0" hangingPunct="1">
                        <a:lnSpc>
                          <a:spcPct val="100000"/>
                        </a:lnSpc>
                        <a:spcBef>
                          <a:spcPct val="0"/>
                        </a:spcBef>
                        <a:spcAft>
                          <a:spcPct val="0"/>
                        </a:spcAft>
                        <a:buClrTx/>
                        <a:buSzTx/>
                        <a:buFontTx/>
                        <a:buNone/>
                        <a:tabLst/>
                      </a:pPr>
                      <a:r>
                        <a:rPr kumimoji="0" lang="el-GR" altLang="en-US" sz="16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NewBaskerville-Roman" charset="0"/>
                        </a:rPr>
                        <a:t>κάποια γνώση των κοινωνικών επιπτώσεων της επιστήμης</a:t>
                      </a:r>
                      <a:endParaRPr kumimoji="0" lang="el-GR" altLang="en-US" sz="14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NewBaskerville-Roman" charset="0"/>
                      </a:endParaRPr>
                    </a:p>
                    <a:p>
                      <a:pPr marL="342900" marR="0" lvl="0" indent="-342900" algn="l" defTabSz="914400" rtl="0" eaLnBrk="0" fontAlgn="base" latinLnBrk="0" hangingPunct="0">
                        <a:lnSpc>
                          <a:spcPct val="100000"/>
                        </a:lnSpc>
                        <a:spcBef>
                          <a:spcPct val="0"/>
                        </a:spcBef>
                        <a:spcAft>
                          <a:spcPct val="0"/>
                        </a:spcAft>
                        <a:buClrTx/>
                        <a:buSzTx/>
                        <a:buFontTx/>
                        <a:buNone/>
                        <a:tabLst/>
                      </a:pPr>
                      <a:endParaRPr kumimoji="0" lang="el-GR" altLang="en-US" sz="16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NewBaskerville-Roman" charset="0"/>
                      </a:endParaRP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el-GR" altLang="en-US" sz="16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NewBaskerville-Roman" charset="0"/>
                        </a:rPr>
                        <a:t>(</a:t>
                      </a:r>
                      <a:r>
                        <a:rPr kumimoji="0" lang="en-US" altLang="en-US" sz="16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NewBaskerville-Roman" charset="0"/>
                        </a:rPr>
                        <a:t>Hurd 1985) </a:t>
                      </a:r>
                      <a:endParaRPr kumimoji="0" lang="el-GR" altLang="en-US" sz="14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NewBaskerville-Roman" charset="0"/>
                      </a:endParaRP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el-GR" altLang="en-US" sz="16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NewBaskerville-Roman" charset="0"/>
                        </a:rPr>
                        <a:t> </a:t>
                      </a:r>
                      <a:endParaRPr kumimoji="0" lang="el-GR" altLang="en-US" sz="32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NewBaskerville-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l-GR" altLang="en-US" sz="16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NewBaskerville-Roman" charset="0"/>
                        </a:rPr>
                        <a:t>Γνώση περιεχομένου και κοινωνική γνώση, </a:t>
                      </a:r>
                    </a:p>
                    <a:p>
                      <a:pPr marL="342900" marR="0" lvl="0" indent="-342900" algn="l" defTabSz="914400" rtl="0" eaLnBrk="1" fontAlgn="base" latinLnBrk="0" hangingPunct="1">
                        <a:lnSpc>
                          <a:spcPct val="100000"/>
                        </a:lnSpc>
                        <a:spcBef>
                          <a:spcPct val="0"/>
                        </a:spcBef>
                        <a:spcAft>
                          <a:spcPct val="0"/>
                        </a:spcAft>
                        <a:buClrTx/>
                        <a:buSzTx/>
                        <a:buFontTx/>
                        <a:buNone/>
                        <a:tabLst/>
                      </a:pPr>
                      <a:r>
                        <a:rPr kumimoji="0" lang="el-GR" altLang="en-US" sz="16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NewBaskerville-Roman" charset="0"/>
                        </a:rPr>
                        <a:t>κάποια γνώση για την ιστορική, φιλοσοφική και πολιτισμική επίδραση των ΦΕ </a:t>
                      </a:r>
                    </a:p>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l-GR" altLang="en-US" sz="16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NewBaskerville-Roman" charset="0"/>
                      </a:endParaRPr>
                    </a:p>
                    <a:p>
                      <a:pPr marL="342900" marR="0" lvl="0" indent="-342900" algn="l" defTabSz="914400" rtl="0" eaLnBrk="1" fontAlgn="base" latinLnBrk="0" hangingPunct="1">
                        <a:lnSpc>
                          <a:spcPct val="100000"/>
                        </a:lnSpc>
                        <a:spcBef>
                          <a:spcPct val="0"/>
                        </a:spcBef>
                        <a:spcAft>
                          <a:spcPct val="0"/>
                        </a:spcAft>
                        <a:buClrTx/>
                        <a:buSzTx/>
                        <a:buFontTx/>
                        <a:buNone/>
                        <a:tabLst/>
                      </a:pPr>
                      <a:r>
                        <a:rPr kumimoji="0" lang="el-GR" altLang="en-US" sz="16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NewBaskerville-Roman" charset="0"/>
                        </a:rPr>
                        <a:t>(</a:t>
                      </a:r>
                      <a:r>
                        <a:rPr kumimoji="0" lang="en-US" altLang="en-US" sz="16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NewBaskerville-Roman" charset="0"/>
                        </a:rPr>
                        <a:t>Holton</a:t>
                      </a:r>
                      <a:r>
                        <a:rPr kumimoji="0" lang="el-GR" altLang="en-US" sz="16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NewBaskerville-Roman" charset="0"/>
                        </a:rPr>
                        <a:t> 1990) </a:t>
                      </a:r>
                      <a:endParaRPr kumimoji="0" lang="el-GR" altLang="en-US" sz="32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NewBaskerville-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l-GR" altLang="en-US"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NewBaskerville-Roman" charset="0"/>
                        </a:rPr>
                        <a:t>Κοινωνική γνώση και </a:t>
                      </a:r>
                      <a:endParaRPr kumimoji="0" lang="el-GR" altLang="en-US" sz="14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NewBaskerville-Roman" charset="0"/>
                      </a:endParaRP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el-GR" altLang="en-US"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NewBaskerville-Roman" charset="0"/>
                        </a:rPr>
                        <a:t>/ή μια αφοσίωση σε ένα </a:t>
                      </a:r>
                      <a:r>
                        <a:rPr kumimoji="0" lang="el-GR" altLang="en-US" sz="1600" b="0" i="0" u="none" strike="noStrike" cap="none" normalizeH="0" baseline="0" dirty="0" err="1">
                          <a:ln>
                            <a:noFill/>
                          </a:ln>
                          <a:solidFill>
                            <a:schemeClr val="tx1"/>
                          </a:solidFill>
                          <a:effectLst/>
                          <a:latin typeface="Arial" panose="020B0604020202020204" pitchFamily="34" charset="0"/>
                          <a:ea typeface="Times New Roman" panose="02020603050405020304" pitchFamily="18" charset="0"/>
                          <a:cs typeface="NewBaskerville-Roman" charset="0"/>
                        </a:rPr>
                        <a:t>χειραφετικό</a:t>
                      </a:r>
                      <a:r>
                        <a:rPr kumimoji="0" lang="el-GR" altLang="en-US"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NewBaskerville-Roman" charset="0"/>
                        </a:rPr>
                        <a:t> πρόγραμμα</a:t>
                      </a:r>
                      <a:endParaRPr kumimoji="0" lang="el-GR" altLang="en-US" sz="14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NewBaskerville-Roman" charset="0"/>
                      </a:endParaRPr>
                    </a:p>
                    <a:p>
                      <a:pPr marL="342900" marR="0" lvl="0" indent="-342900" algn="l" defTabSz="914400" rtl="0" eaLnBrk="0" fontAlgn="base" latinLnBrk="0" hangingPunct="0">
                        <a:lnSpc>
                          <a:spcPct val="100000"/>
                        </a:lnSpc>
                        <a:spcBef>
                          <a:spcPct val="0"/>
                        </a:spcBef>
                        <a:spcAft>
                          <a:spcPct val="0"/>
                        </a:spcAft>
                        <a:buClrTx/>
                        <a:buSzTx/>
                        <a:buFontTx/>
                        <a:buNone/>
                        <a:tabLst/>
                      </a:pPr>
                      <a:endParaRPr kumimoji="0" lang="el-GR" altLang="en-US"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NewBaskerville-Roman" charset="0"/>
                      </a:endParaRP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el-GR" altLang="en-US"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NewBaskerville-Roman" charset="0"/>
                        </a:rPr>
                        <a:t>(</a:t>
                      </a:r>
                      <a:r>
                        <a:rPr kumimoji="0" lang="en-US" altLang="en-US" sz="1600" b="0" i="0" u="none" strike="noStrike" cap="none" normalizeH="0" baseline="0" dirty="0" err="1">
                          <a:ln>
                            <a:noFill/>
                          </a:ln>
                          <a:solidFill>
                            <a:schemeClr val="tx1"/>
                          </a:solidFill>
                          <a:effectLst/>
                          <a:latin typeface="Arial" panose="020B0604020202020204" pitchFamily="34" charset="0"/>
                          <a:ea typeface="Times New Roman" panose="02020603050405020304" pitchFamily="18" charset="0"/>
                          <a:cs typeface="NewBaskerville-Roman" charset="0"/>
                        </a:rPr>
                        <a:t>Aikenhead</a:t>
                      </a:r>
                      <a:r>
                        <a:rPr kumimoji="0" lang="en-US" altLang="en-US"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NewBaskerville-Roman" charset="0"/>
                        </a:rPr>
                        <a:t> 1997) </a:t>
                      </a:r>
                      <a:endParaRPr kumimoji="0" lang="en-US" altLang="en-US" sz="3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NewBaskerville-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57765903"/>
                  </a:ext>
                </a:extLst>
              </a:tr>
            </a:tbl>
          </a:graphicData>
        </a:graphic>
      </p:graphicFrame>
      <p:sp>
        <p:nvSpPr>
          <p:cNvPr id="372760" name="Rectangle 24">
            <a:extLst>
              <a:ext uri="{FF2B5EF4-FFF2-40B4-BE49-F238E27FC236}">
                <a16:creationId xmlns:a16="http://schemas.microsoft.com/office/drawing/2014/main" id="{DD4F20B6-7CAE-4891-9556-A909371D12B5}"/>
              </a:ext>
            </a:extLst>
          </p:cNvPr>
          <p:cNvSpPr>
            <a:spLocks noChangeArrowheads="1"/>
          </p:cNvSpPr>
          <p:nvPr/>
        </p:nvSpPr>
        <p:spPr bwMode="auto">
          <a:xfrm>
            <a:off x="3876472" y="546149"/>
            <a:ext cx="7067145"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l-GR" altLang="en-US" dirty="0">
                <a:solidFill>
                  <a:srgbClr val="000066"/>
                </a:solidFill>
              </a:rPr>
              <a:t>Πεδίο Εκπαίδευσης Φυσικών Επιστημών – Διδακτική Φυσικών Επιστημών</a:t>
            </a:r>
          </a:p>
        </p:txBody>
      </p:sp>
      <p:sp>
        <p:nvSpPr>
          <p:cNvPr id="5" name="Footer Placeholder 4">
            <a:extLst>
              <a:ext uri="{FF2B5EF4-FFF2-40B4-BE49-F238E27FC236}">
                <a16:creationId xmlns:a16="http://schemas.microsoft.com/office/drawing/2014/main" id="{8A94D789-C51C-464D-940F-82EF3917CAC7}"/>
              </a:ext>
            </a:extLst>
          </p:cNvPr>
          <p:cNvSpPr>
            <a:spLocks noGrp="1"/>
          </p:cNvSpPr>
          <p:nvPr>
            <p:ph type="ftr" sz="quarter" idx="11"/>
          </p:nvPr>
        </p:nvSpPr>
        <p:spPr>
          <a:xfrm>
            <a:off x="4038600" y="6356350"/>
            <a:ext cx="4114800" cy="365125"/>
          </a:xfrm>
        </p:spPr>
        <p:txBody>
          <a:bodyPr/>
          <a:lstStyle/>
          <a:p>
            <a:r>
              <a:rPr lang="el-GR" dirty="0">
                <a:solidFill>
                  <a:schemeClr val="tx2">
                    <a:lumMod val="50000"/>
                  </a:schemeClr>
                </a:solidFill>
                <a:latin typeface="Tahoma" pitchFamily="34" charset="0"/>
                <a:ea typeface="Tahoma" pitchFamily="34" charset="0"/>
                <a:cs typeface="Tahoma" pitchFamily="34" charset="0"/>
              </a:rPr>
              <a:t>Παναγιώτης </a:t>
            </a:r>
            <a:r>
              <a:rPr lang="el-GR" dirty="0" err="1">
                <a:solidFill>
                  <a:schemeClr val="tx2">
                    <a:lumMod val="50000"/>
                  </a:schemeClr>
                </a:solidFill>
                <a:latin typeface="Tahoma" pitchFamily="34" charset="0"/>
                <a:ea typeface="Tahoma" pitchFamily="34" charset="0"/>
                <a:cs typeface="Tahoma" pitchFamily="34" charset="0"/>
              </a:rPr>
              <a:t>Πήλιουρας</a:t>
            </a:r>
            <a:r>
              <a:rPr lang="el-GR" dirty="0">
                <a:solidFill>
                  <a:schemeClr val="tx2">
                    <a:lumMod val="50000"/>
                  </a:schemeClr>
                </a:solidFill>
                <a:latin typeface="Tahoma" pitchFamily="34" charset="0"/>
                <a:ea typeface="Tahoma" pitchFamily="34" charset="0"/>
                <a:cs typeface="Tahoma" pitchFamily="34" charset="0"/>
              </a:rPr>
              <a:t> @ Θ.Ε. ΕΚΠ63 1</a:t>
            </a:r>
            <a:r>
              <a:rPr lang="el-GR" baseline="30000" dirty="0">
                <a:solidFill>
                  <a:schemeClr val="tx2">
                    <a:lumMod val="50000"/>
                  </a:schemeClr>
                </a:solidFill>
                <a:latin typeface="Tahoma" pitchFamily="34" charset="0"/>
                <a:ea typeface="Tahoma" pitchFamily="34" charset="0"/>
                <a:cs typeface="Tahoma" pitchFamily="34" charset="0"/>
              </a:rPr>
              <a:t>Η</a:t>
            </a:r>
            <a:r>
              <a:rPr lang="el-GR" dirty="0">
                <a:solidFill>
                  <a:schemeClr val="tx2">
                    <a:lumMod val="50000"/>
                  </a:schemeClr>
                </a:solidFill>
                <a:latin typeface="Tahoma" pitchFamily="34" charset="0"/>
                <a:ea typeface="Tahoma" pitchFamily="34" charset="0"/>
                <a:cs typeface="Tahoma" pitchFamily="34" charset="0"/>
              </a:rPr>
              <a:t> ΟΣΣ 2020-21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51" name="Rectangle 3">
            <a:extLst>
              <a:ext uri="{FF2B5EF4-FFF2-40B4-BE49-F238E27FC236}">
                <a16:creationId xmlns:a16="http://schemas.microsoft.com/office/drawing/2014/main" id="{D9DC2448-C974-40C7-870B-FBD40FA56287}"/>
              </a:ext>
            </a:extLst>
          </p:cNvPr>
          <p:cNvSpPr>
            <a:spLocks noGrp="1" noChangeArrowheads="1"/>
          </p:cNvSpPr>
          <p:nvPr>
            <p:ph type="body" idx="1"/>
          </p:nvPr>
        </p:nvSpPr>
        <p:spPr>
          <a:xfrm>
            <a:off x="3597552" y="310002"/>
            <a:ext cx="7772400" cy="6096000"/>
          </a:xfrm>
          <a:ln w="50800">
            <a:solidFill>
              <a:schemeClr val="tx1"/>
            </a:solidFill>
          </a:ln>
        </p:spPr>
        <p:txBody>
          <a:bodyPr>
            <a:normAutofit lnSpcReduction="10000"/>
          </a:bodyPr>
          <a:lstStyle/>
          <a:p>
            <a:pPr>
              <a:lnSpc>
                <a:spcPct val="90000"/>
              </a:lnSpc>
              <a:buFontTx/>
              <a:buNone/>
            </a:pPr>
            <a:r>
              <a:rPr lang="en-US" altLang="en-US" dirty="0">
                <a:solidFill>
                  <a:srgbClr val="000066"/>
                </a:solidFill>
              </a:rPr>
              <a:t>H</a:t>
            </a:r>
            <a:r>
              <a:rPr lang="el-GR" altLang="en-US" dirty="0">
                <a:solidFill>
                  <a:srgbClr val="000066"/>
                </a:solidFill>
              </a:rPr>
              <a:t> εκπαίδευση στις Φ.Ε. μεταβάλλεται:</a:t>
            </a:r>
          </a:p>
          <a:p>
            <a:pPr>
              <a:lnSpc>
                <a:spcPct val="90000"/>
              </a:lnSpc>
              <a:buFontTx/>
              <a:buNone/>
            </a:pPr>
            <a:endParaRPr lang="el-GR" altLang="en-US" dirty="0">
              <a:solidFill>
                <a:srgbClr val="000066"/>
              </a:solidFill>
            </a:endParaRPr>
          </a:p>
          <a:p>
            <a:pPr>
              <a:lnSpc>
                <a:spcPct val="90000"/>
              </a:lnSpc>
              <a:buFontTx/>
              <a:buNone/>
            </a:pPr>
            <a:r>
              <a:rPr lang="el-GR" altLang="en-US" dirty="0"/>
              <a:t>Αλλάζει, έχοντας άμεση διασύνδεση με τις ανάγκες και την ανάπτυξη της κοινωνίας,</a:t>
            </a:r>
          </a:p>
          <a:p>
            <a:pPr>
              <a:lnSpc>
                <a:spcPct val="90000"/>
              </a:lnSpc>
              <a:buFontTx/>
              <a:buNone/>
            </a:pPr>
            <a:r>
              <a:rPr lang="el-GR" altLang="en-US" dirty="0"/>
              <a:t> </a:t>
            </a:r>
            <a:endParaRPr lang="en-US" altLang="en-US" dirty="0"/>
          </a:p>
          <a:p>
            <a:pPr>
              <a:lnSpc>
                <a:spcPct val="90000"/>
              </a:lnSpc>
              <a:buFontTx/>
              <a:buNone/>
            </a:pPr>
            <a:r>
              <a:rPr lang="el-GR" altLang="en-US" dirty="0"/>
              <a:t>		αλλάζει ανάλογα με τις επικρατούσες 	απόψεις για </a:t>
            </a:r>
            <a:r>
              <a:rPr lang="el-GR" altLang="en-US" b="1" dirty="0"/>
              <a:t>τη διδασκαλία, τη μάθηση, 	τη φύση της αξιολόγησης και τη φύση των 	Φυσικών	Επιστημών κ</a:t>
            </a:r>
            <a:r>
              <a:rPr lang="el-GR" altLang="en-US" dirty="0"/>
              <a:t>αι τέλος </a:t>
            </a:r>
          </a:p>
          <a:p>
            <a:pPr>
              <a:lnSpc>
                <a:spcPct val="90000"/>
              </a:lnSpc>
              <a:buFontTx/>
              <a:buNone/>
            </a:pPr>
            <a:endParaRPr lang="en-US" altLang="en-US" dirty="0"/>
          </a:p>
          <a:p>
            <a:pPr>
              <a:lnSpc>
                <a:spcPct val="90000"/>
              </a:lnSpc>
              <a:buFontTx/>
              <a:buNone/>
            </a:pPr>
            <a:r>
              <a:rPr lang="el-GR" altLang="en-US" dirty="0"/>
              <a:t>		ανάλογα </a:t>
            </a:r>
            <a:r>
              <a:rPr lang="el-GR" altLang="en-US" b="1" dirty="0"/>
              <a:t>με την ανάπτυξη του ίδιου 		του επιστημονικού πεδίου 				των Φυσικών Επιστημών και των 			τεχνολογικών τους εφαρμογών </a:t>
            </a:r>
            <a:r>
              <a:rPr lang="el-GR" altLang="en-US" dirty="0"/>
              <a:t>						(</a:t>
            </a:r>
            <a:r>
              <a:rPr lang="el-GR" altLang="en-US" dirty="0" err="1"/>
              <a:t>Lijnse</a:t>
            </a:r>
            <a:r>
              <a:rPr lang="el-GR" altLang="en-US" dirty="0"/>
              <a:t> 1997).</a:t>
            </a:r>
          </a:p>
        </p:txBody>
      </p:sp>
      <p:sp>
        <p:nvSpPr>
          <p:cNvPr id="360452" name="Line 4">
            <a:extLst>
              <a:ext uri="{FF2B5EF4-FFF2-40B4-BE49-F238E27FC236}">
                <a16:creationId xmlns:a16="http://schemas.microsoft.com/office/drawing/2014/main" id="{E4E72328-36ED-48D6-995D-DF4F0C237268}"/>
              </a:ext>
            </a:extLst>
          </p:cNvPr>
          <p:cNvSpPr>
            <a:spLocks noChangeShapeType="1"/>
          </p:cNvSpPr>
          <p:nvPr/>
        </p:nvSpPr>
        <p:spPr bwMode="auto">
          <a:xfrm>
            <a:off x="3073941" y="4400779"/>
            <a:ext cx="1206874" cy="215748"/>
          </a:xfrm>
          <a:prstGeom prst="line">
            <a:avLst/>
          </a:prstGeom>
          <a:noFill/>
          <a:ln w="508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0453" name="Line 5">
            <a:extLst>
              <a:ext uri="{FF2B5EF4-FFF2-40B4-BE49-F238E27FC236}">
                <a16:creationId xmlns:a16="http://schemas.microsoft.com/office/drawing/2014/main" id="{EF6BD43E-566C-49BF-98B8-79996833964C}"/>
              </a:ext>
            </a:extLst>
          </p:cNvPr>
          <p:cNvSpPr>
            <a:spLocks noChangeShapeType="1"/>
          </p:cNvSpPr>
          <p:nvPr/>
        </p:nvSpPr>
        <p:spPr bwMode="auto">
          <a:xfrm>
            <a:off x="3245474" y="2601988"/>
            <a:ext cx="1129052" cy="215748"/>
          </a:xfrm>
          <a:prstGeom prst="line">
            <a:avLst/>
          </a:prstGeom>
          <a:noFill/>
          <a:ln w="508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0454" name="Oval 6">
            <a:extLst>
              <a:ext uri="{FF2B5EF4-FFF2-40B4-BE49-F238E27FC236}">
                <a16:creationId xmlns:a16="http://schemas.microsoft.com/office/drawing/2014/main" id="{2D7C8936-7994-44E7-9CEA-06F92BF0474E}"/>
              </a:ext>
            </a:extLst>
          </p:cNvPr>
          <p:cNvSpPr>
            <a:spLocks noChangeArrowheads="1"/>
          </p:cNvSpPr>
          <p:nvPr/>
        </p:nvSpPr>
        <p:spPr bwMode="auto">
          <a:xfrm>
            <a:off x="886519" y="2576091"/>
            <a:ext cx="2286000" cy="22098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l-GR" altLang="en-US" i="1" dirty="0">
                <a:solidFill>
                  <a:srgbClr val="000066"/>
                </a:solidFill>
              </a:rPr>
              <a:t>Ο μετασχηματισμός</a:t>
            </a:r>
          </a:p>
          <a:p>
            <a:pPr algn="ctr"/>
            <a:r>
              <a:rPr lang="el-GR" altLang="en-US" i="1" dirty="0">
                <a:solidFill>
                  <a:srgbClr val="000066"/>
                </a:solidFill>
              </a:rPr>
              <a:t>στο πέρασμα </a:t>
            </a:r>
          </a:p>
          <a:p>
            <a:pPr algn="ctr"/>
            <a:r>
              <a:rPr lang="el-GR" altLang="en-US" i="1" dirty="0">
                <a:solidFill>
                  <a:srgbClr val="000066"/>
                </a:solidFill>
              </a:rPr>
              <a:t>του χρόνου</a:t>
            </a:r>
          </a:p>
        </p:txBody>
      </p:sp>
      <p:sp>
        <p:nvSpPr>
          <p:cNvPr id="7" name="Footer Placeholder 4">
            <a:extLst>
              <a:ext uri="{FF2B5EF4-FFF2-40B4-BE49-F238E27FC236}">
                <a16:creationId xmlns:a16="http://schemas.microsoft.com/office/drawing/2014/main" id="{EE31A296-C78C-4B69-84BA-21E64DA2F60A}"/>
              </a:ext>
            </a:extLst>
          </p:cNvPr>
          <p:cNvSpPr>
            <a:spLocks noGrp="1"/>
          </p:cNvSpPr>
          <p:nvPr>
            <p:ph type="ftr" sz="quarter" idx="11"/>
          </p:nvPr>
        </p:nvSpPr>
        <p:spPr>
          <a:xfrm>
            <a:off x="4038600" y="6356350"/>
            <a:ext cx="4114800" cy="365125"/>
          </a:xfrm>
        </p:spPr>
        <p:txBody>
          <a:bodyPr/>
          <a:lstStyle/>
          <a:p>
            <a:r>
              <a:rPr lang="el-GR" dirty="0">
                <a:solidFill>
                  <a:schemeClr val="tx2">
                    <a:lumMod val="50000"/>
                  </a:schemeClr>
                </a:solidFill>
                <a:latin typeface="Tahoma" pitchFamily="34" charset="0"/>
                <a:ea typeface="Tahoma" pitchFamily="34" charset="0"/>
                <a:cs typeface="Tahoma" pitchFamily="34" charset="0"/>
              </a:rPr>
              <a:t>Παναγιώτης </a:t>
            </a:r>
            <a:r>
              <a:rPr lang="el-GR" dirty="0" err="1">
                <a:solidFill>
                  <a:schemeClr val="tx2">
                    <a:lumMod val="50000"/>
                  </a:schemeClr>
                </a:solidFill>
                <a:latin typeface="Tahoma" pitchFamily="34" charset="0"/>
                <a:ea typeface="Tahoma" pitchFamily="34" charset="0"/>
                <a:cs typeface="Tahoma" pitchFamily="34" charset="0"/>
              </a:rPr>
              <a:t>Πήλιουρας</a:t>
            </a:r>
            <a:r>
              <a:rPr lang="el-GR" dirty="0">
                <a:solidFill>
                  <a:schemeClr val="tx2">
                    <a:lumMod val="50000"/>
                  </a:schemeClr>
                </a:solidFill>
                <a:latin typeface="Tahoma" pitchFamily="34" charset="0"/>
                <a:ea typeface="Tahoma" pitchFamily="34" charset="0"/>
                <a:cs typeface="Tahoma" pitchFamily="34" charset="0"/>
              </a:rPr>
              <a:t> @ Θ.Ε. ΕΚΠ63 1</a:t>
            </a:r>
            <a:r>
              <a:rPr lang="el-GR" baseline="30000" dirty="0">
                <a:solidFill>
                  <a:schemeClr val="tx2">
                    <a:lumMod val="50000"/>
                  </a:schemeClr>
                </a:solidFill>
                <a:latin typeface="Tahoma" pitchFamily="34" charset="0"/>
                <a:ea typeface="Tahoma" pitchFamily="34" charset="0"/>
                <a:cs typeface="Tahoma" pitchFamily="34" charset="0"/>
              </a:rPr>
              <a:t>Η</a:t>
            </a:r>
            <a:r>
              <a:rPr lang="el-GR" dirty="0">
                <a:solidFill>
                  <a:schemeClr val="tx2">
                    <a:lumMod val="50000"/>
                  </a:schemeClr>
                </a:solidFill>
                <a:latin typeface="Tahoma" pitchFamily="34" charset="0"/>
                <a:ea typeface="Tahoma" pitchFamily="34" charset="0"/>
                <a:cs typeface="Tahoma" pitchFamily="34" charset="0"/>
              </a:rPr>
              <a:t> ΟΣΣ 2020-21</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2" name="Rectangle 2">
            <a:extLst>
              <a:ext uri="{FF2B5EF4-FFF2-40B4-BE49-F238E27FC236}">
                <a16:creationId xmlns:a16="http://schemas.microsoft.com/office/drawing/2014/main" id="{0321DC18-536E-4BE2-8FED-84E501E5F2E2}"/>
              </a:ext>
            </a:extLst>
          </p:cNvPr>
          <p:cNvSpPr>
            <a:spLocks noGrp="1" noChangeArrowheads="1"/>
          </p:cNvSpPr>
          <p:nvPr>
            <p:ph type="title"/>
          </p:nvPr>
        </p:nvSpPr>
        <p:spPr>
          <a:xfrm>
            <a:off x="3677292" y="281258"/>
            <a:ext cx="7246869" cy="1143000"/>
          </a:xfrm>
        </p:spPr>
        <p:txBody>
          <a:bodyPr/>
          <a:lstStyle/>
          <a:p>
            <a:r>
              <a:rPr lang="el-GR" altLang="en-US" sz="2400" b="1" dirty="0">
                <a:solidFill>
                  <a:srgbClr val="000066"/>
                </a:solidFill>
              </a:rPr>
              <a:t>Επιστημονικός </a:t>
            </a:r>
            <a:r>
              <a:rPr lang="el-GR" altLang="en-US" sz="2400" b="1" dirty="0" err="1">
                <a:solidFill>
                  <a:srgbClr val="000066"/>
                </a:solidFill>
              </a:rPr>
              <a:t>γραμματισμός</a:t>
            </a:r>
            <a:r>
              <a:rPr lang="el-GR" altLang="en-US" sz="2400" b="1" dirty="0">
                <a:solidFill>
                  <a:srgbClr val="000066"/>
                </a:solidFill>
              </a:rPr>
              <a:t>: … εδράζεται σε επιλογές επιστημολογικής φύσης</a:t>
            </a:r>
            <a:endParaRPr lang="en-GB" altLang="en-US" sz="2400" b="1" dirty="0">
              <a:solidFill>
                <a:srgbClr val="000066"/>
              </a:solidFill>
            </a:endParaRPr>
          </a:p>
        </p:txBody>
      </p:sp>
      <p:sp>
        <p:nvSpPr>
          <p:cNvPr id="363523" name="Rectangle 3">
            <a:extLst>
              <a:ext uri="{FF2B5EF4-FFF2-40B4-BE49-F238E27FC236}">
                <a16:creationId xmlns:a16="http://schemas.microsoft.com/office/drawing/2014/main" id="{69921855-7FD3-4E03-94EB-AEAA05C98F11}"/>
              </a:ext>
            </a:extLst>
          </p:cNvPr>
          <p:cNvSpPr>
            <a:spLocks noGrp="1" noChangeArrowheads="1"/>
          </p:cNvSpPr>
          <p:nvPr>
            <p:ph type="body" idx="1"/>
          </p:nvPr>
        </p:nvSpPr>
        <p:spPr>
          <a:xfrm>
            <a:off x="1831181" y="1687749"/>
            <a:ext cx="8529638" cy="4114800"/>
          </a:xfrm>
          <a:ln w="50800">
            <a:solidFill>
              <a:schemeClr val="tx1"/>
            </a:solidFill>
          </a:ln>
        </p:spPr>
        <p:txBody>
          <a:bodyPr>
            <a:normAutofit lnSpcReduction="10000"/>
          </a:bodyPr>
          <a:lstStyle/>
          <a:p>
            <a:pPr>
              <a:lnSpc>
                <a:spcPct val="90000"/>
              </a:lnSpc>
              <a:buFontTx/>
              <a:buNone/>
            </a:pPr>
            <a:r>
              <a:rPr lang="el-GR" altLang="en-US" sz="2400" dirty="0"/>
              <a:t>Η γνώση πηγάζει από την εμπειρία. Είναι ένα είδος αντιγραφής της πραγματικότητας.</a:t>
            </a:r>
          </a:p>
          <a:p>
            <a:pPr>
              <a:lnSpc>
                <a:spcPct val="90000"/>
              </a:lnSpc>
              <a:buFontTx/>
              <a:buNone/>
            </a:pPr>
            <a:endParaRPr lang="el-GR" altLang="en-US" sz="2400" dirty="0"/>
          </a:p>
          <a:p>
            <a:pPr>
              <a:buFontTx/>
              <a:buNone/>
            </a:pPr>
            <a:r>
              <a:rPr lang="el-GR" altLang="en-US" sz="2400" dirty="0"/>
              <a:t>Η γνώση </a:t>
            </a:r>
            <a:r>
              <a:rPr lang="el-GR" altLang="en-US" sz="2400" dirty="0" err="1"/>
              <a:t>εποικοδομείται</a:t>
            </a:r>
            <a:r>
              <a:rPr lang="el-GR" altLang="en-US" sz="2400" dirty="0"/>
              <a:t> ενεργά από τα υποκείμενα, δε μεταβιβάζεται αλλά ούτε γίνεται αποδεκτή παθητικά  (</a:t>
            </a:r>
            <a:r>
              <a:rPr lang="en-US" altLang="en-US" sz="2400" dirty="0"/>
              <a:t>Driver</a:t>
            </a:r>
            <a:r>
              <a:rPr lang="el-GR" altLang="en-US" sz="2400" dirty="0"/>
              <a:t> 1989, </a:t>
            </a:r>
            <a:r>
              <a:rPr lang="en-US" altLang="en-US" sz="2400" dirty="0"/>
              <a:t>Wheatley</a:t>
            </a:r>
            <a:r>
              <a:rPr lang="el-GR" altLang="en-US" sz="2400" dirty="0"/>
              <a:t> 1991).</a:t>
            </a:r>
          </a:p>
          <a:p>
            <a:pPr>
              <a:buFontTx/>
              <a:buNone/>
            </a:pPr>
            <a:endParaRPr lang="el-GR" altLang="en-US" sz="2400" dirty="0"/>
          </a:p>
          <a:p>
            <a:pPr>
              <a:buFontTx/>
              <a:buNone/>
            </a:pPr>
            <a:r>
              <a:rPr lang="el-GR" altLang="en-US" sz="2400" dirty="0"/>
              <a:t>“Οι λέξεις δεν είναι χάρτες της πραγματικότητας. Αντίθετα, οι λέξεις αποκτούν τη σημασία τους μέσα από τη χρήση τους στην κοινωνική συνδιαλλαγή, μέσα στα «γλωσσικά παιχνίδια» του πολιτισμού.” (</a:t>
            </a:r>
            <a:r>
              <a:rPr lang="el-GR" altLang="en-US" sz="2400" dirty="0" err="1"/>
              <a:t>Wittgenstein</a:t>
            </a:r>
            <a:r>
              <a:rPr lang="el-GR" altLang="en-US" sz="2400" dirty="0"/>
              <a:t>, 1962).</a:t>
            </a:r>
            <a:r>
              <a:rPr lang="el-GR" altLang="en-US" dirty="0"/>
              <a:t>		</a:t>
            </a:r>
          </a:p>
        </p:txBody>
      </p:sp>
      <p:sp>
        <p:nvSpPr>
          <p:cNvPr id="4" name="Footer Placeholder 4">
            <a:extLst>
              <a:ext uri="{FF2B5EF4-FFF2-40B4-BE49-F238E27FC236}">
                <a16:creationId xmlns:a16="http://schemas.microsoft.com/office/drawing/2014/main" id="{2B5A6F11-A4C9-4FDE-948C-1BD5785489C0}"/>
              </a:ext>
            </a:extLst>
          </p:cNvPr>
          <p:cNvSpPr>
            <a:spLocks noGrp="1"/>
          </p:cNvSpPr>
          <p:nvPr>
            <p:ph type="ftr" sz="quarter" idx="11"/>
          </p:nvPr>
        </p:nvSpPr>
        <p:spPr>
          <a:xfrm>
            <a:off x="4038600" y="6356350"/>
            <a:ext cx="4114800" cy="365125"/>
          </a:xfrm>
        </p:spPr>
        <p:txBody>
          <a:bodyPr/>
          <a:lstStyle/>
          <a:p>
            <a:r>
              <a:rPr lang="el-GR" dirty="0">
                <a:solidFill>
                  <a:schemeClr val="tx2">
                    <a:lumMod val="50000"/>
                  </a:schemeClr>
                </a:solidFill>
                <a:latin typeface="Tahoma" pitchFamily="34" charset="0"/>
                <a:ea typeface="Tahoma" pitchFamily="34" charset="0"/>
                <a:cs typeface="Tahoma" pitchFamily="34" charset="0"/>
              </a:rPr>
              <a:t>Παναγιώτης </a:t>
            </a:r>
            <a:r>
              <a:rPr lang="el-GR" dirty="0" err="1">
                <a:solidFill>
                  <a:schemeClr val="tx2">
                    <a:lumMod val="50000"/>
                  </a:schemeClr>
                </a:solidFill>
                <a:latin typeface="Tahoma" pitchFamily="34" charset="0"/>
                <a:ea typeface="Tahoma" pitchFamily="34" charset="0"/>
                <a:cs typeface="Tahoma" pitchFamily="34" charset="0"/>
              </a:rPr>
              <a:t>Πήλιουρας</a:t>
            </a:r>
            <a:r>
              <a:rPr lang="el-GR" dirty="0">
                <a:solidFill>
                  <a:schemeClr val="tx2">
                    <a:lumMod val="50000"/>
                  </a:schemeClr>
                </a:solidFill>
                <a:latin typeface="Tahoma" pitchFamily="34" charset="0"/>
                <a:ea typeface="Tahoma" pitchFamily="34" charset="0"/>
                <a:cs typeface="Tahoma" pitchFamily="34" charset="0"/>
              </a:rPr>
              <a:t> @ Θ.Ε. ΕΚΠ63 1</a:t>
            </a:r>
            <a:r>
              <a:rPr lang="el-GR" baseline="30000" dirty="0">
                <a:solidFill>
                  <a:schemeClr val="tx2">
                    <a:lumMod val="50000"/>
                  </a:schemeClr>
                </a:solidFill>
                <a:latin typeface="Tahoma" pitchFamily="34" charset="0"/>
                <a:ea typeface="Tahoma" pitchFamily="34" charset="0"/>
                <a:cs typeface="Tahoma" pitchFamily="34" charset="0"/>
              </a:rPr>
              <a:t>Η</a:t>
            </a:r>
            <a:r>
              <a:rPr lang="el-GR" dirty="0">
                <a:solidFill>
                  <a:schemeClr val="tx2">
                    <a:lumMod val="50000"/>
                  </a:schemeClr>
                </a:solidFill>
                <a:latin typeface="Tahoma" pitchFamily="34" charset="0"/>
                <a:ea typeface="Tahoma" pitchFamily="34" charset="0"/>
                <a:cs typeface="Tahoma" pitchFamily="34" charset="0"/>
              </a:rPr>
              <a:t> ΟΣΣ 2020-21</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9666" name="Rectangle 2">
            <a:extLst>
              <a:ext uri="{FF2B5EF4-FFF2-40B4-BE49-F238E27FC236}">
                <a16:creationId xmlns:a16="http://schemas.microsoft.com/office/drawing/2014/main" id="{16CA5D41-6FE3-4F33-94DF-A57CB921201F}"/>
              </a:ext>
            </a:extLst>
          </p:cNvPr>
          <p:cNvSpPr>
            <a:spLocks noGrp="1" noChangeArrowheads="1"/>
          </p:cNvSpPr>
          <p:nvPr>
            <p:ph type="title"/>
          </p:nvPr>
        </p:nvSpPr>
        <p:spPr>
          <a:xfrm>
            <a:off x="4114800" y="260350"/>
            <a:ext cx="6770451" cy="1143000"/>
          </a:xfrm>
        </p:spPr>
        <p:txBody>
          <a:bodyPr>
            <a:normAutofit/>
          </a:bodyPr>
          <a:lstStyle/>
          <a:p>
            <a:r>
              <a:rPr lang="el-GR" altLang="en-US" sz="2400" b="1" dirty="0">
                <a:solidFill>
                  <a:srgbClr val="000066"/>
                </a:solidFill>
              </a:rPr>
              <a:t>Επιστημονικός </a:t>
            </a:r>
            <a:r>
              <a:rPr lang="el-GR" altLang="en-US" sz="2400" b="1" dirty="0" err="1">
                <a:solidFill>
                  <a:srgbClr val="000066"/>
                </a:solidFill>
              </a:rPr>
              <a:t>γραμματισμός</a:t>
            </a:r>
            <a:r>
              <a:rPr lang="el-GR" altLang="en-US" sz="2400" b="1" dirty="0">
                <a:solidFill>
                  <a:srgbClr val="000066"/>
                </a:solidFill>
              </a:rPr>
              <a:t>: … εδράζεται σε θεωρήσεις</a:t>
            </a:r>
            <a:r>
              <a:rPr lang="en-GB" altLang="en-US" sz="2400" b="1" dirty="0">
                <a:solidFill>
                  <a:srgbClr val="000066"/>
                </a:solidFill>
                <a:cs typeface="Times New Roman" panose="02020603050405020304" pitchFamily="18" charset="0"/>
              </a:rPr>
              <a:t> </a:t>
            </a:r>
            <a:r>
              <a:rPr lang="el-GR" altLang="en-US" sz="2400" b="1" dirty="0">
                <a:solidFill>
                  <a:srgbClr val="000066"/>
                </a:solidFill>
                <a:cs typeface="Times New Roman" panose="02020603050405020304" pitchFamily="18" charset="0"/>
              </a:rPr>
              <a:t>που υιοθετούνται </a:t>
            </a:r>
            <a:r>
              <a:rPr lang="en-GB" altLang="en-US" sz="2400" b="1" dirty="0" err="1">
                <a:solidFill>
                  <a:srgbClr val="000066"/>
                </a:solidFill>
                <a:cs typeface="Times New Roman" panose="02020603050405020304" pitchFamily="18" charset="0"/>
              </a:rPr>
              <a:t>γι</a:t>
            </a:r>
            <a:r>
              <a:rPr lang="en-GB" altLang="en-US" sz="2400" b="1" dirty="0">
                <a:solidFill>
                  <a:srgbClr val="000066"/>
                </a:solidFill>
                <a:cs typeface="Times New Roman" panose="02020603050405020304" pitchFamily="18" charset="0"/>
              </a:rPr>
              <a:t>α τη γνωστική και μαθησιακή διαδικασία</a:t>
            </a:r>
          </a:p>
        </p:txBody>
      </p:sp>
      <p:sp>
        <p:nvSpPr>
          <p:cNvPr id="369667" name="Rectangle 3">
            <a:extLst>
              <a:ext uri="{FF2B5EF4-FFF2-40B4-BE49-F238E27FC236}">
                <a16:creationId xmlns:a16="http://schemas.microsoft.com/office/drawing/2014/main" id="{CC0A2D9E-73B9-413D-A560-F2D07BE3C9C8}"/>
              </a:ext>
            </a:extLst>
          </p:cNvPr>
          <p:cNvSpPr>
            <a:spLocks noGrp="1" noChangeArrowheads="1"/>
          </p:cNvSpPr>
          <p:nvPr>
            <p:ph type="body" idx="1"/>
          </p:nvPr>
        </p:nvSpPr>
        <p:spPr>
          <a:xfrm>
            <a:off x="1536970" y="1710445"/>
            <a:ext cx="9348281" cy="4437434"/>
          </a:xfrm>
          <a:ln w="50800">
            <a:solidFill>
              <a:schemeClr val="tx1"/>
            </a:solidFill>
          </a:ln>
        </p:spPr>
        <p:txBody>
          <a:bodyPr>
            <a:normAutofit fontScale="92500" lnSpcReduction="20000"/>
          </a:bodyPr>
          <a:lstStyle/>
          <a:p>
            <a:pPr algn="just">
              <a:lnSpc>
                <a:spcPct val="90000"/>
              </a:lnSpc>
              <a:buFont typeface="Wingdings" panose="05000000000000000000" pitchFamily="2" charset="2"/>
              <a:buChar char="q"/>
            </a:pPr>
            <a:endParaRPr lang="el-GR" altLang="en-US" sz="1400" b="1" dirty="0">
              <a:cs typeface="Times New Roman" panose="02020603050405020304" pitchFamily="18" charset="0"/>
            </a:endParaRPr>
          </a:p>
          <a:p>
            <a:pPr algn="just">
              <a:lnSpc>
                <a:spcPct val="90000"/>
              </a:lnSpc>
              <a:buFont typeface="Wingdings" panose="05000000000000000000" pitchFamily="2" charset="2"/>
              <a:buChar char="q"/>
            </a:pPr>
            <a:r>
              <a:rPr lang="en-GB" altLang="en-US" sz="1400" b="1" dirty="0" err="1">
                <a:cs typeface="Times New Roman" panose="02020603050405020304" pitchFamily="18" charset="0"/>
              </a:rPr>
              <a:t>κοινωνική</a:t>
            </a:r>
            <a:r>
              <a:rPr lang="en-GB" altLang="en-US" sz="1400" b="1" dirty="0">
                <a:cs typeface="Times New Roman" panose="02020603050405020304" pitchFamily="18" charset="0"/>
              </a:rPr>
              <a:t> </a:t>
            </a:r>
            <a:r>
              <a:rPr lang="en-GB" altLang="en-US" sz="1400" b="1" dirty="0" err="1">
                <a:cs typeface="Times New Roman" panose="02020603050405020304" pitchFamily="18" charset="0"/>
              </a:rPr>
              <a:t>γνωστική</a:t>
            </a:r>
            <a:r>
              <a:rPr lang="en-GB" altLang="en-US" sz="1400" b="1" dirty="0">
                <a:cs typeface="Times New Roman" panose="02020603050405020304" pitchFamily="18" charset="0"/>
              </a:rPr>
              <a:t> </a:t>
            </a:r>
            <a:r>
              <a:rPr lang="en-GB" altLang="en-US" sz="1400" b="1" dirty="0" err="1">
                <a:cs typeface="Times New Roman" panose="02020603050405020304" pitchFamily="18" charset="0"/>
              </a:rPr>
              <a:t>δι</a:t>
            </a:r>
            <a:r>
              <a:rPr lang="en-GB" altLang="en-US" sz="1400" b="1" dirty="0">
                <a:cs typeface="Times New Roman" panose="02020603050405020304" pitchFamily="18" charset="0"/>
              </a:rPr>
              <a:t>αδικασία</a:t>
            </a:r>
            <a:r>
              <a:rPr lang="en-GB" altLang="en-US" sz="1400" dirty="0">
                <a:cs typeface="Times New Roman" panose="02020603050405020304" pitchFamily="18" charset="0"/>
              </a:rPr>
              <a:t> (</a:t>
            </a:r>
            <a:r>
              <a:rPr lang="en-US" altLang="en-US" sz="1400" dirty="0">
                <a:cs typeface="Times New Roman" panose="02020603050405020304" pitchFamily="18" charset="0"/>
              </a:rPr>
              <a:t>social cognition</a:t>
            </a:r>
            <a:r>
              <a:rPr lang="en-GB" altLang="en-US" sz="1400" dirty="0">
                <a:cs typeface="Times New Roman" panose="02020603050405020304" pitchFamily="18" charset="0"/>
              </a:rPr>
              <a:t>),</a:t>
            </a:r>
            <a:endParaRPr lang="el-GR" altLang="en-US" sz="1400" dirty="0">
              <a:cs typeface="Times New Roman" panose="02020603050405020304" pitchFamily="18" charset="0"/>
            </a:endParaRPr>
          </a:p>
          <a:p>
            <a:pPr algn="just">
              <a:lnSpc>
                <a:spcPct val="90000"/>
              </a:lnSpc>
              <a:buFont typeface="Wingdings" panose="05000000000000000000" pitchFamily="2" charset="2"/>
              <a:buChar char="q"/>
            </a:pPr>
            <a:endParaRPr lang="el-GR" altLang="en-US" sz="1400" dirty="0"/>
          </a:p>
          <a:p>
            <a:pPr algn="just">
              <a:lnSpc>
                <a:spcPct val="90000"/>
              </a:lnSpc>
              <a:buFont typeface="Wingdings" panose="05000000000000000000" pitchFamily="2" charset="2"/>
              <a:buChar char="q"/>
            </a:pPr>
            <a:r>
              <a:rPr lang="en-GB" altLang="en-US" sz="1400" b="1" dirty="0" err="1">
                <a:cs typeface="Times New Roman" panose="02020603050405020304" pitchFamily="18" charset="0"/>
              </a:rPr>
              <a:t>κοινωνική</a:t>
            </a:r>
            <a:r>
              <a:rPr lang="en-GB" altLang="en-US" sz="1400" b="1" dirty="0">
                <a:cs typeface="Times New Roman" panose="02020603050405020304" pitchFamily="18" charset="0"/>
              </a:rPr>
              <a:t> επ</a:t>
            </a:r>
            <a:r>
              <a:rPr lang="en-GB" altLang="en-US" sz="1400" b="1" dirty="0" err="1">
                <a:cs typeface="Times New Roman" panose="02020603050405020304" pitchFamily="18" charset="0"/>
              </a:rPr>
              <a:t>οικοδομητική</a:t>
            </a:r>
            <a:r>
              <a:rPr lang="en-GB" altLang="en-US" sz="1400" b="1" dirty="0">
                <a:cs typeface="Times New Roman" panose="02020603050405020304" pitchFamily="18" charset="0"/>
              </a:rPr>
              <a:t> άπ</a:t>
            </a:r>
            <a:r>
              <a:rPr lang="en-GB" altLang="en-US" sz="1400" b="1" dirty="0" err="1">
                <a:cs typeface="Times New Roman" panose="02020603050405020304" pitchFamily="18" charset="0"/>
              </a:rPr>
              <a:t>οψη</a:t>
            </a:r>
            <a:r>
              <a:rPr lang="en-GB" altLang="en-US" sz="1400" b="1" dirty="0">
                <a:cs typeface="Times New Roman" panose="02020603050405020304" pitchFamily="18" charset="0"/>
              </a:rPr>
              <a:t> </a:t>
            </a:r>
            <a:r>
              <a:rPr lang="en-GB" altLang="en-US" sz="1400" b="1" dirty="0" err="1">
                <a:cs typeface="Times New Roman" panose="02020603050405020304" pitchFamily="18" charset="0"/>
              </a:rPr>
              <a:t>γι</a:t>
            </a:r>
            <a:r>
              <a:rPr lang="en-GB" altLang="en-US" sz="1400" b="1" dirty="0">
                <a:cs typeface="Times New Roman" panose="02020603050405020304" pitchFamily="18" charset="0"/>
              </a:rPr>
              <a:t>α τη μάθηση</a:t>
            </a:r>
            <a:r>
              <a:rPr lang="en-GB" altLang="en-US" sz="1400" dirty="0">
                <a:cs typeface="Times New Roman" panose="02020603050405020304" pitchFamily="18" charset="0"/>
              </a:rPr>
              <a:t> (</a:t>
            </a:r>
            <a:r>
              <a:rPr lang="en-US" altLang="en-US" sz="1400" dirty="0">
                <a:cs typeface="Times New Roman" panose="02020603050405020304" pitchFamily="18" charset="0"/>
              </a:rPr>
              <a:t>a</a:t>
            </a:r>
            <a:r>
              <a:rPr lang="en-GB" altLang="en-US" sz="1400" dirty="0">
                <a:cs typeface="Times New Roman" panose="02020603050405020304" pitchFamily="18" charset="0"/>
              </a:rPr>
              <a:t> “</a:t>
            </a:r>
            <a:r>
              <a:rPr lang="en-US" altLang="en-US" sz="1400" dirty="0">
                <a:cs typeface="Times New Roman" panose="02020603050405020304" pitchFamily="18" charset="0"/>
              </a:rPr>
              <a:t>social constructivist</a:t>
            </a:r>
            <a:r>
              <a:rPr lang="en-GB" altLang="en-US" sz="1400" dirty="0">
                <a:cs typeface="Times New Roman" panose="02020603050405020304" pitchFamily="18" charset="0"/>
              </a:rPr>
              <a:t>” </a:t>
            </a:r>
            <a:r>
              <a:rPr lang="en-US" altLang="en-US" sz="1400" dirty="0">
                <a:cs typeface="Times New Roman" panose="02020603050405020304" pitchFamily="18" charset="0"/>
              </a:rPr>
              <a:t>view of learning</a:t>
            </a:r>
            <a:r>
              <a:rPr lang="en-GB" altLang="en-US" sz="1400" dirty="0">
                <a:cs typeface="Times New Roman" panose="02020603050405020304" pitchFamily="18" charset="0"/>
              </a:rPr>
              <a:t>),</a:t>
            </a:r>
            <a:endParaRPr lang="el-GR" altLang="en-US" sz="1400" dirty="0">
              <a:cs typeface="Times New Roman" panose="02020603050405020304" pitchFamily="18" charset="0"/>
            </a:endParaRPr>
          </a:p>
          <a:p>
            <a:pPr algn="just">
              <a:lnSpc>
                <a:spcPct val="90000"/>
              </a:lnSpc>
              <a:buFont typeface="Wingdings" panose="05000000000000000000" pitchFamily="2" charset="2"/>
              <a:buChar char="q"/>
            </a:pPr>
            <a:endParaRPr lang="el-GR" altLang="en-US" sz="1400" dirty="0"/>
          </a:p>
          <a:p>
            <a:pPr algn="just">
              <a:lnSpc>
                <a:spcPct val="90000"/>
              </a:lnSpc>
              <a:buFont typeface="Wingdings" panose="05000000000000000000" pitchFamily="2" charset="2"/>
              <a:buChar char="q"/>
            </a:pPr>
            <a:r>
              <a:rPr lang="en-GB" altLang="en-US" sz="1400" dirty="0">
                <a:cs typeface="Times New Roman" panose="02020603050405020304" pitchFamily="18" charset="0"/>
              </a:rPr>
              <a:t> </a:t>
            </a:r>
            <a:r>
              <a:rPr lang="en-GB" altLang="en-US" sz="1400" b="1" dirty="0" err="1">
                <a:cs typeface="Times New Roman" panose="02020603050405020304" pitchFamily="18" charset="0"/>
              </a:rPr>
              <a:t>εγκ</a:t>
            </a:r>
            <a:r>
              <a:rPr lang="en-GB" altLang="en-US" sz="1400" b="1" dirty="0">
                <a:cs typeface="Times New Roman" panose="02020603050405020304" pitchFamily="18" charset="0"/>
              </a:rPr>
              <a:t>ατεστημένη στο πλαίσιο μάθηση</a:t>
            </a:r>
            <a:r>
              <a:rPr lang="en-GB" altLang="en-US" sz="1400" dirty="0">
                <a:cs typeface="Times New Roman" panose="02020603050405020304" pitchFamily="18" charset="0"/>
              </a:rPr>
              <a:t> (</a:t>
            </a:r>
            <a:r>
              <a:rPr lang="en-US" altLang="en-US" sz="1400" dirty="0">
                <a:cs typeface="Times New Roman" panose="02020603050405020304" pitchFamily="18" charset="0"/>
              </a:rPr>
              <a:t>situated cognition</a:t>
            </a:r>
            <a:r>
              <a:rPr lang="en-GB" altLang="en-US" sz="1400" dirty="0">
                <a:cs typeface="Times New Roman" panose="02020603050405020304" pitchFamily="18" charset="0"/>
              </a:rPr>
              <a:t>), </a:t>
            </a:r>
            <a:endParaRPr lang="el-GR" altLang="en-US" sz="1400" dirty="0">
              <a:cs typeface="Times New Roman" panose="02020603050405020304" pitchFamily="18" charset="0"/>
            </a:endParaRPr>
          </a:p>
          <a:p>
            <a:pPr algn="just">
              <a:lnSpc>
                <a:spcPct val="90000"/>
              </a:lnSpc>
              <a:buFont typeface="Wingdings" panose="05000000000000000000" pitchFamily="2" charset="2"/>
              <a:buChar char="q"/>
            </a:pPr>
            <a:endParaRPr lang="el-GR" altLang="en-US" sz="1400" dirty="0"/>
          </a:p>
          <a:p>
            <a:pPr algn="just">
              <a:lnSpc>
                <a:spcPct val="90000"/>
              </a:lnSpc>
              <a:buFont typeface="Wingdings" panose="05000000000000000000" pitchFamily="2" charset="2"/>
              <a:buChar char="q"/>
            </a:pPr>
            <a:r>
              <a:rPr lang="en-GB" altLang="en-US" sz="1400" b="1" dirty="0">
                <a:cs typeface="Times New Roman" panose="02020603050405020304" pitchFamily="18" charset="0"/>
              </a:rPr>
              <a:t>μα</a:t>
            </a:r>
            <a:r>
              <a:rPr lang="en-GB" altLang="en-US" sz="1400" b="1" dirty="0" err="1">
                <a:cs typeface="Times New Roman" panose="02020603050405020304" pitchFamily="18" charset="0"/>
              </a:rPr>
              <a:t>θητεί</a:t>
            </a:r>
            <a:r>
              <a:rPr lang="en-GB" altLang="en-US" sz="1400" b="1" dirty="0">
                <a:cs typeface="Times New Roman" panose="02020603050405020304" pitchFamily="18" charset="0"/>
              </a:rPr>
              <a:t>α</a:t>
            </a:r>
            <a:r>
              <a:rPr lang="en-GB" altLang="en-US" sz="1400" dirty="0">
                <a:cs typeface="Times New Roman" panose="02020603050405020304" pitchFamily="18" charset="0"/>
              </a:rPr>
              <a:t> (</a:t>
            </a:r>
            <a:r>
              <a:rPr lang="en-US" altLang="en-US" sz="1400" dirty="0">
                <a:cs typeface="Times New Roman" panose="02020603050405020304" pitchFamily="18" charset="0"/>
              </a:rPr>
              <a:t>apprenticeship</a:t>
            </a:r>
            <a:r>
              <a:rPr lang="en-GB" altLang="en-US" sz="1400" dirty="0">
                <a:cs typeface="Times New Roman" panose="02020603050405020304" pitchFamily="18" charset="0"/>
              </a:rPr>
              <a:t>), </a:t>
            </a:r>
            <a:endParaRPr lang="el-GR" altLang="en-US" sz="1400" dirty="0">
              <a:cs typeface="Times New Roman" panose="02020603050405020304" pitchFamily="18" charset="0"/>
            </a:endParaRPr>
          </a:p>
          <a:p>
            <a:pPr algn="just">
              <a:lnSpc>
                <a:spcPct val="90000"/>
              </a:lnSpc>
              <a:buFont typeface="Wingdings" panose="05000000000000000000" pitchFamily="2" charset="2"/>
              <a:buChar char="q"/>
            </a:pPr>
            <a:endParaRPr lang="el-GR" altLang="en-US" sz="1400" dirty="0"/>
          </a:p>
          <a:p>
            <a:pPr algn="just">
              <a:lnSpc>
                <a:spcPct val="90000"/>
              </a:lnSpc>
              <a:buFont typeface="Wingdings" panose="05000000000000000000" pitchFamily="2" charset="2"/>
              <a:buChar char="q"/>
            </a:pPr>
            <a:r>
              <a:rPr lang="en-GB" altLang="en-US" sz="1400" b="1" dirty="0">
                <a:cs typeface="Times New Roman" panose="02020603050405020304" pitchFamily="18" charset="0"/>
              </a:rPr>
              <a:t>κα</a:t>
            </a:r>
            <a:r>
              <a:rPr lang="en-GB" altLang="en-US" sz="1400" b="1" dirty="0" err="1">
                <a:cs typeface="Times New Roman" panose="02020603050405020304" pitchFamily="18" charset="0"/>
              </a:rPr>
              <a:t>θοδηγούμενη</a:t>
            </a:r>
            <a:r>
              <a:rPr lang="en-GB" altLang="en-US" sz="1400" b="1" dirty="0">
                <a:cs typeface="Times New Roman" panose="02020603050405020304" pitchFamily="18" charset="0"/>
              </a:rPr>
              <a:t> </a:t>
            </a:r>
            <a:r>
              <a:rPr lang="en-GB" altLang="en-US" sz="1400" b="1" dirty="0" err="1">
                <a:cs typeface="Times New Roman" panose="02020603050405020304" pitchFamily="18" charset="0"/>
              </a:rPr>
              <a:t>συμμετοχή</a:t>
            </a:r>
            <a:r>
              <a:rPr lang="en-GB" altLang="en-US" sz="1400" dirty="0">
                <a:cs typeface="Times New Roman" panose="02020603050405020304" pitchFamily="18" charset="0"/>
              </a:rPr>
              <a:t> (</a:t>
            </a:r>
            <a:r>
              <a:rPr lang="en-US" altLang="en-US" sz="1400" dirty="0">
                <a:cs typeface="Times New Roman" panose="02020603050405020304" pitchFamily="18" charset="0"/>
              </a:rPr>
              <a:t>guided participation</a:t>
            </a:r>
            <a:r>
              <a:rPr lang="en-GB" altLang="en-US" sz="1400" dirty="0">
                <a:cs typeface="Times New Roman" panose="02020603050405020304" pitchFamily="18" charset="0"/>
              </a:rPr>
              <a:t>)</a:t>
            </a:r>
            <a:r>
              <a:rPr lang="el-GR" altLang="en-US" sz="1400" dirty="0"/>
              <a:t> </a:t>
            </a:r>
            <a:r>
              <a:rPr lang="en-GB" altLang="en-US" sz="1400" dirty="0">
                <a:cs typeface="Times New Roman" panose="02020603050405020304" pitchFamily="18" charset="0"/>
              </a:rPr>
              <a:t>και </a:t>
            </a:r>
            <a:r>
              <a:rPr lang="en-GB" altLang="en-US" sz="1400" b="1" dirty="0">
                <a:cs typeface="Times New Roman" panose="02020603050405020304" pitchFamily="18" charset="0"/>
              </a:rPr>
              <a:t>κα</a:t>
            </a:r>
            <a:r>
              <a:rPr lang="en-GB" altLang="en-US" sz="1400" b="1" dirty="0" err="1">
                <a:cs typeface="Times New Roman" panose="02020603050405020304" pitchFamily="18" charset="0"/>
              </a:rPr>
              <a:t>θοδηγούμενη</a:t>
            </a:r>
            <a:r>
              <a:rPr lang="en-GB" altLang="en-US" sz="1400" b="1" dirty="0">
                <a:cs typeface="Times New Roman" panose="02020603050405020304" pitchFamily="18" charset="0"/>
              </a:rPr>
              <a:t> </a:t>
            </a:r>
            <a:r>
              <a:rPr lang="en-GB" altLang="en-US" sz="1400" b="1" dirty="0" err="1">
                <a:cs typeface="Times New Roman" panose="02020603050405020304" pitchFamily="18" charset="0"/>
              </a:rPr>
              <a:t>οικειο</a:t>
            </a:r>
            <a:r>
              <a:rPr lang="en-GB" altLang="en-US" sz="1400" b="1" dirty="0">
                <a:cs typeface="Times New Roman" panose="02020603050405020304" pitchFamily="18" charset="0"/>
              </a:rPr>
              <a:t>ποίηση</a:t>
            </a:r>
            <a:r>
              <a:rPr lang="en-GB" altLang="en-US" sz="1400" dirty="0">
                <a:cs typeface="Times New Roman" panose="02020603050405020304" pitchFamily="18" charset="0"/>
              </a:rPr>
              <a:t> (</a:t>
            </a:r>
            <a:r>
              <a:rPr lang="en-US" altLang="en-US" sz="1400" dirty="0">
                <a:cs typeface="Times New Roman" panose="02020603050405020304" pitchFamily="18" charset="0"/>
              </a:rPr>
              <a:t>participatory appropriation</a:t>
            </a:r>
            <a:r>
              <a:rPr lang="en-GB" altLang="en-US" sz="1400" dirty="0">
                <a:cs typeface="Times New Roman" panose="02020603050405020304" pitchFamily="18" charset="0"/>
              </a:rPr>
              <a:t>), </a:t>
            </a:r>
            <a:endParaRPr lang="el-GR" altLang="en-US" sz="1400" dirty="0">
              <a:cs typeface="Times New Roman" panose="02020603050405020304" pitchFamily="18" charset="0"/>
            </a:endParaRPr>
          </a:p>
          <a:p>
            <a:pPr algn="just">
              <a:lnSpc>
                <a:spcPct val="90000"/>
              </a:lnSpc>
              <a:buFont typeface="Wingdings" panose="05000000000000000000" pitchFamily="2" charset="2"/>
              <a:buChar char="q"/>
            </a:pPr>
            <a:endParaRPr lang="el-GR" altLang="en-US" sz="1400" dirty="0"/>
          </a:p>
          <a:p>
            <a:pPr algn="just">
              <a:lnSpc>
                <a:spcPct val="90000"/>
              </a:lnSpc>
              <a:buFont typeface="Wingdings" panose="05000000000000000000" pitchFamily="2" charset="2"/>
              <a:buChar char="q"/>
            </a:pPr>
            <a:r>
              <a:rPr lang="en-GB" altLang="en-US" sz="1400" b="1" dirty="0">
                <a:cs typeface="Times New Roman" panose="02020603050405020304" pitchFamily="18" charset="0"/>
              </a:rPr>
              <a:t>κατα</a:t>
            </a:r>
            <a:r>
              <a:rPr lang="en-GB" altLang="en-US" sz="1400" b="1" dirty="0" err="1">
                <a:cs typeface="Times New Roman" panose="02020603050405020304" pitchFamily="18" charset="0"/>
              </a:rPr>
              <a:t>νεμημένη</a:t>
            </a:r>
            <a:r>
              <a:rPr lang="en-GB" altLang="en-US" sz="1400" b="1" dirty="0">
                <a:cs typeface="Times New Roman" panose="02020603050405020304" pitchFamily="18" charset="0"/>
              </a:rPr>
              <a:t> </a:t>
            </a:r>
            <a:r>
              <a:rPr lang="en-GB" altLang="en-US" sz="1400" b="1" dirty="0" err="1">
                <a:cs typeface="Times New Roman" panose="02020603050405020304" pitchFamily="18" charset="0"/>
              </a:rPr>
              <a:t>γνωστική</a:t>
            </a:r>
            <a:r>
              <a:rPr lang="en-GB" altLang="en-US" sz="1400" b="1" dirty="0">
                <a:cs typeface="Times New Roman" panose="02020603050405020304" pitchFamily="18" charset="0"/>
              </a:rPr>
              <a:t> </a:t>
            </a:r>
            <a:r>
              <a:rPr lang="en-GB" altLang="en-US" sz="1400" b="1" dirty="0" err="1">
                <a:cs typeface="Times New Roman" panose="02020603050405020304" pitchFamily="18" charset="0"/>
              </a:rPr>
              <a:t>δι</a:t>
            </a:r>
            <a:r>
              <a:rPr lang="en-GB" altLang="en-US" sz="1400" b="1" dirty="0">
                <a:cs typeface="Times New Roman" panose="02020603050405020304" pitchFamily="18" charset="0"/>
              </a:rPr>
              <a:t>αδικασία</a:t>
            </a:r>
            <a:r>
              <a:rPr lang="en-GB" altLang="en-US" sz="1400" dirty="0">
                <a:cs typeface="Times New Roman" panose="02020603050405020304" pitchFamily="18" charset="0"/>
              </a:rPr>
              <a:t> (</a:t>
            </a:r>
            <a:r>
              <a:rPr lang="en-US" altLang="en-US" sz="1400" dirty="0">
                <a:cs typeface="Times New Roman" panose="02020603050405020304" pitchFamily="18" charset="0"/>
              </a:rPr>
              <a:t>distributed cognition</a:t>
            </a:r>
            <a:r>
              <a:rPr lang="en-GB" altLang="en-US" sz="1400" dirty="0">
                <a:cs typeface="Times New Roman" panose="02020603050405020304" pitchFamily="18" charset="0"/>
              </a:rPr>
              <a:t>), </a:t>
            </a:r>
            <a:endParaRPr lang="el-GR" altLang="en-US" sz="1400" dirty="0">
              <a:cs typeface="Times New Roman" panose="02020603050405020304" pitchFamily="18" charset="0"/>
            </a:endParaRPr>
          </a:p>
          <a:p>
            <a:pPr algn="just">
              <a:lnSpc>
                <a:spcPct val="90000"/>
              </a:lnSpc>
              <a:buFont typeface="Wingdings" panose="05000000000000000000" pitchFamily="2" charset="2"/>
              <a:buChar char="q"/>
            </a:pPr>
            <a:endParaRPr lang="el-GR" altLang="en-US" sz="1400" dirty="0"/>
          </a:p>
          <a:p>
            <a:pPr algn="just">
              <a:lnSpc>
                <a:spcPct val="90000"/>
              </a:lnSpc>
              <a:buFont typeface="Wingdings" panose="05000000000000000000" pitchFamily="2" charset="2"/>
              <a:buChar char="q"/>
            </a:pPr>
            <a:r>
              <a:rPr lang="en-GB" altLang="en-US" sz="1400" b="1" dirty="0">
                <a:cs typeface="Times New Roman" panose="02020603050405020304" pitchFamily="18" charset="0"/>
              </a:rPr>
              <a:t>π</a:t>
            </a:r>
            <a:r>
              <a:rPr lang="en-GB" altLang="en-US" sz="1400" b="1" dirty="0" err="1">
                <a:cs typeface="Times New Roman" panose="02020603050405020304" pitchFamily="18" charset="0"/>
              </a:rPr>
              <a:t>ράξη</a:t>
            </a:r>
            <a:r>
              <a:rPr lang="en-GB" altLang="en-US" sz="1400" b="1" dirty="0">
                <a:cs typeface="Times New Roman" panose="02020603050405020304" pitchFamily="18" charset="0"/>
              </a:rPr>
              <a:t> </a:t>
            </a:r>
            <a:r>
              <a:rPr lang="en-GB" altLang="en-US" sz="1400" b="1" dirty="0" err="1">
                <a:cs typeface="Times New Roman" panose="02020603050405020304" pitchFamily="18" charset="0"/>
              </a:rPr>
              <a:t>δι</a:t>
            </a:r>
            <a:r>
              <a:rPr lang="en-GB" altLang="en-US" sz="1400" b="1" dirty="0">
                <a:cs typeface="Times New Roman" panose="02020603050405020304" pitchFamily="18" charset="0"/>
              </a:rPr>
              <a:t>αμεσολάβησης</a:t>
            </a:r>
            <a:r>
              <a:rPr lang="en-GB" altLang="en-US" sz="1400" dirty="0">
                <a:cs typeface="Times New Roman" panose="02020603050405020304" pitchFamily="18" charset="0"/>
              </a:rPr>
              <a:t> (</a:t>
            </a:r>
            <a:r>
              <a:rPr lang="en-US" altLang="en-US" sz="1400" dirty="0">
                <a:cs typeface="Times New Roman" panose="02020603050405020304" pitchFamily="18" charset="0"/>
              </a:rPr>
              <a:t>mediated action</a:t>
            </a:r>
            <a:r>
              <a:rPr lang="en-GB" altLang="en-US" sz="1400" dirty="0">
                <a:cs typeface="Times New Roman" panose="02020603050405020304" pitchFamily="18" charset="0"/>
              </a:rPr>
              <a:t>),</a:t>
            </a:r>
            <a:endParaRPr lang="el-GR" altLang="en-US" sz="1400" dirty="0">
              <a:cs typeface="Times New Roman" panose="02020603050405020304" pitchFamily="18" charset="0"/>
            </a:endParaRPr>
          </a:p>
          <a:p>
            <a:pPr algn="just">
              <a:lnSpc>
                <a:spcPct val="90000"/>
              </a:lnSpc>
              <a:buFont typeface="Wingdings" panose="05000000000000000000" pitchFamily="2" charset="2"/>
              <a:buChar char="q"/>
            </a:pPr>
            <a:endParaRPr lang="el-GR" altLang="en-US" sz="1400" dirty="0"/>
          </a:p>
          <a:p>
            <a:pPr algn="just">
              <a:lnSpc>
                <a:spcPct val="90000"/>
              </a:lnSpc>
              <a:buFont typeface="Wingdings" panose="05000000000000000000" pitchFamily="2" charset="2"/>
              <a:buChar char="q"/>
            </a:pPr>
            <a:r>
              <a:rPr lang="en-GB" altLang="en-US" sz="1400" b="1" dirty="0" err="1">
                <a:cs typeface="Times New Roman" panose="02020603050405020304" pitchFamily="18" charset="0"/>
              </a:rPr>
              <a:t>δι</a:t>
            </a:r>
            <a:r>
              <a:rPr lang="en-GB" altLang="en-US" sz="1400" b="1" dirty="0">
                <a:cs typeface="Times New Roman" panose="02020603050405020304" pitchFamily="18" charset="0"/>
              </a:rPr>
              <a:t>αλογικές δραστηριότητες</a:t>
            </a:r>
            <a:r>
              <a:rPr lang="en-GB" altLang="en-US" sz="1400" dirty="0">
                <a:cs typeface="Times New Roman" panose="02020603050405020304" pitchFamily="18" charset="0"/>
              </a:rPr>
              <a:t> (</a:t>
            </a:r>
            <a:r>
              <a:rPr lang="en-US" altLang="en-US" sz="1400" dirty="0">
                <a:cs typeface="Times New Roman" panose="02020603050405020304" pitchFamily="18" charset="0"/>
              </a:rPr>
              <a:t>discursive activities</a:t>
            </a:r>
            <a:r>
              <a:rPr lang="en-GB" altLang="en-US" sz="1400" dirty="0">
                <a:cs typeface="Times New Roman" panose="02020603050405020304" pitchFamily="18" charset="0"/>
              </a:rPr>
              <a:t>).</a:t>
            </a:r>
            <a:endParaRPr lang="el-GR" altLang="en-US" sz="1400" dirty="0">
              <a:cs typeface="Times New Roman" panose="02020603050405020304" pitchFamily="18" charset="0"/>
            </a:endParaRPr>
          </a:p>
          <a:p>
            <a:pPr algn="just">
              <a:lnSpc>
                <a:spcPct val="90000"/>
              </a:lnSpc>
              <a:buFont typeface="Wingdings" panose="05000000000000000000" pitchFamily="2" charset="2"/>
              <a:buNone/>
            </a:pPr>
            <a:r>
              <a:rPr lang="en-GB" altLang="en-US" sz="400" dirty="0"/>
              <a:t> </a:t>
            </a:r>
            <a:br>
              <a:rPr lang="en-GB" altLang="en-US" sz="400" dirty="0"/>
            </a:br>
            <a:endParaRPr lang="en-GB" altLang="en-US" sz="400" dirty="0"/>
          </a:p>
        </p:txBody>
      </p:sp>
      <p:sp>
        <p:nvSpPr>
          <p:cNvPr id="4" name="Footer Placeholder 4">
            <a:extLst>
              <a:ext uri="{FF2B5EF4-FFF2-40B4-BE49-F238E27FC236}">
                <a16:creationId xmlns:a16="http://schemas.microsoft.com/office/drawing/2014/main" id="{F6829EBE-757E-456C-99DD-3623C7819D7D}"/>
              </a:ext>
            </a:extLst>
          </p:cNvPr>
          <p:cNvSpPr>
            <a:spLocks noGrp="1"/>
          </p:cNvSpPr>
          <p:nvPr>
            <p:ph type="ftr" sz="quarter" idx="11"/>
          </p:nvPr>
        </p:nvSpPr>
        <p:spPr>
          <a:xfrm>
            <a:off x="4038600" y="6356350"/>
            <a:ext cx="4114800" cy="365125"/>
          </a:xfrm>
        </p:spPr>
        <p:txBody>
          <a:bodyPr/>
          <a:lstStyle/>
          <a:p>
            <a:r>
              <a:rPr lang="el-GR" dirty="0">
                <a:solidFill>
                  <a:schemeClr val="tx2">
                    <a:lumMod val="50000"/>
                  </a:schemeClr>
                </a:solidFill>
                <a:latin typeface="Tahoma" pitchFamily="34" charset="0"/>
                <a:ea typeface="Tahoma" pitchFamily="34" charset="0"/>
                <a:cs typeface="Tahoma" pitchFamily="34" charset="0"/>
              </a:rPr>
              <a:t>Παναγιώτης </a:t>
            </a:r>
            <a:r>
              <a:rPr lang="el-GR" dirty="0" err="1">
                <a:solidFill>
                  <a:schemeClr val="tx2">
                    <a:lumMod val="50000"/>
                  </a:schemeClr>
                </a:solidFill>
                <a:latin typeface="Tahoma" pitchFamily="34" charset="0"/>
                <a:ea typeface="Tahoma" pitchFamily="34" charset="0"/>
                <a:cs typeface="Tahoma" pitchFamily="34" charset="0"/>
              </a:rPr>
              <a:t>Πήλιουρας</a:t>
            </a:r>
            <a:r>
              <a:rPr lang="el-GR" dirty="0">
                <a:solidFill>
                  <a:schemeClr val="tx2">
                    <a:lumMod val="50000"/>
                  </a:schemeClr>
                </a:solidFill>
                <a:latin typeface="Tahoma" pitchFamily="34" charset="0"/>
                <a:ea typeface="Tahoma" pitchFamily="34" charset="0"/>
                <a:cs typeface="Tahoma" pitchFamily="34" charset="0"/>
              </a:rPr>
              <a:t> @ Θ.Ε. ΕΚΠ63 1</a:t>
            </a:r>
            <a:r>
              <a:rPr lang="el-GR" baseline="30000" dirty="0">
                <a:solidFill>
                  <a:schemeClr val="tx2">
                    <a:lumMod val="50000"/>
                  </a:schemeClr>
                </a:solidFill>
                <a:latin typeface="Tahoma" pitchFamily="34" charset="0"/>
                <a:ea typeface="Tahoma" pitchFamily="34" charset="0"/>
                <a:cs typeface="Tahoma" pitchFamily="34" charset="0"/>
              </a:rPr>
              <a:t>Η</a:t>
            </a:r>
            <a:r>
              <a:rPr lang="el-GR" dirty="0">
                <a:solidFill>
                  <a:schemeClr val="tx2">
                    <a:lumMod val="50000"/>
                  </a:schemeClr>
                </a:solidFill>
                <a:latin typeface="Tahoma" pitchFamily="34" charset="0"/>
                <a:ea typeface="Tahoma" pitchFamily="34" charset="0"/>
                <a:cs typeface="Tahoma" pitchFamily="34" charset="0"/>
              </a:rPr>
              <a:t> ΟΣΣ 2020-21</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1106" name="Rectangle 2">
            <a:extLst>
              <a:ext uri="{FF2B5EF4-FFF2-40B4-BE49-F238E27FC236}">
                <a16:creationId xmlns:a16="http://schemas.microsoft.com/office/drawing/2014/main" id="{43BE952B-96E3-43A9-A549-642107A1A236}"/>
              </a:ext>
            </a:extLst>
          </p:cNvPr>
          <p:cNvSpPr>
            <a:spLocks noGrp="1" noChangeArrowheads="1"/>
          </p:cNvSpPr>
          <p:nvPr>
            <p:ph type="body" idx="1"/>
          </p:nvPr>
        </p:nvSpPr>
        <p:spPr>
          <a:xfrm>
            <a:off x="1752600" y="1468881"/>
            <a:ext cx="8915400" cy="4525963"/>
          </a:xfrm>
          <a:ln w="50800">
            <a:solidFill>
              <a:schemeClr val="tx1"/>
            </a:solidFill>
          </a:ln>
        </p:spPr>
        <p:txBody>
          <a:bodyPr>
            <a:normAutofit fontScale="77500" lnSpcReduction="20000"/>
          </a:bodyPr>
          <a:lstStyle/>
          <a:p>
            <a:pPr>
              <a:lnSpc>
                <a:spcPct val="120000"/>
              </a:lnSpc>
              <a:spcBef>
                <a:spcPts val="0"/>
              </a:spcBef>
              <a:buFontTx/>
              <a:buNone/>
            </a:pPr>
            <a:r>
              <a:rPr lang="el-GR" altLang="en-US" sz="2400" dirty="0">
                <a:latin typeface="Times New Roman" panose="02020603050405020304" pitchFamily="18" charset="0"/>
              </a:rPr>
              <a:t>«Γίνε επιστήμονας για μια μέρα» - «</a:t>
            </a:r>
            <a:r>
              <a:rPr lang="el-GR" altLang="en-US" sz="2400" dirty="0" err="1">
                <a:latin typeface="Times New Roman" panose="02020603050405020304" pitchFamily="18" charset="0"/>
              </a:rPr>
              <a:t>Being</a:t>
            </a:r>
            <a:r>
              <a:rPr lang="el-GR" altLang="en-US" sz="2400" dirty="0">
                <a:latin typeface="Times New Roman" panose="02020603050405020304" pitchFamily="18" charset="0"/>
              </a:rPr>
              <a:t> a </a:t>
            </a:r>
            <a:r>
              <a:rPr lang="el-GR" altLang="en-US" sz="2400" dirty="0" err="1">
                <a:latin typeface="Times New Roman" panose="02020603050405020304" pitchFamily="18" charset="0"/>
              </a:rPr>
              <a:t>Scientist</a:t>
            </a:r>
            <a:r>
              <a:rPr lang="el-GR" altLang="en-US" sz="2400" dirty="0">
                <a:latin typeface="Times New Roman" panose="02020603050405020304" pitchFamily="18" charset="0"/>
              </a:rPr>
              <a:t> for a </a:t>
            </a:r>
            <a:r>
              <a:rPr lang="el-GR" altLang="en-US" sz="2400" dirty="0" err="1">
                <a:latin typeface="Times New Roman" panose="02020603050405020304" pitchFamily="18" charset="0"/>
              </a:rPr>
              <a:t>Day</a:t>
            </a:r>
            <a:r>
              <a:rPr lang="el-GR" altLang="en-US" sz="2400" dirty="0">
                <a:latin typeface="Times New Roman" panose="02020603050405020304" pitchFamily="18" charset="0"/>
              </a:rPr>
              <a:t>» (από τα πρώτα προγράμματα του </a:t>
            </a:r>
            <a:r>
              <a:rPr lang="el-GR" altLang="en-US" sz="2400" dirty="0" err="1">
                <a:latin typeface="Times New Roman" panose="02020603050405020304" pitchFamily="18" charset="0"/>
              </a:rPr>
              <a:t>Nuffield</a:t>
            </a:r>
            <a:r>
              <a:rPr lang="el-GR" altLang="en-US" sz="2400" dirty="0">
                <a:latin typeface="Times New Roman" panose="02020603050405020304" pitchFamily="18" charset="0"/>
              </a:rPr>
              <a:t> στη Μεγάλη Βρετανία), </a:t>
            </a:r>
          </a:p>
          <a:p>
            <a:pPr>
              <a:lnSpc>
                <a:spcPct val="120000"/>
              </a:lnSpc>
              <a:spcBef>
                <a:spcPts val="0"/>
              </a:spcBef>
              <a:buFontTx/>
              <a:buNone/>
            </a:pPr>
            <a:endParaRPr lang="el-GR" altLang="en-US" sz="2400" dirty="0">
              <a:latin typeface="Times New Roman" panose="02020603050405020304" pitchFamily="18" charset="0"/>
            </a:endParaRPr>
          </a:p>
          <a:p>
            <a:pPr>
              <a:lnSpc>
                <a:spcPct val="120000"/>
              </a:lnSpc>
              <a:spcBef>
                <a:spcPts val="0"/>
              </a:spcBef>
              <a:buFontTx/>
              <a:buNone/>
            </a:pPr>
            <a:r>
              <a:rPr lang="el-GR" altLang="en-US" sz="2400" dirty="0">
                <a:latin typeface="Times New Roman" panose="02020603050405020304" pitchFamily="18" charset="0"/>
              </a:rPr>
              <a:t>«Μαθαίνω κάνοντας» - «</a:t>
            </a:r>
            <a:r>
              <a:rPr lang="el-GR" altLang="en-US" sz="2400" dirty="0" err="1">
                <a:latin typeface="Times New Roman" panose="02020603050405020304" pitchFamily="18" charset="0"/>
              </a:rPr>
              <a:t>Learning</a:t>
            </a:r>
            <a:r>
              <a:rPr lang="el-GR" altLang="en-US" sz="2400" dirty="0">
                <a:latin typeface="Times New Roman" panose="02020603050405020304" pitchFamily="18" charset="0"/>
              </a:rPr>
              <a:t> </a:t>
            </a:r>
            <a:r>
              <a:rPr lang="el-GR" altLang="en-US" sz="2400" dirty="0" err="1">
                <a:latin typeface="Times New Roman" panose="02020603050405020304" pitchFamily="18" charset="0"/>
              </a:rPr>
              <a:t>by</a:t>
            </a:r>
            <a:r>
              <a:rPr lang="el-GR" altLang="en-US" sz="2400" dirty="0">
                <a:latin typeface="Times New Roman" panose="02020603050405020304" pitchFamily="18" charset="0"/>
              </a:rPr>
              <a:t> </a:t>
            </a:r>
            <a:r>
              <a:rPr lang="el-GR" altLang="en-US" sz="2400" dirty="0" err="1">
                <a:latin typeface="Times New Roman" panose="02020603050405020304" pitchFamily="18" charset="0"/>
              </a:rPr>
              <a:t>Doing</a:t>
            </a:r>
            <a:r>
              <a:rPr lang="el-GR" altLang="en-US" sz="2400" dirty="0">
                <a:latin typeface="Times New Roman" panose="02020603050405020304" pitchFamily="18" charset="0"/>
              </a:rPr>
              <a:t>», </a:t>
            </a:r>
          </a:p>
          <a:p>
            <a:pPr>
              <a:lnSpc>
                <a:spcPct val="120000"/>
              </a:lnSpc>
              <a:spcBef>
                <a:spcPts val="0"/>
              </a:spcBef>
              <a:buFontTx/>
              <a:buNone/>
            </a:pPr>
            <a:endParaRPr lang="el-GR" altLang="en-US" sz="2400" dirty="0">
              <a:latin typeface="Times New Roman" panose="02020603050405020304" pitchFamily="18" charset="0"/>
            </a:endParaRPr>
          </a:p>
          <a:p>
            <a:pPr>
              <a:lnSpc>
                <a:spcPct val="120000"/>
              </a:lnSpc>
              <a:spcBef>
                <a:spcPts val="0"/>
              </a:spcBef>
              <a:buFontTx/>
              <a:buNone/>
            </a:pPr>
            <a:r>
              <a:rPr lang="el-GR" altLang="en-US" sz="2400" dirty="0">
                <a:latin typeface="Times New Roman" panose="02020603050405020304" pitchFamily="18" charset="0"/>
              </a:rPr>
              <a:t>«Διαδικασίες, όχι προϊόντα» - «</a:t>
            </a:r>
            <a:r>
              <a:rPr lang="el-GR" altLang="en-US" sz="2400" dirty="0" err="1">
                <a:latin typeface="Times New Roman" panose="02020603050405020304" pitchFamily="18" charset="0"/>
              </a:rPr>
              <a:t>Processes</a:t>
            </a:r>
            <a:r>
              <a:rPr lang="el-GR" altLang="en-US" sz="2400" dirty="0">
                <a:latin typeface="Times New Roman" panose="02020603050405020304" pitchFamily="18" charset="0"/>
              </a:rPr>
              <a:t>, </a:t>
            </a:r>
            <a:r>
              <a:rPr lang="el-GR" altLang="en-US" sz="2400" dirty="0" err="1">
                <a:latin typeface="Times New Roman" panose="02020603050405020304" pitchFamily="18" charset="0"/>
              </a:rPr>
              <a:t>not</a:t>
            </a:r>
            <a:r>
              <a:rPr lang="el-GR" altLang="en-US" sz="2400" dirty="0">
                <a:latin typeface="Times New Roman" panose="02020603050405020304" pitchFamily="18" charset="0"/>
              </a:rPr>
              <a:t> </a:t>
            </a:r>
            <a:r>
              <a:rPr lang="el-GR" altLang="en-US" sz="2400" dirty="0" err="1">
                <a:latin typeface="Times New Roman" panose="02020603050405020304" pitchFamily="18" charset="0"/>
              </a:rPr>
              <a:t>Products</a:t>
            </a:r>
            <a:r>
              <a:rPr lang="el-GR" altLang="en-US" sz="2400" dirty="0">
                <a:latin typeface="Times New Roman" panose="02020603050405020304" pitchFamily="18" charset="0"/>
              </a:rPr>
              <a:t>», </a:t>
            </a:r>
          </a:p>
          <a:p>
            <a:pPr>
              <a:lnSpc>
                <a:spcPct val="120000"/>
              </a:lnSpc>
              <a:spcBef>
                <a:spcPts val="0"/>
              </a:spcBef>
              <a:buFontTx/>
              <a:buNone/>
            </a:pPr>
            <a:endParaRPr lang="el-GR" altLang="en-US" sz="2400" dirty="0">
              <a:latin typeface="Times New Roman" panose="02020603050405020304" pitchFamily="18" charset="0"/>
            </a:endParaRPr>
          </a:p>
          <a:p>
            <a:pPr>
              <a:lnSpc>
                <a:spcPct val="120000"/>
              </a:lnSpc>
              <a:spcBef>
                <a:spcPts val="0"/>
              </a:spcBef>
              <a:buFontTx/>
              <a:buNone/>
            </a:pPr>
            <a:r>
              <a:rPr lang="el-GR" altLang="en-US" sz="2400" dirty="0">
                <a:latin typeface="Times New Roman" panose="02020603050405020304" pitchFamily="18" charset="0"/>
              </a:rPr>
              <a:t>«Επιστήμη για όλους» - «</a:t>
            </a:r>
            <a:r>
              <a:rPr lang="el-GR" altLang="en-US" sz="2400" dirty="0" err="1">
                <a:latin typeface="Times New Roman" panose="02020603050405020304" pitchFamily="18" charset="0"/>
              </a:rPr>
              <a:t>Science</a:t>
            </a:r>
            <a:r>
              <a:rPr lang="el-GR" altLang="en-US" sz="2400" dirty="0">
                <a:latin typeface="Times New Roman" panose="02020603050405020304" pitchFamily="18" charset="0"/>
              </a:rPr>
              <a:t> for </a:t>
            </a:r>
            <a:r>
              <a:rPr lang="el-GR" altLang="en-US" sz="2400" dirty="0" err="1">
                <a:latin typeface="Times New Roman" panose="02020603050405020304" pitchFamily="18" charset="0"/>
              </a:rPr>
              <a:t>All</a:t>
            </a:r>
            <a:r>
              <a:rPr lang="el-GR" altLang="en-US" sz="2400" dirty="0">
                <a:latin typeface="Times New Roman" panose="02020603050405020304" pitchFamily="18" charset="0"/>
              </a:rPr>
              <a:t>», </a:t>
            </a:r>
          </a:p>
          <a:p>
            <a:pPr>
              <a:lnSpc>
                <a:spcPct val="120000"/>
              </a:lnSpc>
              <a:spcBef>
                <a:spcPts val="0"/>
              </a:spcBef>
              <a:buFontTx/>
              <a:buNone/>
            </a:pPr>
            <a:endParaRPr lang="el-GR" altLang="en-US" sz="2400" dirty="0">
              <a:latin typeface="Times New Roman" panose="02020603050405020304" pitchFamily="18" charset="0"/>
            </a:endParaRPr>
          </a:p>
          <a:p>
            <a:pPr>
              <a:lnSpc>
                <a:spcPct val="120000"/>
              </a:lnSpc>
              <a:spcBef>
                <a:spcPts val="0"/>
              </a:spcBef>
              <a:buFontTx/>
              <a:buNone/>
            </a:pPr>
            <a:r>
              <a:rPr lang="el-GR" altLang="en-US" sz="2400" dirty="0">
                <a:latin typeface="Times New Roman" panose="02020603050405020304" pitchFamily="18" charset="0"/>
              </a:rPr>
              <a:t>«Τα παιδιά δημιουργούν νοήματα για τον κόσμο» - «Children </a:t>
            </a:r>
            <a:r>
              <a:rPr lang="el-GR" altLang="en-US" sz="2400" dirty="0" err="1">
                <a:latin typeface="Times New Roman" panose="02020603050405020304" pitchFamily="18" charset="0"/>
              </a:rPr>
              <a:t>Making</a:t>
            </a:r>
            <a:r>
              <a:rPr lang="el-GR" altLang="en-US" sz="2400" dirty="0">
                <a:latin typeface="Times New Roman" panose="02020603050405020304" pitchFamily="18" charset="0"/>
              </a:rPr>
              <a:t> </a:t>
            </a:r>
            <a:r>
              <a:rPr lang="el-GR" altLang="en-US" sz="2400" dirty="0" err="1">
                <a:latin typeface="Times New Roman" panose="02020603050405020304" pitchFamily="18" charset="0"/>
              </a:rPr>
              <a:t>Sense</a:t>
            </a:r>
            <a:r>
              <a:rPr lang="el-GR" altLang="en-US" sz="2400" dirty="0">
                <a:latin typeface="Times New Roman" panose="02020603050405020304" pitchFamily="18" charset="0"/>
              </a:rPr>
              <a:t> of the World». </a:t>
            </a:r>
          </a:p>
          <a:p>
            <a:pPr>
              <a:lnSpc>
                <a:spcPct val="120000"/>
              </a:lnSpc>
              <a:spcBef>
                <a:spcPts val="0"/>
              </a:spcBef>
              <a:buFontTx/>
              <a:buNone/>
            </a:pPr>
            <a:endParaRPr lang="el-GR" altLang="en-US" sz="2400" dirty="0">
              <a:latin typeface="Times New Roman" panose="02020603050405020304" pitchFamily="18" charset="0"/>
            </a:endParaRPr>
          </a:p>
          <a:p>
            <a:pPr>
              <a:lnSpc>
                <a:spcPct val="120000"/>
              </a:lnSpc>
              <a:spcBef>
                <a:spcPts val="0"/>
              </a:spcBef>
              <a:buFontTx/>
              <a:buNone/>
            </a:pPr>
            <a:r>
              <a:rPr lang="el-GR" altLang="en-US" sz="2400" dirty="0">
                <a:latin typeface="Times New Roman" panose="02020603050405020304" pitchFamily="18" charset="0"/>
              </a:rPr>
              <a:t>Από τα μέσα της δεκαετίας του 1990, ο όρος - σύνθημα που έχει επικρατήσει, είναι αυτός του επιστημονικού αλφαβητισμού ή επιστημονικού </a:t>
            </a:r>
            <a:r>
              <a:rPr lang="el-GR" altLang="en-US" sz="2400" dirty="0" err="1">
                <a:latin typeface="Times New Roman" panose="02020603050405020304" pitchFamily="18" charset="0"/>
              </a:rPr>
              <a:t>γραμματισμού</a:t>
            </a:r>
            <a:r>
              <a:rPr lang="el-GR" altLang="en-US" sz="2400" dirty="0">
                <a:latin typeface="Times New Roman" panose="02020603050405020304" pitchFamily="18" charset="0"/>
              </a:rPr>
              <a:t>/</a:t>
            </a:r>
            <a:r>
              <a:rPr lang="el-GR" altLang="en-US" sz="2400" dirty="0" err="1">
                <a:latin typeface="Times New Roman" panose="02020603050405020304" pitchFamily="18" charset="0"/>
              </a:rPr>
              <a:t>εγραμματισμού</a:t>
            </a:r>
            <a:r>
              <a:rPr lang="el-GR" altLang="en-US" sz="2400" dirty="0">
                <a:latin typeface="Times New Roman" panose="02020603050405020304" pitchFamily="18" charset="0"/>
              </a:rPr>
              <a:t> («</a:t>
            </a:r>
            <a:r>
              <a:rPr lang="el-GR" altLang="en-US" sz="2400" dirty="0" err="1">
                <a:latin typeface="Times New Roman" panose="02020603050405020304" pitchFamily="18" charset="0"/>
              </a:rPr>
              <a:t>scientific</a:t>
            </a:r>
            <a:r>
              <a:rPr lang="el-GR" altLang="en-US" sz="2400" dirty="0">
                <a:latin typeface="Times New Roman" panose="02020603050405020304" pitchFamily="18" charset="0"/>
              </a:rPr>
              <a:t> </a:t>
            </a:r>
            <a:r>
              <a:rPr lang="el-GR" altLang="en-US" sz="2400" dirty="0" err="1">
                <a:latin typeface="Times New Roman" panose="02020603050405020304" pitchFamily="18" charset="0"/>
              </a:rPr>
              <a:t>literacy</a:t>
            </a:r>
            <a:r>
              <a:rPr lang="el-GR" altLang="en-US" sz="2400" dirty="0">
                <a:latin typeface="Times New Roman" panose="02020603050405020304" pitchFamily="18" charset="0"/>
              </a:rPr>
              <a:t>»). </a:t>
            </a:r>
          </a:p>
          <a:p>
            <a:pPr>
              <a:lnSpc>
                <a:spcPct val="120000"/>
              </a:lnSpc>
              <a:spcBef>
                <a:spcPts val="0"/>
              </a:spcBef>
            </a:pPr>
            <a:endParaRPr lang="el-GR" altLang="en-US" sz="1200" dirty="0">
              <a:latin typeface="Times New Roman" panose="02020603050405020304" pitchFamily="18" charset="0"/>
            </a:endParaRPr>
          </a:p>
        </p:txBody>
      </p:sp>
      <p:sp>
        <p:nvSpPr>
          <p:cNvPr id="431107" name="Rectangle 3">
            <a:extLst>
              <a:ext uri="{FF2B5EF4-FFF2-40B4-BE49-F238E27FC236}">
                <a16:creationId xmlns:a16="http://schemas.microsoft.com/office/drawing/2014/main" id="{C37C0156-327F-420B-A27B-7783F6227E6C}"/>
              </a:ext>
            </a:extLst>
          </p:cNvPr>
          <p:cNvSpPr>
            <a:spLocks noGrp="1" noChangeArrowheads="1"/>
          </p:cNvSpPr>
          <p:nvPr>
            <p:ph type="title"/>
          </p:nvPr>
        </p:nvSpPr>
        <p:spPr/>
        <p:txBody>
          <a:bodyPr/>
          <a:lstStyle/>
          <a:p>
            <a:r>
              <a:rPr lang="el-GR" altLang="en-US" dirty="0"/>
              <a:t>Επιστημονικός </a:t>
            </a:r>
            <a:r>
              <a:rPr lang="el-GR" altLang="en-US" dirty="0" err="1"/>
              <a:t>γραμματισμός</a:t>
            </a:r>
            <a:endParaRPr lang="el-GR" altLang="en-US" dirty="0"/>
          </a:p>
        </p:txBody>
      </p:sp>
      <p:sp>
        <p:nvSpPr>
          <p:cNvPr id="4" name="Footer Placeholder 4">
            <a:extLst>
              <a:ext uri="{FF2B5EF4-FFF2-40B4-BE49-F238E27FC236}">
                <a16:creationId xmlns:a16="http://schemas.microsoft.com/office/drawing/2014/main" id="{84D3DE8D-E863-4A6B-A454-ECC2F1174CC1}"/>
              </a:ext>
            </a:extLst>
          </p:cNvPr>
          <p:cNvSpPr>
            <a:spLocks noGrp="1"/>
          </p:cNvSpPr>
          <p:nvPr>
            <p:ph type="ftr" sz="quarter" idx="11"/>
          </p:nvPr>
        </p:nvSpPr>
        <p:spPr>
          <a:xfrm>
            <a:off x="4038600" y="6356350"/>
            <a:ext cx="4114800" cy="365125"/>
          </a:xfrm>
        </p:spPr>
        <p:txBody>
          <a:bodyPr/>
          <a:lstStyle/>
          <a:p>
            <a:r>
              <a:rPr lang="el-GR" dirty="0">
                <a:solidFill>
                  <a:schemeClr val="tx2">
                    <a:lumMod val="50000"/>
                  </a:schemeClr>
                </a:solidFill>
                <a:latin typeface="Tahoma" pitchFamily="34" charset="0"/>
                <a:ea typeface="Tahoma" pitchFamily="34" charset="0"/>
                <a:cs typeface="Tahoma" pitchFamily="34" charset="0"/>
              </a:rPr>
              <a:t>Παναγιώτης </a:t>
            </a:r>
            <a:r>
              <a:rPr lang="el-GR" dirty="0" err="1">
                <a:solidFill>
                  <a:schemeClr val="tx2">
                    <a:lumMod val="50000"/>
                  </a:schemeClr>
                </a:solidFill>
                <a:latin typeface="Tahoma" pitchFamily="34" charset="0"/>
                <a:ea typeface="Tahoma" pitchFamily="34" charset="0"/>
                <a:cs typeface="Tahoma" pitchFamily="34" charset="0"/>
              </a:rPr>
              <a:t>Πήλιουρας</a:t>
            </a:r>
            <a:r>
              <a:rPr lang="el-GR" dirty="0">
                <a:solidFill>
                  <a:schemeClr val="tx2">
                    <a:lumMod val="50000"/>
                  </a:schemeClr>
                </a:solidFill>
                <a:latin typeface="Tahoma" pitchFamily="34" charset="0"/>
                <a:ea typeface="Tahoma" pitchFamily="34" charset="0"/>
                <a:cs typeface="Tahoma" pitchFamily="34" charset="0"/>
              </a:rPr>
              <a:t> @ Θ.Ε. ΕΚΠ63 1</a:t>
            </a:r>
            <a:r>
              <a:rPr lang="el-GR" baseline="30000" dirty="0">
                <a:solidFill>
                  <a:schemeClr val="tx2">
                    <a:lumMod val="50000"/>
                  </a:schemeClr>
                </a:solidFill>
                <a:latin typeface="Tahoma" pitchFamily="34" charset="0"/>
                <a:ea typeface="Tahoma" pitchFamily="34" charset="0"/>
                <a:cs typeface="Tahoma" pitchFamily="34" charset="0"/>
              </a:rPr>
              <a:t>Η</a:t>
            </a:r>
            <a:r>
              <a:rPr lang="el-GR" dirty="0">
                <a:solidFill>
                  <a:schemeClr val="tx2">
                    <a:lumMod val="50000"/>
                  </a:schemeClr>
                </a:solidFill>
                <a:latin typeface="Tahoma" pitchFamily="34" charset="0"/>
                <a:ea typeface="Tahoma" pitchFamily="34" charset="0"/>
                <a:cs typeface="Tahoma" pitchFamily="34" charset="0"/>
              </a:rPr>
              <a:t> ΟΣΣ 2020-21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1106">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31106">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31106">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31106">
                                            <p:txEl>
                                              <p:pRg st="6" end="6"/>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31106">
                                            <p:txEl>
                                              <p:pRg st="8" end="8"/>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3110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1106" grpId="0" build="p"/>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2130" name="Rectangle 2">
            <a:extLst>
              <a:ext uri="{FF2B5EF4-FFF2-40B4-BE49-F238E27FC236}">
                <a16:creationId xmlns:a16="http://schemas.microsoft.com/office/drawing/2014/main" id="{AAD5EFBF-B0E1-4EBE-85AE-67B30B2231C7}"/>
              </a:ext>
            </a:extLst>
          </p:cNvPr>
          <p:cNvSpPr>
            <a:spLocks noGrp="1" noChangeArrowheads="1"/>
          </p:cNvSpPr>
          <p:nvPr>
            <p:ph type="title"/>
          </p:nvPr>
        </p:nvSpPr>
        <p:spPr>
          <a:xfrm>
            <a:off x="3790544" y="273844"/>
            <a:ext cx="8229600" cy="1143000"/>
          </a:xfrm>
        </p:spPr>
        <p:txBody>
          <a:bodyPr/>
          <a:lstStyle/>
          <a:p>
            <a:r>
              <a:rPr lang="el-GR" altLang="en-US" dirty="0"/>
              <a:t>Επιστημονικός </a:t>
            </a:r>
            <a:r>
              <a:rPr lang="el-GR" altLang="en-US" dirty="0" err="1"/>
              <a:t>γραμματισμός</a:t>
            </a:r>
            <a:endParaRPr lang="el-GR" altLang="en-US" dirty="0"/>
          </a:p>
        </p:txBody>
      </p:sp>
      <p:sp>
        <p:nvSpPr>
          <p:cNvPr id="432131" name="Rectangle 3">
            <a:extLst>
              <a:ext uri="{FF2B5EF4-FFF2-40B4-BE49-F238E27FC236}">
                <a16:creationId xmlns:a16="http://schemas.microsoft.com/office/drawing/2014/main" id="{E709A9BB-261F-436C-8579-A116D1EF98F8}"/>
              </a:ext>
            </a:extLst>
          </p:cNvPr>
          <p:cNvSpPr>
            <a:spLocks noGrp="1" noChangeArrowheads="1"/>
          </p:cNvSpPr>
          <p:nvPr>
            <p:ph type="body" idx="1"/>
          </p:nvPr>
        </p:nvSpPr>
        <p:spPr>
          <a:xfrm>
            <a:off x="2076855" y="1486693"/>
            <a:ext cx="8229600" cy="4525963"/>
          </a:xfrm>
          <a:ln w="50800">
            <a:solidFill>
              <a:schemeClr val="tx1"/>
            </a:solidFill>
          </a:ln>
        </p:spPr>
        <p:txBody>
          <a:bodyPr>
            <a:normAutofit fontScale="85000" lnSpcReduction="20000"/>
          </a:bodyPr>
          <a:lstStyle/>
          <a:p>
            <a:pPr>
              <a:lnSpc>
                <a:spcPct val="120000"/>
              </a:lnSpc>
              <a:spcBef>
                <a:spcPts val="0"/>
              </a:spcBef>
              <a:buFontTx/>
              <a:buNone/>
            </a:pPr>
            <a:r>
              <a:rPr lang="el-GR" altLang="en-US" sz="2000" dirty="0">
                <a:latin typeface="Times New Roman" panose="02020603050405020304" pitchFamily="18" charset="0"/>
              </a:rPr>
              <a:t>Μερικές φράσεις οι οποίες σηματοδοτούν αυτά τα αιτήματα, για παράδειγμα στο πλαίσιο της εκπαίδευσης των Φυσικών Επιστημών, είναι:</a:t>
            </a:r>
          </a:p>
          <a:p>
            <a:pPr>
              <a:lnSpc>
                <a:spcPct val="120000"/>
              </a:lnSpc>
              <a:spcBef>
                <a:spcPts val="0"/>
              </a:spcBef>
              <a:buFontTx/>
              <a:buNone/>
            </a:pPr>
            <a:endParaRPr lang="el-GR" altLang="en-US" sz="2000" dirty="0">
              <a:latin typeface="Times New Roman" panose="02020603050405020304" pitchFamily="18" charset="0"/>
            </a:endParaRPr>
          </a:p>
          <a:p>
            <a:pPr>
              <a:lnSpc>
                <a:spcPct val="120000"/>
              </a:lnSpc>
              <a:spcBef>
                <a:spcPts val="0"/>
              </a:spcBef>
            </a:pPr>
            <a:r>
              <a:rPr lang="el-GR" altLang="en-US" sz="2000" dirty="0">
                <a:latin typeface="Times New Roman" panose="02020603050405020304" pitchFamily="18" charset="0"/>
              </a:rPr>
              <a:t>Φυσικές Επιστήμες - Κοινωνία - Τεχνολογία (</a:t>
            </a:r>
            <a:r>
              <a:rPr lang="el-GR" altLang="en-US" sz="2000" dirty="0" err="1">
                <a:latin typeface="Times New Roman" panose="02020603050405020304" pitchFamily="18" charset="0"/>
              </a:rPr>
              <a:t>Science</a:t>
            </a:r>
            <a:r>
              <a:rPr lang="el-GR" altLang="en-US" sz="2000" dirty="0">
                <a:latin typeface="Times New Roman" panose="02020603050405020304" pitchFamily="18" charset="0"/>
              </a:rPr>
              <a:t> - </a:t>
            </a:r>
            <a:r>
              <a:rPr lang="el-GR" altLang="en-US" sz="2000" dirty="0" err="1">
                <a:latin typeface="Times New Roman" panose="02020603050405020304" pitchFamily="18" charset="0"/>
              </a:rPr>
              <a:t>Technology</a:t>
            </a:r>
            <a:r>
              <a:rPr lang="el-GR" altLang="en-US" sz="2000" dirty="0">
                <a:latin typeface="Times New Roman" panose="02020603050405020304" pitchFamily="18" charset="0"/>
              </a:rPr>
              <a:t> - Society)</a:t>
            </a:r>
          </a:p>
          <a:p>
            <a:pPr>
              <a:lnSpc>
                <a:spcPct val="120000"/>
              </a:lnSpc>
              <a:spcBef>
                <a:spcPts val="0"/>
              </a:spcBef>
            </a:pPr>
            <a:endParaRPr lang="el-GR" altLang="en-US" sz="2000" dirty="0">
              <a:latin typeface="Times New Roman" panose="02020603050405020304" pitchFamily="18" charset="0"/>
            </a:endParaRPr>
          </a:p>
          <a:p>
            <a:pPr>
              <a:lnSpc>
                <a:spcPct val="120000"/>
              </a:lnSpc>
              <a:spcBef>
                <a:spcPts val="0"/>
              </a:spcBef>
            </a:pPr>
            <a:r>
              <a:rPr lang="el-GR" altLang="en-US" sz="2000" dirty="0">
                <a:latin typeface="Times New Roman" panose="02020603050405020304" pitchFamily="18" charset="0"/>
              </a:rPr>
              <a:t>Δημόσια</a:t>
            </a:r>
            <a:r>
              <a:rPr lang="en-US" altLang="en-US" sz="2000" dirty="0">
                <a:latin typeface="Times New Roman" panose="02020603050405020304" pitchFamily="18" charset="0"/>
              </a:rPr>
              <a:t> </a:t>
            </a:r>
            <a:r>
              <a:rPr lang="el-GR" altLang="en-US" sz="2000" dirty="0">
                <a:latin typeface="Times New Roman" panose="02020603050405020304" pitchFamily="18" charset="0"/>
              </a:rPr>
              <a:t>Κατανόηση</a:t>
            </a:r>
            <a:r>
              <a:rPr lang="en-US" altLang="en-US" sz="2000" dirty="0">
                <a:latin typeface="Times New Roman" panose="02020603050405020304" pitchFamily="18" charset="0"/>
              </a:rPr>
              <a:t> </a:t>
            </a:r>
            <a:r>
              <a:rPr lang="el-GR" altLang="en-US" sz="2000" dirty="0">
                <a:latin typeface="Times New Roman" panose="02020603050405020304" pitchFamily="18" charset="0"/>
              </a:rPr>
              <a:t>της</a:t>
            </a:r>
            <a:r>
              <a:rPr lang="en-US" altLang="en-US" sz="2000" dirty="0">
                <a:latin typeface="Times New Roman" panose="02020603050405020304" pitchFamily="18" charset="0"/>
              </a:rPr>
              <a:t> </a:t>
            </a:r>
            <a:r>
              <a:rPr lang="el-GR" altLang="en-US" sz="2000" dirty="0">
                <a:latin typeface="Times New Roman" panose="02020603050405020304" pitchFamily="18" charset="0"/>
              </a:rPr>
              <a:t>Επιστήμης</a:t>
            </a:r>
            <a:r>
              <a:rPr lang="en-US" altLang="en-US" sz="2000" dirty="0">
                <a:latin typeface="Times New Roman" panose="02020603050405020304" pitchFamily="18" charset="0"/>
              </a:rPr>
              <a:t> (Public Understanding of Science)</a:t>
            </a:r>
            <a:endParaRPr lang="el-GR" altLang="en-US" sz="2000" dirty="0">
              <a:latin typeface="Times New Roman" panose="02020603050405020304" pitchFamily="18" charset="0"/>
            </a:endParaRPr>
          </a:p>
          <a:p>
            <a:pPr>
              <a:lnSpc>
                <a:spcPct val="120000"/>
              </a:lnSpc>
              <a:spcBef>
                <a:spcPts val="0"/>
              </a:spcBef>
              <a:buFontTx/>
              <a:buNone/>
            </a:pPr>
            <a:endParaRPr lang="el-GR" altLang="en-US" sz="2000" dirty="0">
              <a:latin typeface="Times New Roman" panose="02020603050405020304" pitchFamily="18" charset="0"/>
            </a:endParaRPr>
          </a:p>
          <a:p>
            <a:pPr>
              <a:lnSpc>
                <a:spcPct val="120000"/>
              </a:lnSpc>
              <a:spcBef>
                <a:spcPts val="0"/>
              </a:spcBef>
            </a:pPr>
            <a:r>
              <a:rPr lang="el-GR" altLang="en-US" sz="2000" dirty="0">
                <a:latin typeface="Times New Roman" panose="02020603050405020304" pitchFamily="18" charset="0"/>
              </a:rPr>
              <a:t>Οι Φυσικές Επιστήμες ως Κουλτούρα (</a:t>
            </a:r>
            <a:r>
              <a:rPr lang="en-US" altLang="en-US" sz="2000" dirty="0">
                <a:latin typeface="Times New Roman" panose="02020603050405020304" pitchFamily="18" charset="0"/>
              </a:rPr>
              <a:t>Science as Culture</a:t>
            </a:r>
            <a:r>
              <a:rPr lang="el-GR" altLang="en-US" sz="2000" dirty="0">
                <a:latin typeface="Times New Roman" panose="02020603050405020304" pitchFamily="18" charset="0"/>
              </a:rPr>
              <a:t>).</a:t>
            </a:r>
          </a:p>
          <a:p>
            <a:pPr>
              <a:lnSpc>
                <a:spcPct val="120000"/>
              </a:lnSpc>
              <a:spcBef>
                <a:spcPts val="0"/>
              </a:spcBef>
            </a:pPr>
            <a:endParaRPr lang="el-GR" altLang="en-US" sz="2000" dirty="0">
              <a:latin typeface="Times New Roman" panose="02020603050405020304" pitchFamily="18" charset="0"/>
            </a:endParaRPr>
          </a:p>
          <a:p>
            <a:pPr>
              <a:lnSpc>
                <a:spcPct val="120000"/>
              </a:lnSpc>
              <a:spcBef>
                <a:spcPts val="0"/>
              </a:spcBef>
            </a:pPr>
            <a:r>
              <a:rPr lang="el-GR" altLang="en-US" sz="2000" dirty="0">
                <a:latin typeface="Times New Roman" panose="02020603050405020304" pitchFamily="18" charset="0"/>
              </a:rPr>
              <a:t>Η εκπαίδευση στις Φυσικές Επιστήμες ως/για κοινωνικοπολιτική δράση (</a:t>
            </a:r>
            <a:r>
              <a:rPr lang="en-US" altLang="en-US" sz="2000" dirty="0">
                <a:latin typeface="Times New Roman" panose="02020603050405020304" pitchFamily="18" charset="0"/>
              </a:rPr>
              <a:t>Science Education as</a:t>
            </a:r>
            <a:r>
              <a:rPr lang="el-GR" altLang="en-US" sz="2000" dirty="0">
                <a:latin typeface="Times New Roman" panose="02020603050405020304" pitchFamily="18" charset="0"/>
              </a:rPr>
              <a:t>/</a:t>
            </a:r>
            <a:r>
              <a:rPr lang="en-US" altLang="en-US" sz="2000" dirty="0">
                <a:latin typeface="Times New Roman" panose="02020603050405020304" pitchFamily="18" charset="0"/>
              </a:rPr>
              <a:t>for Sociopolitical Action</a:t>
            </a:r>
            <a:r>
              <a:rPr lang="el-GR" altLang="en-US" sz="2000" dirty="0">
                <a:latin typeface="Times New Roman" panose="02020603050405020304" pitchFamily="18" charset="0"/>
              </a:rPr>
              <a:t>) (</a:t>
            </a:r>
            <a:r>
              <a:rPr lang="el-GR" altLang="en-US" sz="2000" dirty="0" err="1">
                <a:latin typeface="Times New Roman" panose="02020603050405020304" pitchFamily="18" charset="0"/>
              </a:rPr>
              <a:t>Roth</a:t>
            </a:r>
            <a:r>
              <a:rPr lang="el-GR" altLang="en-US" sz="2000" dirty="0">
                <a:latin typeface="Times New Roman" panose="02020603050405020304" pitchFamily="18" charset="0"/>
              </a:rPr>
              <a:t> &amp; </a:t>
            </a:r>
            <a:r>
              <a:rPr lang="el-GR" altLang="en-US" sz="2000" dirty="0" err="1">
                <a:latin typeface="Times New Roman" panose="02020603050405020304" pitchFamily="18" charset="0"/>
              </a:rPr>
              <a:t>Desautels</a:t>
            </a:r>
            <a:r>
              <a:rPr lang="el-GR" altLang="en-US" sz="2000" dirty="0">
                <a:latin typeface="Times New Roman" panose="02020603050405020304" pitchFamily="18" charset="0"/>
              </a:rPr>
              <a:t>, 2002; H</a:t>
            </a:r>
            <a:r>
              <a:rPr lang="en-US" altLang="en-US" sz="2000" dirty="0" err="1">
                <a:latin typeface="Times New Roman" panose="02020603050405020304" pitchFamily="18" charset="0"/>
              </a:rPr>
              <a:t>odson</a:t>
            </a:r>
            <a:r>
              <a:rPr lang="el-GR" altLang="en-US" sz="2000" dirty="0">
                <a:latin typeface="Times New Roman" panose="02020603050405020304" pitchFamily="18" charset="0"/>
              </a:rPr>
              <a:t>, 1999)</a:t>
            </a:r>
          </a:p>
          <a:p>
            <a:pPr>
              <a:lnSpc>
                <a:spcPct val="120000"/>
              </a:lnSpc>
              <a:spcBef>
                <a:spcPts val="0"/>
              </a:spcBef>
            </a:pPr>
            <a:endParaRPr lang="el-GR" altLang="en-US" sz="2000" dirty="0">
              <a:latin typeface="Times New Roman" panose="02020603050405020304" pitchFamily="18" charset="0"/>
            </a:endParaRPr>
          </a:p>
          <a:p>
            <a:pPr>
              <a:lnSpc>
                <a:spcPct val="120000"/>
              </a:lnSpc>
              <a:spcBef>
                <a:spcPts val="0"/>
              </a:spcBef>
            </a:pPr>
            <a:r>
              <a:rPr lang="el-GR" altLang="en-US" sz="2000" dirty="0">
                <a:latin typeface="Times New Roman" panose="02020603050405020304" pitchFamily="18" charset="0"/>
              </a:rPr>
              <a:t>Ο επιστημονικός αλφαβητισμός ως συλλογική πράξη (Scientific </a:t>
            </a:r>
            <a:r>
              <a:rPr lang="el-GR" altLang="en-US" sz="2000" dirty="0" err="1">
                <a:latin typeface="Times New Roman" panose="02020603050405020304" pitchFamily="18" charset="0"/>
              </a:rPr>
              <a:t>literacy</a:t>
            </a:r>
            <a:r>
              <a:rPr lang="el-GR" altLang="en-US" sz="2000" dirty="0">
                <a:latin typeface="Times New Roman" panose="02020603050405020304" pitchFamily="18" charset="0"/>
              </a:rPr>
              <a:t> </a:t>
            </a:r>
            <a:r>
              <a:rPr lang="el-GR" altLang="en-US" sz="2000" dirty="0" err="1">
                <a:latin typeface="Times New Roman" panose="02020603050405020304" pitchFamily="18" charset="0"/>
              </a:rPr>
              <a:t>as</a:t>
            </a:r>
            <a:r>
              <a:rPr lang="el-GR" altLang="en-US" sz="2000" dirty="0">
                <a:latin typeface="Times New Roman" panose="02020603050405020304" pitchFamily="18" charset="0"/>
              </a:rPr>
              <a:t> </a:t>
            </a:r>
            <a:r>
              <a:rPr lang="el-GR" altLang="en-US" sz="2000" dirty="0" err="1">
                <a:latin typeface="Times New Roman" panose="02020603050405020304" pitchFamily="18" charset="0"/>
              </a:rPr>
              <a:t>collective</a:t>
            </a:r>
            <a:r>
              <a:rPr lang="el-GR" altLang="en-US" sz="2000" dirty="0">
                <a:latin typeface="Times New Roman" panose="02020603050405020304" pitchFamily="18" charset="0"/>
              </a:rPr>
              <a:t> </a:t>
            </a:r>
            <a:r>
              <a:rPr lang="el-GR" altLang="en-US" sz="2000" dirty="0" err="1">
                <a:latin typeface="Times New Roman" panose="02020603050405020304" pitchFamily="18" charset="0"/>
              </a:rPr>
              <a:t>praxis</a:t>
            </a:r>
            <a:r>
              <a:rPr lang="el-GR" altLang="en-US" sz="2000" dirty="0">
                <a:latin typeface="Times New Roman" panose="02020603050405020304" pitchFamily="18" charset="0"/>
              </a:rPr>
              <a:t>) (R</a:t>
            </a:r>
            <a:r>
              <a:rPr lang="en-US" altLang="en-US" sz="2000" dirty="0" err="1">
                <a:latin typeface="Times New Roman" panose="02020603050405020304" pitchFamily="18" charset="0"/>
              </a:rPr>
              <a:t>oth</a:t>
            </a:r>
            <a:r>
              <a:rPr lang="el-GR" altLang="en-US" sz="2000" dirty="0">
                <a:latin typeface="Times New Roman" panose="02020603050405020304" pitchFamily="18" charset="0"/>
              </a:rPr>
              <a:t> &amp; L</a:t>
            </a:r>
            <a:r>
              <a:rPr lang="en-US" altLang="en-US" sz="2000" dirty="0" err="1">
                <a:latin typeface="Times New Roman" panose="02020603050405020304" pitchFamily="18" charset="0"/>
              </a:rPr>
              <a:t>ee</a:t>
            </a:r>
            <a:r>
              <a:rPr lang="el-GR" altLang="en-US" sz="2000" dirty="0">
                <a:latin typeface="Times New Roman" panose="02020603050405020304" pitchFamily="18" charset="0"/>
              </a:rPr>
              <a:t>, 2002)</a:t>
            </a:r>
          </a:p>
          <a:p>
            <a:pPr>
              <a:lnSpc>
                <a:spcPct val="120000"/>
              </a:lnSpc>
              <a:spcBef>
                <a:spcPts val="0"/>
              </a:spcBef>
              <a:buFontTx/>
              <a:buNone/>
            </a:pPr>
            <a:endParaRPr lang="el-GR" altLang="en-US" sz="2000" dirty="0">
              <a:latin typeface="Times New Roman" panose="02020603050405020304" pitchFamily="18" charset="0"/>
            </a:endParaRPr>
          </a:p>
          <a:p>
            <a:pPr>
              <a:lnSpc>
                <a:spcPct val="120000"/>
              </a:lnSpc>
              <a:spcBef>
                <a:spcPts val="0"/>
              </a:spcBef>
            </a:pPr>
            <a:r>
              <a:rPr lang="el-GR" altLang="en-US" sz="2000" dirty="0">
                <a:latin typeface="Times New Roman" panose="02020603050405020304" pitchFamily="18" charset="0"/>
              </a:rPr>
              <a:t>Η εκπαίδευση στις Φυσικές Επιστήμες ως συμμετοχή στην/για την κοινότητα (</a:t>
            </a:r>
            <a:r>
              <a:rPr lang="en-US" altLang="en-US" sz="2000" dirty="0">
                <a:latin typeface="Times New Roman" panose="02020603050405020304" pitchFamily="18" charset="0"/>
              </a:rPr>
              <a:t>Science Education as</a:t>
            </a:r>
            <a:r>
              <a:rPr lang="el-GR" altLang="en-US" sz="2000" dirty="0">
                <a:latin typeface="Times New Roman" panose="02020603050405020304" pitchFamily="18" charset="0"/>
              </a:rPr>
              <a:t>/</a:t>
            </a:r>
            <a:r>
              <a:rPr lang="en-US" altLang="en-US" sz="2000" dirty="0">
                <a:latin typeface="Times New Roman" panose="02020603050405020304" pitchFamily="18" charset="0"/>
              </a:rPr>
              <a:t>for Participation in the Community</a:t>
            </a:r>
            <a:r>
              <a:rPr lang="el-GR" altLang="en-US" sz="2000" dirty="0">
                <a:latin typeface="Times New Roman" panose="02020603050405020304" pitchFamily="18" charset="0"/>
              </a:rPr>
              <a:t>) (</a:t>
            </a:r>
            <a:r>
              <a:rPr lang="en-US" altLang="en-US" sz="2000" dirty="0">
                <a:latin typeface="Times New Roman" panose="02020603050405020304" pitchFamily="18" charset="0"/>
              </a:rPr>
              <a:t>Roth</a:t>
            </a:r>
            <a:r>
              <a:rPr lang="el-GR" altLang="en-US" sz="2000" dirty="0">
                <a:latin typeface="Times New Roman" panose="02020603050405020304" pitchFamily="18" charset="0"/>
              </a:rPr>
              <a:t> &amp; </a:t>
            </a:r>
            <a:r>
              <a:rPr lang="en-US" altLang="en-US" sz="2000" dirty="0">
                <a:latin typeface="Times New Roman" panose="02020603050405020304" pitchFamily="18" charset="0"/>
              </a:rPr>
              <a:t>Lee</a:t>
            </a:r>
            <a:r>
              <a:rPr lang="el-GR" altLang="en-US" sz="2000" dirty="0">
                <a:latin typeface="Times New Roman" panose="02020603050405020304" pitchFamily="18" charset="0"/>
              </a:rPr>
              <a:t>, 2003). </a:t>
            </a:r>
          </a:p>
          <a:p>
            <a:pPr>
              <a:lnSpc>
                <a:spcPct val="120000"/>
              </a:lnSpc>
              <a:spcBef>
                <a:spcPts val="0"/>
              </a:spcBef>
              <a:buFontTx/>
              <a:buNone/>
            </a:pPr>
            <a:endParaRPr lang="el-GR" altLang="en-US" sz="2000" dirty="0">
              <a:latin typeface="Times New Roman" panose="02020603050405020304" pitchFamily="18" charset="0"/>
            </a:endParaRPr>
          </a:p>
        </p:txBody>
      </p:sp>
      <p:sp>
        <p:nvSpPr>
          <p:cNvPr id="4" name="Footer Placeholder 4">
            <a:extLst>
              <a:ext uri="{FF2B5EF4-FFF2-40B4-BE49-F238E27FC236}">
                <a16:creationId xmlns:a16="http://schemas.microsoft.com/office/drawing/2014/main" id="{E62BDBE4-CAD3-481D-B9DB-285E92898D43}"/>
              </a:ext>
            </a:extLst>
          </p:cNvPr>
          <p:cNvSpPr>
            <a:spLocks noGrp="1"/>
          </p:cNvSpPr>
          <p:nvPr>
            <p:ph type="ftr" sz="quarter" idx="11"/>
          </p:nvPr>
        </p:nvSpPr>
        <p:spPr>
          <a:xfrm>
            <a:off x="4038600" y="6356350"/>
            <a:ext cx="4114800" cy="365125"/>
          </a:xfrm>
        </p:spPr>
        <p:txBody>
          <a:bodyPr/>
          <a:lstStyle/>
          <a:p>
            <a:r>
              <a:rPr lang="el-GR" dirty="0">
                <a:solidFill>
                  <a:schemeClr val="tx2">
                    <a:lumMod val="50000"/>
                  </a:schemeClr>
                </a:solidFill>
                <a:latin typeface="Tahoma" pitchFamily="34" charset="0"/>
                <a:ea typeface="Tahoma" pitchFamily="34" charset="0"/>
                <a:cs typeface="Tahoma" pitchFamily="34" charset="0"/>
              </a:rPr>
              <a:t>Παναγιώτης </a:t>
            </a:r>
            <a:r>
              <a:rPr lang="el-GR" dirty="0" err="1">
                <a:solidFill>
                  <a:schemeClr val="tx2">
                    <a:lumMod val="50000"/>
                  </a:schemeClr>
                </a:solidFill>
                <a:latin typeface="Tahoma" pitchFamily="34" charset="0"/>
                <a:ea typeface="Tahoma" pitchFamily="34" charset="0"/>
                <a:cs typeface="Tahoma" pitchFamily="34" charset="0"/>
              </a:rPr>
              <a:t>Πήλιουρας</a:t>
            </a:r>
            <a:r>
              <a:rPr lang="el-GR" dirty="0">
                <a:solidFill>
                  <a:schemeClr val="tx2">
                    <a:lumMod val="50000"/>
                  </a:schemeClr>
                </a:solidFill>
                <a:latin typeface="Tahoma" pitchFamily="34" charset="0"/>
                <a:ea typeface="Tahoma" pitchFamily="34" charset="0"/>
                <a:cs typeface="Tahoma" pitchFamily="34" charset="0"/>
              </a:rPr>
              <a:t> @ Θ.Ε. ΕΚΠ63 1</a:t>
            </a:r>
            <a:r>
              <a:rPr lang="el-GR" baseline="30000" dirty="0">
                <a:solidFill>
                  <a:schemeClr val="tx2">
                    <a:lumMod val="50000"/>
                  </a:schemeClr>
                </a:solidFill>
                <a:latin typeface="Tahoma" pitchFamily="34" charset="0"/>
                <a:ea typeface="Tahoma" pitchFamily="34" charset="0"/>
                <a:cs typeface="Tahoma" pitchFamily="34" charset="0"/>
              </a:rPr>
              <a:t>Η</a:t>
            </a:r>
            <a:r>
              <a:rPr lang="el-GR" dirty="0">
                <a:solidFill>
                  <a:schemeClr val="tx2">
                    <a:lumMod val="50000"/>
                  </a:schemeClr>
                </a:solidFill>
                <a:latin typeface="Tahoma" pitchFamily="34" charset="0"/>
                <a:ea typeface="Tahoma" pitchFamily="34" charset="0"/>
                <a:cs typeface="Tahoma" pitchFamily="34" charset="0"/>
              </a:rPr>
              <a:t> ΟΣΣ 2020-21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213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3213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32131">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32131">
                                            <p:txEl>
                                              <p:pRg st="6" end="6"/>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32131">
                                            <p:txEl>
                                              <p:pRg st="8" end="8"/>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32131">
                                            <p:txEl>
                                              <p:pRg st="10" end="10"/>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32131">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2131"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242" name="Rectangle 2">
            <a:extLst>
              <a:ext uri="{FF2B5EF4-FFF2-40B4-BE49-F238E27FC236}">
                <a16:creationId xmlns:a16="http://schemas.microsoft.com/office/drawing/2014/main" id="{2DB44526-E5DD-4F1B-B235-2A6766ACFDFB}"/>
              </a:ext>
            </a:extLst>
          </p:cNvPr>
          <p:cNvSpPr>
            <a:spLocks noGrp="1" noChangeArrowheads="1"/>
          </p:cNvSpPr>
          <p:nvPr>
            <p:ph type="title"/>
          </p:nvPr>
        </p:nvSpPr>
        <p:spPr/>
        <p:txBody>
          <a:bodyPr/>
          <a:lstStyle/>
          <a:p>
            <a:r>
              <a:rPr lang="el-GR" altLang="en-US" sz="2400" b="1" i="1">
                <a:solidFill>
                  <a:srgbClr val="000066"/>
                </a:solidFill>
              </a:rPr>
              <a:t>Όψεις επίτευξης επιστημονικού εγγραμματισμού (1)</a:t>
            </a:r>
            <a:br>
              <a:rPr lang="el-GR" altLang="en-US" sz="2400" b="1" i="1">
                <a:solidFill>
                  <a:srgbClr val="000066"/>
                </a:solidFill>
              </a:rPr>
            </a:br>
            <a:endParaRPr lang="el-GR" altLang="en-US" sz="2400" b="1" i="1">
              <a:solidFill>
                <a:srgbClr val="000066"/>
              </a:solidFill>
            </a:endParaRPr>
          </a:p>
        </p:txBody>
      </p:sp>
      <p:sp>
        <p:nvSpPr>
          <p:cNvPr id="394243" name="Rectangle 3">
            <a:extLst>
              <a:ext uri="{FF2B5EF4-FFF2-40B4-BE49-F238E27FC236}">
                <a16:creationId xmlns:a16="http://schemas.microsoft.com/office/drawing/2014/main" id="{8CAB7129-C25F-437F-956E-6F8636B4259A}"/>
              </a:ext>
            </a:extLst>
          </p:cNvPr>
          <p:cNvSpPr>
            <a:spLocks noGrp="1" noChangeArrowheads="1"/>
          </p:cNvSpPr>
          <p:nvPr>
            <p:ph type="body" idx="1"/>
          </p:nvPr>
        </p:nvSpPr>
        <p:spPr>
          <a:xfrm>
            <a:off x="1653702" y="1444559"/>
            <a:ext cx="8884596" cy="4314215"/>
          </a:xfrm>
          <a:ln w="38100">
            <a:solidFill>
              <a:schemeClr val="tx1"/>
            </a:solidFill>
          </a:ln>
        </p:spPr>
        <p:txBody>
          <a:bodyPr>
            <a:normAutofit fontScale="92500" lnSpcReduction="20000"/>
          </a:bodyPr>
          <a:lstStyle/>
          <a:p>
            <a:pPr marL="609600" indent="-609600">
              <a:lnSpc>
                <a:spcPct val="120000"/>
              </a:lnSpc>
              <a:spcBef>
                <a:spcPts val="0"/>
              </a:spcBef>
              <a:buNone/>
            </a:pPr>
            <a:endParaRPr lang="el-GR" altLang="en-US" sz="1800" dirty="0"/>
          </a:p>
          <a:p>
            <a:pPr marL="609600" indent="-609600">
              <a:lnSpc>
                <a:spcPct val="120000"/>
              </a:lnSpc>
              <a:spcBef>
                <a:spcPts val="0"/>
              </a:spcBef>
              <a:buNone/>
            </a:pPr>
            <a:r>
              <a:rPr lang="el-GR" altLang="en-US" sz="1800" dirty="0"/>
              <a:t>Ο επιστημονικός αλφαβητισμός χρησιμοποιείται ποικιλοτρόπως με έναν ή περισσότερους από τους ακόλουθους τρόπους:</a:t>
            </a:r>
          </a:p>
          <a:p>
            <a:pPr marL="609600" indent="-609600">
              <a:lnSpc>
                <a:spcPct val="120000"/>
              </a:lnSpc>
              <a:spcBef>
                <a:spcPts val="0"/>
              </a:spcBef>
              <a:buNone/>
            </a:pPr>
            <a:endParaRPr lang="el-GR" altLang="en-US" sz="1800" dirty="0"/>
          </a:p>
          <a:p>
            <a:pPr marL="609600" indent="-609600">
              <a:lnSpc>
                <a:spcPct val="120000"/>
              </a:lnSpc>
              <a:spcBef>
                <a:spcPts val="0"/>
              </a:spcBef>
              <a:buNone/>
            </a:pPr>
            <a:r>
              <a:rPr lang="el-GR" altLang="en-US" sz="1000" dirty="0"/>
              <a:t> </a:t>
            </a:r>
            <a:r>
              <a:rPr lang="el-GR" altLang="en-US" sz="1800" dirty="0"/>
              <a:t>(α) Γνώση του ουσιαστικού περιεχομένου της επιστήμης και ικανότητα να διακρίνεται  η επιστήμη από τη μη επιστήμη (</a:t>
            </a:r>
            <a:r>
              <a:rPr lang="en-GB" altLang="en-US" sz="1800" dirty="0"/>
              <a:t>CMEC</a:t>
            </a:r>
            <a:r>
              <a:rPr lang="el-GR" altLang="en-US" sz="1800" dirty="0"/>
              <a:t> 1997, </a:t>
            </a:r>
            <a:r>
              <a:rPr lang="en-GB" altLang="en-US" sz="1800" dirty="0"/>
              <a:t>Mayer</a:t>
            </a:r>
            <a:r>
              <a:rPr lang="el-GR" altLang="en-US" sz="1800" dirty="0"/>
              <a:t> 1997, </a:t>
            </a:r>
            <a:r>
              <a:rPr lang="en-GB" altLang="en-US" sz="1800" dirty="0"/>
              <a:t>N</a:t>
            </a:r>
            <a:r>
              <a:rPr lang="en-US" altLang="en-US" sz="1800" dirty="0"/>
              <a:t>RC</a:t>
            </a:r>
            <a:r>
              <a:rPr lang="el-GR" altLang="en-US" sz="1800" dirty="0"/>
              <a:t> 1996, </a:t>
            </a:r>
            <a:r>
              <a:rPr lang="en-GB" altLang="en-US" sz="1800" dirty="0"/>
              <a:t>Shortland</a:t>
            </a:r>
            <a:r>
              <a:rPr lang="el-GR" altLang="en-US" sz="1800" dirty="0"/>
              <a:t> 1988) </a:t>
            </a:r>
          </a:p>
          <a:p>
            <a:pPr marL="609600" indent="-609600">
              <a:lnSpc>
                <a:spcPct val="120000"/>
              </a:lnSpc>
              <a:spcBef>
                <a:spcPts val="0"/>
              </a:spcBef>
              <a:buNone/>
            </a:pPr>
            <a:endParaRPr lang="el-GR" altLang="en-US" sz="1800" dirty="0"/>
          </a:p>
          <a:p>
            <a:pPr marL="609600" indent="-609600">
              <a:lnSpc>
                <a:spcPct val="120000"/>
              </a:lnSpc>
              <a:spcBef>
                <a:spcPts val="0"/>
              </a:spcBef>
              <a:buNone/>
            </a:pPr>
            <a:r>
              <a:rPr lang="el-GR" altLang="en-US" sz="1800" dirty="0"/>
              <a:t>(β) Κατανόηση της επιστήμης και των εφαρμογών της (</a:t>
            </a:r>
            <a:r>
              <a:rPr lang="en-GB" altLang="en-US" sz="1800" dirty="0"/>
              <a:t>DeBoer</a:t>
            </a:r>
            <a:r>
              <a:rPr lang="el-GR" altLang="en-US" sz="1800" dirty="0"/>
              <a:t>, 2000 </a:t>
            </a:r>
            <a:r>
              <a:rPr lang="en-GB" altLang="en-US" sz="1800" dirty="0" err="1"/>
              <a:t>Eisenhart</a:t>
            </a:r>
            <a:r>
              <a:rPr lang="el-GR" altLang="en-US" sz="1800" dirty="0"/>
              <a:t>, </a:t>
            </a:r>
            <a:r>
              <a:rPr lang="en-GB" altLang="en-US" sz="1800" dirty="0"/>
              <a:t>Finkel</a:t>
            </a:r>
            <a:r>
              <a:rPr lang="el-GR" altLang="en-US" sz="1800" dirty="0"/>
              <a:t> &amp; </a:t>
            </a:r>
            <a:r>
              <a:rPr lang="en-GB" altLang="en-US" sz="1800" dirty="0"/>
              <a:t>Marion</a:t>
            </a:r>
            <a:r>
              <a:rPr lang="el-GR" altLang="en-US" sz="1800" dirty="0"/>
              <a:t>, 1996 </a:t>
            </a:r>
            <a:r>
              <a:rPr lang="en-GB" altLang="en-US" sz="1800" dirty="0"/>
              <a:t>Hurd</a:t>
            </a:r>
            <a:r>
              <a:rPr lang="el-GR" altLang="en-US" sz="1800" dirty="0"/>
              <a:t>, 1998 </a:t>
            </a:r>
            <a:r>
              <a:rPr lang="en-GB" altLang="en-US" sz="1800" dirty="0"/>
              <a:t>Shen</a:t>
            </a:r>
            <a:r>
              <a:rPr lang="el-GR" altLang="en-US" sz="1800" dirty="0"/>
              <a:t>, 1975 </a:t>
            </a:r>
            <a:r>
              <a:rPr lang="en-GB" altLang="en-US" sz="1800" dirty="0"/>
              <a:t>Shortland</a:t>
            </a:r>
            <a:r>
              <a:rPr lang="el-GR" altLang="en-US" sz="1800" dirty="0"/>
              <a:t>, 1988)</a:t>
            </a:r>
          </a:p>
          <a:p>
            <a:pPr marL="609600" indent="-609600">
              <a:lnSpc>
                <a:spcPct val="120000"/>
              </a:lnSpc>
              <a:spcBef>
                <a:spcPts val="0"/>
              </a:spcBef>
              <a:buNone/>
            </a:pPr>
            <a:endParaRPr lang="el-GR" altLang="en-US" sz="1800" dirty="0"/>
          </a:p>
          <a:p>
            <a:pPr marL="609600" indent="-609600">
              <a:lnSpc>
                <a:spcPct val="120000"/>
              </a:lnSpc>
              <a:spcBef>
                <a:spcPts val="0"/>
              </a:spcBef>
              <a:buNone/>
            </a:pPr>
            <a:r>
              <a:rPr lang="el-GR" altLang="en-US" sz="1800" dirty="0"/>
              <a:t> (γ) Γνώση του τι μετρά ως επιστήμη (</a:t>
            </a:r>
            <a:r>
              <a:rPr lang="en-GB" altLang="en-US" sz="1800" dirty="0"/>
              <a:t>DeBoer</a:t>
            </a:r>
            <a:r>
              <a:rPr lang="el-GR" altLang="en-US" sz="1800" dirty="0"/>
              <a:t> 2000</a:t>
            </a:r>
            <a:r>
              <a:rPr lang="el-GR" altLang="en-US" sz="1800" dirty="0">
                <a:hlinkClick r:id="" action="ppaction://noaction"/>
              </a:rPr>
              <a:t>]</a:t>
            </a:r>
            <a:r>
              <a:rPr lang="el-GR" altLang="en-US" sz="1800" dirty="0"/>
              <a:t>, </a:t>
            </a:r>
            <a:r>
              <a:rPr lang="en-GB" altLang="en-US" sz="1800" dirty="0"/>
              <a:t>Hurd</a:t>
            </a:r>
            <a:r>
              <a:rPr lang="el-GR" altLang="en-US" sz="1800" dirty="0"/>
              <a:t>, 1998 </a:t>
            </a:r>
            <a:r>
              <a:rPr lang="en-GB" altLang="en-US" sz="1800" dirty="0"/>
              <a:t>Kyle</a:t>
            </a:r>
            <a:r>
              <a:rPr lang="el-GR" altLang="en-US" sz="1800" dirty="0"/>
              <a:t>, 1995</a:t>
            </a:r>
            <a:r>
              <a:rPr lang="en-GB" altLang="en-US" sz="1800" dirty="0"/>
              <a:t>a</a:t>
            </a:r>
            <a:r>
              <a:rPr lang="el-GR" altLang="en-US" sz="1800" dirty="0"/>
              <a:t>, 1995</a:t>
            </a:r>
            <a:r>
              <a:rPr lang="en-GB" altLang="en-US" sz="1800" dirty="0"/>
              <a:t>b</a:t>
            </a:r>
            <a:r>
              <a:rPr lang="el-GR" altLang="en-US" sz="1800" dirty="0"/>
              <a:t>; </a:t>
            </a:r>
            <a:r>
              <a:rPr lang="en-GB" altLang="en-US" sz="1800" dirty="0"/>
              <a:t>Lee</a:t>
            </a:r>
            <a:r>
              <a:rPr lang="el-GR" altLang="en-US" sz="1800" dirty="0"/>
              <a:t>,1997)</a:t>
            </a:r>
          </a:p>
          <a:p>
            <a:pPr marL="609600" indent="-609600">
              <a:lnSpc>
                <a:spcPct val="120000"/>
              </a:lnSpc>
              <a:spcBef>
                <a:spcPts val="0"/>
              </a:spcBef>
              <a:buNone/>
            </a:pPr>
            <a:endParaRPr lang="el-GR" altLang="en-US" sz="1800" dirty="0"/>
          </a:p>
          <a:p>
            <a:pPr marL="609600" indent="-609600">
              <a:lnSpc>
                <a:spcPct val="120000"/>
              </a:lnSpc>
              <a:spcBef>
                <a:spcPts val="0"/>
              </a:spcBef>
              <a:buNone/>
            </a:pPr>
            <a:r>
              <a:rPr lang="el-GR" altLang="en-US" sz="1800" dirty="0"/>
              <a:t> (δ) Ανεξαρτησία στην εκμάθηση της επιστήμης (</a:t>
            </a:r>
            <a:r>
              <a:rPr lang="en-GB" altLang="en-US" sz="1800" dirty="0" err="1"/>
              <a:t>Sutman</a:t>
            </a:r>
            <a:r>
              <a:rPr lang="el-GR" altLang="en-US" sz="1800" dirty="0"/>
              <a:t> 1996)</a:t>
            </a:r>
          </a:p>
          <a:p>
            <a:pPr marL="609600" indent="-609600">
              <a:lnSpc>
                <a:spcPct val="120000"/>
              </a:lnSpc>
              <a:spcBef>
                <a:spcPts val="0"/>
              </a:spcBef>
              <a:buNone/>
            </a:pPr>
            <a:endParaRPr lang="el-GR" altLang="en-US" sz="1800" dirty="0"/>
          </a:p>
          <a:p>
            <a:pPr marL="609600" indent="-609600">
              <a:lnSpc>
                <a:spcPct val="120000"/>
              </a:lnSpc>
              <a:spcBef>
                <a:spcPts val="0"/>
              </a:spcBef>
              <a:buNone/>
            </a:pPr>
            <a:r>
              <a:rPr lang="el-GR" altLang="en-US" sz="1800" dirty="0"/>
              <a:t> (ε) Ικανότητα για επιστημονική σκέψη  (</a:t>
            </a:r>
            <a:r>
              <a:rPr lang="en-GB" altLang="en-US" sz="1800" dirty="0"/>
              <a:t>DeBoer</a:t>
            </a:r>
            <a:r>
              <a:rPr lang="el-GR" altLang="en-US" sz="1800" dirty="0"/>
              <a:t> 2000)</a:t>
            </a:r>
          </a:p>
          <a:p>
            <a:pPr marL="609600" indent="-609600">
              <a:lnSpc>
                <a:spcPct val="120000"/>
              </a:lnSpc>
              <a:spcBef>
                <a:spcPts val="0"/>
              </a:spcBef>
              <a:buNone/>
            </a:pPr>
            <a:r>
              <a:rPr lang="el-GR" altLang="en-US" sz="1800" dirty="0"/>
              <a:t> </a:t>
            </a:r>
          </a:p>
        </p:txBody>
      </p:sp>
      <p:sp>
        <p:nvSpPr>
          <p:cNvPr id="5" name="Footer Placeholder 4">
            <a:extLst>
              <a:ext uri="{FF2B5EF4-FFF2-40B4-BE49-F238E27FC236}">
                <a16:creationId xmlns:a16="http://schemas.microsoft.com/office/drawing/2014/main" id="{8EBBEDAF-4C7A-49A8-A77E-6D66756D038F}"/>
              </a:ext>
            </a:extLst>
          </p:cNvPr>
          <p:cNvSpPr>
            <a:spLocks noGrp="1"/>
          </p:cNvSpPr>
          <p:nvPr>
            <p:ph type="ftr" sz="quarter" idx="11"/>
          </p:nvPr>
        </p:nvSpPr>
        <p:spPr>
          <a:xfrm>
            <a:off x="4038600" y="6356350"/>
            <a:ext cx="4114800" cy="365125"/>
          </a:xfrm>
        </p:spPr>
        <p:txBody>
          <a:bodyPr/>
          <a:lstStyle/>
          <a:p>
            <a:r>
              <a:rPr lang="el-GR" dirty="0">
                <a:solidFill>
                  <a:schemeClr val="tx2">
                    <a:lumMod val="50000"/>
                  </a:schemeClr>
                </a:solidFill>
                <a:latin typeface="Tahoma" pitchFamily="34" charset="0"/>
                <a:ea typeface="Tahoma" pitchFamily="34" charset="0"/>
                <a:cs typeface="Tahoma" pitchFamily="34" charset="0"/>
              </a:rPr>
              <a:t>Παναγιώτης </a:t>
            </a:r>
            <a:r>
              <a:rPr lang="el-GR" dirty="0" err="1">
                <a:solidFill>
                  <a:schemeClr val="tx2">
                    <a:lumMod val="50000"/>
                  </a:schemeClr>
                </a:solidFill>
                <a:latin typeface="Tahoma" pitchFamily="34" charset="0"/>
                <a:ea typeface="Tahoma" pitchFamily="34" charset="0"/>
                <a:cs typeface="Tahoma" pitchFamily="34" charset="0"/>
              </a:rPr>
              <a:t>Πήλιουρας</a:t>
            </a:r>
            <a:r>
              <a:rPr lang="el-GR" dirty="0">
                <a:solidFill>
                  <a:schemeClr val="tx2">
                    <a:lumMod val="50000"/>
                  </a:schemeClr>
                </a:solidFill>
                <a:latin typeface="Tahoma" pitchFamily="34" charset="0"/>
                <a:ea typeface="Tahoma" pitchFamily="34" charset="0"/>
                <a:cs typeface="Tahoma" pitchFamily="34" charset="0"/>
              </a:rPr>
              <a:t> @ Θ.Ε. ΕΚΠ63 1</a:t>
            </a:r>
            <a:r>
              <a:rPr lang="el-GR" baseline="30000" dirty="0">
                <a:solidFill>
                  <a:schemeClr val="tx2">
                    <a:lumMod val="50000"/>
                  </a:schemeClr>
                </a:solidFill>
                <a:latin typeface="Tahoma" pitchFamily="34" charset="0"/>
                <a:ea typeface="Tahoma" pitchFamily="34" charset="0"/>
                <a:cs typeface="Tahoma" pitchFamily="34" charset="0"/>
              </a:rPr>
              <a:t>Η</a:t>
            </a:r>
            <a:r>
              <a:rPr lang="el-GR" dirty="0">
                <a:solidFill>
                  <a:schemeClr val="tx2">
                    <a:lumMod val="50000"/>
                  </a:schemeClr>
                </a:solidFill>
                <a:latin typeface="Tahoma" pitchFamily="34" charset="0"/>
                <a:ea typeface="Tahoma" pitchFamily="34" charset="0"/>
                <a:cs typeface="Tahoma" pitchFamily="34" charset="0"/>
              </a:rPr>
              <a:t> ΟΣΣ 2020-21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a:extLst>
              <a:ext uri="{FF2B5EF4-FFF2-40B4-BE49-F238E27FC236}">
                <a16:creationId xmlns:a16="http://schemas.microsoft.com/office/drawing/2014/main" id="{4D6AAE43-E4E1-4B84-BC65-4D1EF021D134}"/>
              </a:ext>
            </a:extLst>
          </p:cNvPr>
          <p:cNvSpPr>
            <a:spLocks noGrp="1" noChangeArrowheads="1"/>
          </p:cNvSpPr>
          <p:nvPr>
            <p:ph type="title"/>
          </p:nvPr>
        </p:nvSpPr>
        <p:spPr/>
        <p:txBody>
          <a:bodyPr/>
          <a:lstStyle/>
          <a:p>
            <a:r>
              <a:rPr lang="el-GR" altLang="en-US" sz="2400" b="1" i="1" dirty="0">
                <a:solidFill>
                  <a:srgbClr val="000066"/>
                </a:solidFill>
              </a:rPr>
              <a:t>Όψεις επίτευξης επιστημονικού </a:t>
            </a:r>
            <a:r>
              <a:rPr lang="el-GR" altLang="en-US" sz="2400" b="1" i="1" dirty="0" err="1">
                <a:solidFill>
                  <a:srgbClr val="000066"/>
                </a:solidFill>
              </a:rPr>
              <a:t>εγγραμματισμού</a:t>
            </a:r>
            <a:r>
              <a:rPr lang="el-GR" altLang="en-US" sz="2400" b="1" i="1" dirty="0">
                <a:solidFill>
                  <a:srgbClr val="000066"/>
                </a:solidFill>
              </a:rPr>
              <a:t> (2)</a:t>
            </a:r>
            <a:br>
              <a:rPr lang="el-GR" altLang="en-US" sz="2400" b="1" i="1" dirty="0">
                <a:solidFill>
                  <a:srgbClr val="000066"/>
                </a:solidFill>
              </a:rPr>
            </a:br>
            <a:endParaRPr lang="el-GR" altLang="en-US" sz="2400" b="1" i="1" dirty="0">
              <a:solidFill>
                <a:srgbClr val="000066"/>
              </a:solidFill>
            </a:endParaRPr>
          </a:p>
        </p:txBody>
      </p:sp>
      <p:sp>
        <p:nvSpPr>
          <p:cNvPr id="395267" name="Rectangle 3">
            <a:extLst>
              <a:ext uri="{FF2B5EF4-FFF2-40B4-BE49-F238E27FC236}">
                <a16:creationId xmlns:a16="http://schemas.microsoft.com/office/drawing/2014/main" id="{979B21FD-0885-4B75-9F25-6028C0FC45A6}"/>
              </a:ext>
            </a:extLst>
          </p:cNvPr>
          <p:cNvSpPr>
            <a:spLocks noGrp="1" noChangeArrowheads="1"/>
          </p:cNvSpPr>
          <p:nvPr>
            <p:ph type="body" idx="1"/>
          </p:nvPr>
        </p:nvSpPr>
        <p:spPr>
          <a:xfrm>
            <a:off x="1981200" y="1391685"/>
            <a:ext cx="8229600" cy="4921570"/>
          </a:xfrm>
          <a:ln w="50800">
            <a:solidFill>
              <a:schemeClr val="tx1"/>
            </a:solidFill>
          </a:ln>
        </p:spPr>
        <p:txBody>
          <a:bodyPr/>
          <a:lstStyle/>
          <a:p>
            <a:pPr marL="609600" indent="-609600">
              <a:lnSpc>
                <a:spcPct val="80000"/>
              </a:lnSpc>
              <a:buNone/>
            </a:pPr>
            <a:endParaRPr lang="el-GR" altLang="en-US" sz="1600" dirty="0"/>
          </a:p>
          <a:p>
            <a:pPr marL="609600" indent="-609600">
              <a:lnSpc>
                <a:spcPct val="80000"/>
              </a:lnSpc>
              <a:buNone/>
            </a:pPr>
            <a:r>
              <a:rPr lang="el-GR" altLang="en-US" sz="1600" dirty="0"/>
              <a:t> (</a:t>
            </a:r>
            <a:r>
              <a:rPr lang="el-GR" altLang="en-US" sz="1600" dirty="0" err="1"/>
              <a:t>στ</a:t>
            </a:r>
            <a:r>
              <a:rPr lang="el-GR" altLang="en-US" sz="1600" dirty="0"/>
              <a:t>) Δυνατότητα να χρησιμοποιηθεί η επιστημονική γνώση στην επίλυση ενός προβλήματος (</a:t>
            </a:r>
            <a:r>
              <a:rPr lang="en-GB" altLang="en-US" sz="1600" dirty="0"/>
              <a:t>AAAS</a:t>
            </a:r>
            <a:r>
              <a:rPr lang="el-GR" altLang="en-US" sz="1600" dirty="0"/>
              <a:t> 1989</a:t>
            </a:r>
            <a:r>
              <a:rPr lang="el-GR" altLang="en-US" sz="1600" dirty="0">
                <a:hlinkClick r:id="" action="ppaction://noaction"/>
              </a:rPr>
              <a:t>]</a:t>
            </a:r>
            <a:r>
              <a:rPr lang="el-GR" altLang="en-US" sz="1600" dirty="0"/>
              <a:t>, 1993, </a:t>
            </a:r>
            <a:r>
              <a:rPr lang="en-GB" altLang="en-US" sz="1600" dirty="0"/>
              <a:t>NRC</a:t>
            </a:r>
            <a:r>
              <a:rPr lang="el-GR" altLang="en-US" sz="1600" dirty="0"/>
              <a:t> 1996)</a:t>
            </a:r>
          </a:p>
          <a:p>
            <a:pPr marL="609600" indent="-609600">
              <a:lnSpc>
                <a:spcPct val="80000"/>
              </a:lnSpc>
              <a:buNone/>
            </a:pPr>
            <a:endParaRPr lang="el-GR" altLang="en-US" sz="1600" dirty="0"/>
          </a:p>
          <a:p>
            <a:pPr marL="609600" indent="-609600">
              <a:lnSpc>
                <a:spcPct val="80000"/>
              </a:lnSpc>
              <a:buNone/>
            </a:pPr>
            <a:r>
              <a:rPr lang="el-GR" altLang="en-US" sz="1600" dirty="0"/>
              <a:t> (ζ) Γνώση που απαιτείται για την μελετημένη</a:t>
            </a:r>
            <a:r>
              <a:rPr lang="el-GR" altLang="en-US" sz="1600" dirty="0">
                <a:solidFill>
                  <a:srgbClr val="0000CC"/>
                </a:solidFill>
              </a:rPr>
              <a:t> </a:t>
            </a:r>
            <a:r>
              <a:rPr lang="el-GR" altLang="en-US" sz="1600" dirty="0"/>
              <a:t>συμμετοχή σε διάφορα </a:t>
            </a:r>
            <a:r>
              <a:rPr lang="el-GR" altLang="en-US" sz="1600" dirty="0" err="1"/>
              <a:t>κοινωνικο</a:t>
            </a:r>
            <a:r>
              <a:rPr lang="el-GR" altLang="en-US" sz="1600" dirty="0"/>
              <a:t>-επιστημονικά ζητήματα (</a:t>
            </a:r>
            <a:r>
              <a:rPr lang="en-GB" altLang="en-US" sz="1600" dirty="0"/>
              <a:t>CMEC</a:t>
            </a:r>
            <a:r>
              <a:rPr lang="el-GR" altLang="en-US" sz="1600" dirty="0"/>
              <a:t> 1997, </a:t>
            </a:r>
            <a:r>
              <a:rPr lang="en-GB" altLang="en-US" sz="1600" dirty="0"/>
              <a:t>Millar</a:t>
            </a:r>
            <a:r>
              <a:rPr lang="el-GR" altLang="en-US" sz="1600" dirty="0"/>
              <a:t> &amp; </a:t>
            </a:r>
            <a:r>
              <a:rPr lang="en-GB" altLang="en-US" sz="1600" dirty="0"/>
              <a:t>Osborne</a:t>
            </a:r>
            <a:r>
              <a:rPr lang="el-GR" altLang="en-US" sz="1600" dirty="0"/>
              <a:t> 1998, </a:t>
            </a:r>
            <a:r>
              <a:rPr lang="en-GB" altLang="en-US" sz="1600" dirty="0"/>
              <a:t>NRC</a:t>
            </a:r>
            <a:r>
              <a:rPr lang="el-GR" altLang="en-US" sz="1600" dirty="0"/>
              <a:t> 1996)</a:t>
            </a:r>
          </a:p>
          <a:p>
            <a:pPr marL="609600" indent="-609600">
              <a:lnSpc>
                <a:spcPct val="80000"/>
              </a:lnSpc>
              <a:buNone/>
            </a:pPr>
            <a:endParaRPr lang="el-GR" altLang="en-US" sz="1600" dirty="0"/>
          </a:p>
          <a:p>
            <a:pPr marL="609600" indent="-609600">
              <a:lnSpc>
                <a:spcPct val="80000"/>
              </a:lnSpc>
              <a:buNone/>
            </a:pPr>
            <a:r>
              <a:rPr lang="el-GR" altLang="en-US" sz="1600" dirty="0"/>
              <a:t> (η) Κατανόηση της φύσης της επιστήμης, συμπεριλαμβανομένων των </a:t>
            </a:r>
            <a:r>
              <a:rPr lang="el-GR" altLang="en-US" sz="1600" dirty="0" err="1"/>
              <a:t>σχέσεών</a:t>
            </a:r>
            <a:r>
              <a:rPr lang="el-GR" altLang="en-US" sz="1600" dirty="0"/>
              <a:t> της με τον πολιτισμό (</a:t>
            </a:r>
            <a:r>
              <a:rPr lang="en-GB" altLang="en-US" sz="1600" dirty="0"/>
              <a:t>DeBoer</a:t>
            </a:r>
            <a:r>
              <a:rPr lang="el-GR" altLang="en-US" sz="1600" dirty="0"/>
              <a:t> 2000, </a:t>
            </a:r>
            <a:r>
              <a:rPr lang="en-GB" altLang="en-US" sz="1600" dirty="0"/>
              <a:t>Hanrahan</a:t>
            </a:r>
            <a:r>
              <a:rPr lang="el-GR" altLang="en-US" sz="1600" dirty="0"/>
              <a:t> 1999, </a:t>
            </a:r>
            <a:r>
              <a:rPr lang="en-GB" altLang="en-US" sz="1600" dirty="0"/>
              <a:t>Norman</a:t>
            </a:r>
            <a:r>
              <a:rPr lang="el-GR" altLang="en-US" sz="1600" dirty="0"/>
              <a:t> 1998)</a:t>
            </a:r>
          </a:p>
          <a:p>
            <a:pPr marL="609600" indent="-609600">
              <a:lnSpc>
                <a:spcPct val="80000"/>
              </a:lnSpc>
              <a:buNone/>
            </a:pPr>
            <a:endParaRPr lang="el-GR" altLang="en-US" sz="1600" dirty="0"/>
          </a:p>
          <a:p>
            <a:pPr marL="609600" indent="-609600">
              <a:lnSpc>
                <a:spcPct val="80000"/>
              </a:lnSpc>
              <a:buNone/>
            </a:pPr>
            <a:r>
              <a:rPr lang="el-GR" altLang="en-US" sz="1600" dirty="0"/>
              <a:t> (θ) Εκτίμηση της επιστήμης και των δυνατοτήτων της, ανάπτυξη της επιστημονικής νοοτροπίας (</a:t>
            </a:r>
            <a:r>
              <a:rPr lang="en-GB" altLang="en-US" sz="1600" dirty="0"/>
              <a:t>CMEC</a:t>
            </a:r>
            <a:r>
              <a:rPr lang="el-GR" altLang="en-US" sz="1600" dirty="0"/>
              <a:t>, 1997 </a:t>
            </a:r>
            <a:r>
              <a:rPr lang="en-GB" altLang="en-US" sz="1600" dirty="0"/>
              <a:t>Millar</a:t>
            </a:r>
            <a:r>
              <a:rPr lang="el-GR" altLang="en-US" sz="1600" dirty="0"/>
              <a:t>&amp;</a:t>
            </a:r>
            <a:r>
              <a:rPr lang="en-GB" altLang="en-US" sz="1600" dirty="0"/>
              <a:t>Osborne</a:t>
            </a:r>
            <a:r>
              <a:rPr lang="el-GR" altLang="en-US" sz="1600" dirty="0"/>
              <a:t> 1998, </a:t>
            </a:r>
            <a:r>
              <a:rPr lang="en-GB" altLang="en-US" sz="1600" dirty="0" err="1"/>
              <a:t>Shamos</a:t>
            </a:r>
            <a:r>
              <a:rPr lang="el-GR" altLang="en-US" sz="1600" dirty="0"/>
              <a:t>, 1995 </a:t>
            </a:r>
            <a:r>
              <a:rPr lang="en-GB" altLang="en-US" sz="1600" dirty="0"/>
              <a:t>Shen</a:t>
            </a:r>
            <a:r>
              <a:rPr lang="el-GR" altLang="en-US" sz="1600" dirty="0"/>
              <a:t>, 1975) </a:t>
            </a:r>
          </a:p>
          <a:p>
            <a:pPr marL="609600" indent="-609600">
              <a:lnSpc>
                <a:spcPct val="80000"/>
              </a:lnSpc>
              <a:buNone/>
            </a:pPr>
            <a:endParaRPr lang="el-GR" altLang="en-US" sz="1600" dirty="0"/>
          </a:p>
          <a:p>
            <a:pPr marL="609600" indent="-609600">
              <a:lnSpc>
                <a:spcPct val="80000"/>
              </a:lnSpc>
              <a:buNone/>
            </a:pPr>
            <a:r>
              <a:rPr lang="el-GR" altLang="en-US" sz="1600" dirty="0"/>
              <a:t>(ι) Γνώση των κινδύνων και των ωφελειών της επιστήμης (</a:t>
            </a:r>
            <a:r>
              <a:rPr lang="en-GB" altLang="en-US" sz="1600" dirty="0" err="1"/>
              <a:t>Shamos</a:t>
            </a:r>
            <a:r>
              <a:rPr lang="el-GR" altLang="en-US" sz="1600" dirty="0"/>
              <a:t>, 1995) ή </a:t>
            </a:r>
          </a:p>
          <a:p>
            <a:pPr marL="609600" indent="-609600">
              <a:lnSpc>
                <a:spcPct val="80000"/>
              </a:lnSpc>
              <a:buNone/>
            </a:pPr>
            <a:endParaRPr lang="el-GR" altLang="en-US" sz="1600" dirty="0"/>
          </a:p>
          <a:p>
            <a:pPr marL="609600" indent="-609600">
              <a:lnSpc>
                <a:spcPct val="80000"/>
              </a:lnSpc>
              <a:buNone/>
            </a:pPr>
            <a:r>
              <a:rPr lang="el-GR" altLang="en-US" sz="1600" dirty="0"/>
              <a:t>(κ) Δυνατότητα κριτικής σκέψης για την επιστήμη και να εξεταστεί η επιστημονική πείρα (</a:t>
            </a:r>
            <a:r>
              <a:rPr lang="en-GB" altLang="en-US" sz="1600" dirty="0" err="1"/>
              <a:t>Korpan</a:t>
            </a:r>
            <a:r>
              <a:rPr lang="en-GB" altLang="en-US" sz="1600" dirty="0"/>
              <a:t> et Al</a:t>
            </a:r>
            <a:r>
              <a:rPr lang="el-GR" altLang="en-US" sz="1600" dirty="0"/>
              <a:t> 1997, </a:t>
            </a:r>
            <a:r>
              <a:rPr lang="en-GB" altLang="en-US" sz="1600" dirty="0" err="1"/>
              <a:t>Shamos</a:t>
            </a:r>
            <a:r>
              <a:rPr lang="el-GR" altLang="en-US" sz="1600" dirty="0"/>
              <a:t> 1995).</a:t>
            </a:r>
          </a:p>
        </p:txBody>
      </p:sp>
      <p:sp>
        <p:nvSpPr>
          <p:cNvPr id="5" name="Footer Placeholder 4">
            <a:extLst>
              <a:ext uri="{FF2B5EF4-FFF2-40B4-BE49-F238E27FC236}">
                <a16:creationId xmlns:a16="http://schemas.microsoft.com/office/drawing/2014/main" id="{DBAC6EF7-F118-4FB7-840C-63A7A041DA3D}"/>
              </a:ext>
            </a:extLst>
          </p:cNvPr>
          <p:cNvSpPr>
            <a:spLocks noGrp="1"/>
          </p:cNvSpPr>
          <p:nvPr>
            <p:ph type="ftr" sz="quarter" idx="11"/>
          </p:nvPr>
        </p:nvSpPr>
        <p:spPr>
          <a:xfrm>
            <a:off x="4038600" y="6356350"/>
            <a:ext cx="4114800" cy="365125"/>
          </a:xfrm>
        </p:spPr>
        <p:txBody>
          <a:bodyPr/>
          <a:lstStyle/>
          <a:p>
            <a:r>
              <a:rPr lang="el-GR" dirty="0">
                <a:solidFill>
                  <a:schemeClr val="tx2">
                    <a:lumMod val="50000"/>
                  </a:schemeClr>
                </a:solidFill>
                <a:latin typeface="Tahoma" pitchFamily="34" charset="0"/>
                <a:ea typeface="Tahoma" pitchFamily="34" charset="0"/>
                <a:cs typeface="Tahoma" pitchFamily="34" charset="0"/>
              </a:rPr>
              <a:t>Παναγιώτης </a:t>
            </a:r>
            <a:r>
              <a:rPr lang="el-GR" dirty="0" err="1">
                <a:solidFill>
                  <a:schemeClr val="tx2">
                    <a:lumMod val="50000"/>
                  </a:schemeClr>
                </a:solidFill>
                <a:latin typeface="Tahoma" pitchFamily="34" charset="0"/>
                <a:ea typeface="Tahoma" pitchFamily="34" charset="0"/>
                <a:cs typeface="Tahoma" pitchFamily="34" charset="0"/>
              </a:rPr>
              <a:t>Πήλιουρας</a:t>
            </a:r>
            <a:r>
              <a:rPr lang="el-GR" dirty="0">
                <a:solidFill>
                  <a:schemeClr val="tx2">
                    <a:lumMod val="50000"/>
                  </a:schemeClr>
                </a:solidFill>
                <a:latin typeface="Tahoma" pitchFamily="34" charset="0"/>
                <a:ea typeface="Tahoma" pitchFamily="34" charset="0"/>
                <a:cs typeface="Tahoma" pitchFamily="34" charset="0"/>
              </a:rPr>
              <a:t> @ Θ.Ε. ΕΚΠ63 1</a:t>
            </a:r>
            <a:r>
              <a:rPr lang="el-GR" baseline="30000" dirty="0">
                <a:solidFill>
                  <a:schemeClr val="tx2">
                    <a:lumMod val="50000"/>
                  </a:schemeClr>
                </a:solidFill>
                <a:latin typeface="Tahoma" pitchFamily="34" charset="0"/>
                <a:ea typeface="Tahoma" pitchFamily="34" charset="0"/>
                <a:cs typeface="Tahoma" pitchFamily="34" charset="0"/>
              </a:rPr>
              <a:t>Η</a:t>
            </a:r>
            <a:r>
              <a:rPr lang="el-GR" dirty="0">
                <a:solidFill>
                  <a:schemeClr val="tx2">
                    <a:lumMod val="50000"/>
                  </a:schemeClr>
                </a:solidFill>
                <a:latin typeface="Tahoma" pitchFamily="34" charset="0"/>
                <a:ea typeface="Tahoma" pitchFamily="34" charset="0"/>
                <a:cs typeface="Tahoma" pitchFamily="34" charset="0"/>
              </a:rPr>
              <a:t> ΟΣΣ 2020-21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3698" name="Rectangle 2">
            <a:extLst>
              <a:ext uri="{FF2B5EF4-FFF2-40B4-BE49-F238E27FC236}">
                <a16:creationId xmlns:a16="http://schemas.microsoft.com/office/drawing/2014/main" id="{AF66C788-F2F3-46BF-A22B-AFF4B7E1AFBD}"/>
              </a:ext>
            </a:extLst>
          </p:cNvPr>
          <p:cNvSpPr>
            <a:spLocks noGrp="1" noChangeArrowheads="1"/>
          </p:cNvSpPr>
          <p:nvPr>
            <p:ph type="title"/>
          </p:nvPr>
        </p:nvSpPr>
        <p:spPr/>
        <p:txBody>
          <a:bodyPr/>
          <a:lstStyle/>
          <a:p>
            <a:r>
              <a:rPr lang="el-GR" altLang="en-US" sz="2800" i="1">
                <a:solidFill>
                  <a:srgbClr val="000066"/>
                </a:solidFill>
              </a:rPr>
              <a:t>Τελικά τι είδους επιστημονικό γραμματισμό διδάσκουμε στην πράξη;</a:t>
            </a:r>
          </a:p>
        </p:txBody>
      </p:sp>
      <p:sp>
        <p:nvSpPr>
          <p:cNvPr id="413699" name="Rectangle 3">
            <a:extLst>
              <a:ext uri="{FF2B5EF4-FFF2-40B4-BE49-F238E27FC236}">
                <a16:creationId xmlns:a16="http://schemas.microsoft.com/office/drawing/2014/main" id="{F857065C-668D-462E-BFD6-119EE4CCDDDD}"/>
              </a:ext>
            </a:extLst>
          </p:cNvPr>
          <p:cNvSpPr>
            <a:spLocks noGrp="1" noChangeArrowheads="1"/>
          </p:cNvSpPr>
          <p:nvPr>
            <p:ph type="body" idx="1"/>
          </p:nvPr>
        </p:nvSpPr>
        <p:spPr>
          <a:xfrm>
            <a:off x="1955259" y="2068816"/>
            <a:ext cx="8657617" cy="3913694"/>
          </a:xfrm>
          <a:ln w="50800">
            <a:solidFill>
              <a:schemeClr val="tx1"/>
            </a:solidFill>
          </a:ln>
        </p:spPr>
        <p:txBody>
          <a:bodyPr/>
          <a:lstStyle/>
          <a:p>
            <a:pPr>
              <a:lnSpc>
                <a:spcPct val="80000"/>
              </a:lnSpc>
              <a:buFontTx/>
              <a:buNone/>
            </a:pPr>
            <a:r>
              <a:rPr lang="el-GR" altLang="en-US" sz="2400" dirty="0"/>
              <a:t>«Ακόμα, τα μαθήματα των Φυσικών Επιστημών συνεχίζουν να αποτελούν οχήματα που εισάγουν τους μαθητές στον κόσμο των επιστημόνων χωρίς να τους βοηθούν να αντιμετωπίσουν τον κόσμο τους»</a:t>
            </a:r>
          </a:p>
          <a:p>
            <a:pPr>
              <a:lnSpc>
                <a:spcPct val="80000"/>
              </a:lnSpc>
              <a:buFontTx/>
              <a:buNone/>
            </a:pPr>
            <a:r>
              <a:rPr lang="el-GR" altLang="en-US" sz="1800" i="1" dirty="0"/>
              <a:t>(</a:t>
            </a:r>
            <a:r>
              <a:rPr lang="en-GB" altLang="en-US" sz="1800" i="1" dirty="0" err="1"/>
              <a:t>Fourez</a:t>
            </a:r>
            <a:r>
              <a:rPr lang="el-GR" altLang="en-US" sz="1800" i="1" dirty="0"/>
              <a:t> 1997, </a:t>
            </a:r>
            <a:r>
              <a:rPr lang="en-GB" altLang="en-US" sz="1800" i="1" dirty="0" err="1"/>
              <a:t>Eisenhart</a:t>
            </a:r>
            <a:r>
              <a:rPr lang="el-GR" altLang="en-US" sz="1800" i="1" dirty="0"/>
              <a:t>, </a:t>
            </a:r>
            <a:r>
              <a:rPr lang="en-GB" altLang="en-US" sz="1800" i="1" dirty="0"/>
              <a:t>Finkel</a:t>
            </a:r>
            <a:r>
              <a:rPr lang="el-GR" altLang="en-US" sz="1800" i="1" dirty="0"/>
              <a:t>, και  </a:t>
            </a:r>
            <a:r>
              <a:rPr lang="en-GB" altLang="en-US" sz="1800" i="1" dirty="0"/>
              <a:t>Marion</a:t>
            </a:r>
            <a:r>
              <a:rPr lang="el-GR" altLang="en-US" sz="1800" i="1" dirty="0"/>
              <a:t> 1996) </a:t>
            </a:r>
            <a:br>
              <a:rPr lang="el-GR" altLang="en-US" sz="1800" i="1" dirty="0"/>
            </a:br>
            <a:endParaRPr lang="el-GR" altLang="en-US" sz="1800" i="1" dirty="0"/>
          </a:p>
          <a:p>
            <a:pPr>
              <a:lnSpc>
                <a:spcPct val="80000"/>
              </a:lnSpc>
              <a:buFontTx/>
              <a:buNone/>
            </a:pPr>
            <a:endParaRPr lang="el-GR" altLang="en-US" sz="1800" i="1" dirty="0"/>
          </a:p>
          <a:p>
            <a:pPr>
              <a:lnSpc>
                <a:spcPct val="80000"/>
              </a:lnSpc>
              <a:buFontTx/>
              <a:buNone/>
            </a:pPr>
            <a:r>
              <a:rPr lang="el-GR" altLang="en-US" sz="2400" i="1" dirty="0"/>
              <a:t>«Παρά τις τεράστιες προσπάθειες που γίνονται , οι εκπαιδευτικές μεταρρυθμίσεις έχουν αποτύχει ως επί το </a:t>
            </a:r>
            <a:r>
              <a:rPr lang="el-GR" altLang="en-US" sz="2400" i="1" dirty="0" err="1"/>
              <a:t>πλείστον</a:t>
            </a:r>
            <a:r>
              <a:rPr lang="el-GR" altLang="en-US" sz="2400" i="1" dirty="0"/>
              <a:t> να παραγάγουν επιστημονικά  εγγράμματους πολίτες» </a:t>
            </a:r>
          </a:p>
          <a:p>
            <a:pPr>
              <a:lnSpc>
                <a:spcPct val="80000"/>
              </a:lnSpc>
              <a:buFontTx/>
              <a:buNone/>
            </a:pPr>
            <a:r>
              <a:rPr lang="en-GB" altLang="en-US" sz="1600" i="1" dirty="0" err="1"/>
              <a:t>Shamos</a:t>
            </a:r>
            <a:r>
              <a:rPr lang="en-GB" altLang="en-US" sz="1600" i="1" dirty="0"/>
              <a:t>, A. (1995). The myth of scientific literacy. New Brunswick, NJ: Rutgers University Press.</a:t>
            </a:r>
            <a:endParaRPr lang="el-GR" altLang="en-US" sz="1600" i="1" dirty="0"/>
          </a:p>
        </p:txBody>
      </p:sp>
      <p:sp>
        <p:nvSpPr>
          <p:cNvPr id="4" name="Footer Placeholder 4">
            <a:extLst>
              <a:ext uri="{FF2B5EF4-FFF2-40B4-BE49-F238E27FC236}">
                <a16:creationId xmlns:a16="http://schemas.microsoft.com/office/drawing/2014/main" id="{2CB255C5-A379-4982-9C35-2283D05C0A9F}"/>
              </a:ext>
            </a:extLst>
          </p:cNvPr>
          <p:cNvSpPr>
            <a:spLocks noGrp="1"/>
          </p:cNvSpPr>
          <p:nvPr>
            <p:ph type="ftr" sz="quarter" idx="11"/>
          </p:nvPr>
        </p:nvSpPr>
        <p:spPr>
          <a:xfrm>
            <a:off x="4038600" y="6356350"/>
            <a:ext cx="4114800" cy="365125"/>
          </a:xfrm>
        </p:spPr>
        <p:txBody>
          <a:bodyPr/>
          <a:lstStyle/>
          <a:p>
            <a:r>
              <a:rPr lang="el-GR" dirty="0">
                <a:solidFill>
                  <a:schemeClr val="tx2">
                    <a:lumMod val="50000"/>
                  </a:schemeClr>
                </a:solidFill>
                <a:latin typeface="Tahoma" pitchFamily="34" charset="0"/>
                <a:ea typeface="Tahoma" pitchFamily="34" charset="0"/>
                <a:cs typeface="Tahoma" pitchFamily="34" charset="0"/>
              </a:rPr>
              <a:t>Παναγιώτης </a:t>
            </a:r>
            <a:r>
              <a:rPr lang="el-GR" dirty="0" err="1">
                <a:solidFill>
                  <a:schemeClr val="tx2">
                    <a:lumMod val="50000"/>
                  </a:schemeClr>
                </a:solidFill>
                <a:latin typeface="Tahoma" pitchFamily="34" charset="0"/>
                <a:ea typeface="Tahoma" pitchFamily="34" charset="0"/>
                <a:cs typeface="Tahoma" pitchFamily="34" charset="0"/>
              </a:rPr>
              <a:t>Πήλιουρας</a:t>
            </a:r>
            <a:r>
              <a:rPr lang="el-GR" dirty="0">
                <a:solidFill>
                  <a:schemeClr val="tx2">
                    <a:lumMod val="50000"/>
                  </a:schemeClr>
                </a:solidFill>
                <a:latin typeface="Tahoma" pitchFamily="34" charset="0"/>
                <a:ea typeface="Tahoma" pitchFamily="34" charset="0"/>
                <a:cs typeface="Tahoma" pitchFamily="34" charset="0"/>
              </a:rPr>
              <a:t> @ Θ.Ε. ΕΚΠ63 1</a:t>
            </a:r>
            <a:r>
              <a:rPr lang="el-GR" baseline="30000" dirty="0">
                <a:solidFill>
                  <a:schemeClr val="tx2">
                    <a:lumMod val="50000"/>
                  </a:schemeClr>
                </a:solidFill>
                <a:latin typeface="Tahoma" pitchFamily="34" charset="0"/>
                <a:ea typeface="Tahoma" pitchFamily="34" charset="0"/>
                <a:cs typeface="Tahoma" pitchFamily="34" charset="0"/>
              </a:rPr>
              <a:t>Η</a:t>
            </a:r>
            <a:r>
              <a:rPr lang="el-GR" dirty="0">
                <a:solidFill>
                  <a:schemeClr val="tx2">
                    <a:lumMod val="50000"/>
                  </a:schemeClr>
                </a:solidFill>
                <a:latin typeface="Tahoma" pitchFamily="34" charset="0"/>
                <a:ea typeface="Tahoma" pitchFamily="34" charset="0"/>
                <a:cs typeface="Tahoma" pitchFamily="34" charset="0"/>
              </a:rPr>
              <a:t> ΟΣΣ 2020-21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369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369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3699">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1369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3699"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794" name="Rectangle 2">
            <a:extLst>
              <a:ext uri="{FF2B5EF4-FFF2-40B4-BE49-F238E27FC236}">
                <a16:creationId xmlns:a16="http://schemas.microsoft.com/office/drawing/2014/main" id="{E09D2B5E-3E1B-47CE-8EAB-E56619084D2E}"/>
              </a:ext>
            </a:extLst>
          </p:cNvPr>
          <p:cNvSpPr>
            <a:spLocks noGrp="1" noChangeArrowheads="1"/>
          </p:cNvSpPr>
          <p:nvPr>
            <p:ph type="body" idx="1"/>
          </p:nvPr>
        </p:nvSpPr>
        <p:spPr>
          <a:xfrm>
            <a:off x="2136843" y="1480868"/>
            <a:ext cx="8229600" cy="4525962"/>
          </a:xfrm>
          <a:ln w="50800">
            <a:solidFill>
              <a:schemeClr val="tx1"/>
            </a:solidFill>
          </a:ln>
        </p:spPr>
        <p:txBody>
          <a:bodyPr>
            <a:normAutofit fontScale="92500" lnSpcReduction="10000"/>
          </a:bodyPr>
          <a:lstStyle/>
          <a:p>
            <a:pPr algn="just">
              <a:lnSpc>
                <a:spcPct val="110000"/>
              </a:lnSpc>
              <a:spcBef>
                <a:spcPts val="0"/>
              </a:spcBef>
              <a:buFontTx/>
              <a:buNone/>
            </a:pPr>
            <a:r>
              <a:rPr lang="el-GR" altLang="en-US" sz="2400" i="1" dirty="0">
                <a:cs typeface="Times New Roman" panose="02020603050405020304" pitchFamily="18" charset="0"/>
              </a:rPr>
              <a:t>Πώς η διδασκαλία των Φυσικών Επιστημών (Φ.Ε.) καταφέρνει να αποξενώσει τόσους πολλούς μαθητές από τις Φ.Ε.; Πώς συμβαίνει τόσοι μαθητές που έρχονται σε επαφή με τις ΦΕ να διαμορφώνουν την άποψη πως οι ΦΕ δεν είναι για αυτούς, ότι είναι απρόσωπες και απόμακρες ή ότι αυτοί δεν έχουν την ικανότητα να τα καταφέρουν σ’ αυτές; Αυτό οφείλεται σε μια συγκεκριμένη αιτία. </a:t>
            </a:r>
            <a:endParaRPr lang="el-GR" altLang="en-US" sz="2400" i="1" dirty="0"/>
          </a:p>
          <a:p>
            <a:pPr algn="just">
              <a:lnSpc>
                <a:spcPct val="110000"/>
              </a:lnSpc>
              <a:spcBef>
                <a:spcPts val="0"/>
              </a:spcBef>
              <a:buFontTx/>
              <a:buNone/>
            </a:pPr>
            <a:endParaRPr lang="el-GR" altLang="en-US" sz="2400" i="1" dirty="0"/>
          </a:p>
          <a:p>
            <a:pPr algn="just">
              <a:lnSpc>
                <a:spcPct val="110000"/>
              </a:lnSpc>
              <a:spcBef>
                <a:spcPts val="0"/>
              </a:spcBef>
              <a:buFontTx/>
              <a:buNone/>
            </a:pPr>
            <a:r>
              <a:rPr lang="el-GR" altLang="en-US" sz="2400" i="1" dirty="0">
                <a:cs typeface="Times New Roman" panose="02020603050405020304" pitchFamily="18" charset="0"/>
              </a:rPr>
              <a:t>Η γλώσσα που μιλιέται στις τάξεις των Φυσικών Επιστημών δημιουργεί τη διαβρωτική και εσφαλμένη αντίθεση μεταξύ ενός κόσμου αντικειμενικών, εξουσιαστικών, απρόσωπων επιστημονικών γεγονότων και έναν κανονικό, προσωπικό κόσμο ανθρώπινων αβεβαιοτήτων, κρίσεων, αξιών και ενδιαφερόντων</a:t>
            </a:r>
            <a:r>
              <a:rPr lang="el-GR" altLang="en-US" sz="2400" i="1" dirty="0"/>
              <a:t>.</a:t>
            </a:r>
            <a:r>
              <a:rPr lang="el-GR" altLang="en-US" sz="2400" i="1" dirty="0">
                <a:cs typeface="Times New Roman" panose="02020603050405020304" pitchFamily="18" charset="0"/>
              </a:rPr>
              <a:t> </a:t>
            </a:r>
          </a:p>
          <a:p>
            <a:pPr algn="just">
              <a:lnSpc>
                <a:spcPct val="110000"/>
              </a:lnSpc>
              <a:spcBef>
                <a:spcPts val="0"/>
              </a:spcBef>
              <a:buFontTx/>
              <a:buNone/>
            </a:pPr>
            <a:r>
              <a:rPr lang="el-GR" altLang="en-US" sz="2400" i="1" dirty="0">
                <a:cs typeface="Times New Roman" panose="02020603050405020304" pitchFamily="18" charset="0"/>
              </a:rPr>
              <a:t>		                                         (</a:t>
            </a:r>
            <a:r>
              <a:rPr lang="el-GR" altLang="en-US" sz="2400" i="1" dirty="0" err="1">
                <a:cs typeface="Times New Roman" panose="02020603050405020304" pitchFamily="18" charset="0"/>
              </a:rPr>
              <a:t>Lemke</a:t>
            </a:r>
            <a:r>
              <a:rPr lang="el-GR" altLang="en-US" sz="2400" i="1" dirty="0">
                <a:cs typeface="Times New Roman" panose="02020603050405020304" pitchFamily="18" charset="0"/>
              </a:rPr>
              <a:t>, 1990, </a:t>
            </a:r>
            <a:r>
              <a:rPr lang="el-GR" altLang="en-US" sz="2400" i="1" dirty="0" err="1">
                <a:cs typeface="Times New Roman" panose="02020603050405020304" pitchFamily="18" charset="0"/>
              </a:rPr>
              <a:t>pp</a:t>
            </a:r>
            <a:r>
              <a:rPr lang="el-GR" altLang="en-US" sz="2400" i="1" dirty="0">
                <a:cs typeface="Times New Roman" panose="02020603050405020304" pitchFamily="18" charset="0"/>
              </a:rPr>
              <a:t>. 129-30)</a:t>
            </a:r>
          </a:p>
        </p:txBody>
      </p:sp>
      <p:sp>
        <p:nvSpPr>
          <p:cNvPr id="417795" name="Text Box 3">
            <a:extLst>
              <a:ext uri="{FF2B5EF4-FFF2-40B4-BE49-F238E27FC236}">
                <a16:creationId xmlns:a16="http://schemas.microsoft.com/office/drawing/2014/main" id="{C702B2A0-EE61-4D6A-A446-30FC8D1C7D14}"/>
              </a:ext>
            </a:extLst>
          </p:cNvPr>
          <p:cNvSpPr txBox="1">
            <a:spLocks noChangeArrowheads="1"/>
          </p:cNvSpPr>
          <p:nvPr/>
        </p:nvSpPr>
        <p:spPr bwMode="auto">
          <a:xfrm>
            <a:off x="3706238" y="270301"/>
            <a:ext cx="77724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l-GR" altLang="en-US" sz="2400" i="1" dirty="0">
                <a:solidFill>
                  <a:srgbClr val="000066"/>
                </a:solidFill>
              </a:rPr>
              <a:t>Πως μπορούμε να βοηθήσουμε τους μαθητές να γίνουν επιστημονικά εγγράμματοι πολίτες του αύριο;»</a:t>
            </a:r>
          </a:p>
        </p:txBody>
      </p:sp>
      <p:sp>
        <p:nvSpPr>
          <p:cNvPr id="4" name="Footer Placeholder 4">
            <a:extLst>
              <a:ext uri="{FF2B5EF4-FFF2-40B4-BE49-F238E27FC236}">
                <a16:creationId xmlns:a16="http://schemas.microsoft.com/office/drawing/2014/main" id="{FBB8E3D4-1612-4BCB-A9F7-0930D1F995C6}"/>
              </a:ext>
            </a:extLst>
          </p:cNvPr>
          <p:cNvSpPr>
            <a:spLocks noGrp="1"/>
          </p:cNvSpPr>
          <p:nvPr>
            <p:ph type="ftr" sz="quarter" idx="11"/>
          </p:nvPr>
        </p:nvSpPr>
        <p:spPr>
          <a:xfrm>
            <a:off x="4038600" y="6356350"/>
            <a:ext cx="4114800" cy="365125"/>
          </a:xfrm>
        </p:spPr>
        <p:txBody>
          <a:bodyPr/>
          <a:lstStyle/>
          <a:p>
            <a:r>
              <a:rPr lang="el-GR" dirty="0">
                <a:solidFill>
                  <a:schemeClr val="tx2">
                    <a:lumMod val="50000"/>
                  </a:schemeClr>
                </a:solidFill>
                <a:latin typeface="Tahoma" pitchFamily="34" charset="0"/>
                <a:ea typeface="Tahoma" pitchFamily="34" charset="0"/>
                <a:cs typeface="Tahoma" pitchFamily="34" charset="0"/>
              </a:rPr>
              <a:t>Παναγιώτης </a:t>
            </a:r>
            <a:r>
              <a:rPr lang="el-GR" dirty="0" err="1">
                <a:solidFill>
                  <a:schemeClr val="tx2">
                    <a:lumMod val="50000"/>
                  </a:schemeClr>
                </a:solidFill>
                <a:latin typeface="Tahoma" pitchFamily="34" charset="0"/>
                <a:ea typeface="Tahoma" pitchFamily="34" charset="0"/>
                <a:cs typeface="Tahoma" pitchFamily="34" charset="0"/>
              </a:rPr>
              <a:t>Πήλιουρας</a:t>
            </a:r>
            <a:r>
              <a:rPr lang="el-GR" dirty="0">
                <a:solidFill>
                  <a:schemeClr val="tx2">
                    <a:lumMod val="50000"/>
                  </a:schemeClr>
                </a:solidFill>
                <a:latin typeface="Tahoma" pitchFamily="34" charset="0"/>
                <a:ea typeface="Tahoma" pitchFamily="34" charset="0"/>
                <a:cs typeface="Tahoma" pitchFamily="34" charset="0"/>
              </a:rPr>
              <a:t> @ Θ.Ε. ΕΚΠ63 1</a:t>
            </a:r>
            <a:r>
              <a:rPr lang="el-GR" baseline="30000" dirty="0">
                <a:solidFill>
                  <a:schemeClr val="tx2">
                    <a:lumMod val="50000"/>
                  </a:schemeClr>
                </a:solidFill>
                <a:latin typeface="Tahoma" pitchFamily="34" charset="0"/>
                <a:ea typeface="Tahoma" pitchFamily="34" charset="0"/>
                <a:cs typeface="Tahoma" pitchFamily="34" charset="0"/>
              </a:rPr>
              <a:t>Η</a:t>
            </a:r>
            <a:r>
              <a:rPr lang="el-GR" dirty="0">
                <a:solidFill>
                  <a:schemeClr val="tx2">
                    <a:lumMod val="50000"/>
                  </a:schemeClr>
                </a:solidFill>
                <a:latin typeface="Tahoma" pitchFamily="34" charset="0"/>
                <a:ea typeface="Tahoma" pitchFamily="34" charset="0"/>
                <a:cs typeface="Tahoma" pitchFamily="34" charset="0"/>
              </a:rPr>
              <a:t> ΟΣΣ 2020-21</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2DE5D695-A2C2-47E0-84AB-35CD54D01D50}"/>
              </a:ext>
            </a:extLst>
          </p:cNvPr>
          <p:cNvSpPr>
            <a:spLocks noGrp="1"/>
          </p:cNvSpPr>
          <p:nvPr>
            <p:ph type="title"/>
          </p:nvPr>
        </p:nvSpPr>
        <p:spPr>
          <a:xfrm>
            <a:off x="838200" y="2268537"/>
            <a:ext cx="10515600" cy="1605266"/>
          </a:xfrm>
        </p:spPr>
        <p:txBody>
          <a:bodyPr/>
          <a:lstStyle/>
          <a:p>
            <a:pPr algn="ctr"/>
            <a:r>
              <a:rPr lang="el-GR" dirty="0"/>
              <a:t>Η 1</a:t>
            </a:r>
            <a:r>
              <a:rPr lang="el-GR" baseline="30000" dirty="0"/>
              <a:t>η</a:t>
            </a:r>
            <a:r>
              <a:rPr lang="el-GR" dirty="0"/>
              <a:t> Γραπτή Εργασία</a:t>
            </a:r>
            <a:endParaRPr lang="en-US" dirty="0"/>
          </a:p>
        </p:txBody>
      </p:sp>
      <p:sp>
        <p:nvSpPr>
          <p:cNvPr id="3" name="Θέση κειμένου 2">
            <a:extLst>
              <a:ext uri="{FF2B5EF4-FFF2-40B4-BE49-F238E27FC236}">
                <a16:creationId xmlns:a16="http://schemas.microsoft.com/office/drawing/2014/main" id="{DDE05B5B-58E0-40B5-B618-A88565327E99}"/>
              </a:ext>
            </a:extLst>
          </p:cNvPr>
          <p:cNvSpPr>
            <a:spLocks noGrp="1"/>
          </p:cNvSpPr>
          <p:nvPr>
            <p:ph type="body" idx="1"/>
          </p:nvPr>
        </p:nvSpPr>
        <p:spPr/>
        <p:txBody>
          <a:bodyPr/>
          <a:lstStyle/>
          <a:p>
            <a:endParaRPr lang="en-US"/>
          </a:p>
        </p:txBody>
      </p:sp>
      <p:sp>
        <p:nvSpPr>
          <p:cNvPr id="4" name="Θέση ημερομηνίας 3">
            <a:extLst>
              <a:ext uri="{FF2B5EF4-FFF2-40B4-BE49-F238E27FC236}">
                <a16:creationId xmlns:a16="http://schemas.microsoft.com/office/drawing/2014/main" id="{5B37AA5A-DE09-4860-8261-E898C4F287E7}"/>
              </a:ext>
            </a:extLst>
          </p:cNvPr>
          <p:cNvSpPr>
            <a:spLocks noGrp="1"/>
          </p:cNvSpPr>
          <p:nvPr>
            <p:ph type="dt" sz="half" idx="10"/>
          </p:nvPr>
        </p:nvSpPr>
        <p:spPr/>
        <p:txBody>
          <a:bodyPr/>
          <a:lstStyle/>
          <a:p>
            <a:fld id="{8C480712-B4F2-449A-A132-25D3AF7A8C5B}" type="datetime1">
              <a:rPr lang="el-GR" smtClean="0"/>
              <a:pPr/>
              <a:t>25/10/2020</a:t>
            </a:fld>
            <a:endParaRPr lang="el-GR"/>
          </a:p>
        </p:txBody>
      </p:sp>
      <p:sp>
        <p:nvSpPr>
          <p:cNvPr id="6" name="Θέση αριθμού διαφάνειας 5">
            <a:extLst>
              <a:ext uri="{FF2B5EF4-FFF2-40B4-BE49-F238E27FC236}">
                <a16:creationId xmlns:a16="http://schemas.microsoft.com/office/drawing/2014/main" id="{5D644FC1-8CB2-4A03-83A1-BB658E9184BE}"/>
              </a:ext>
            </a:extLst>
          </p:cNvPr>
          <p:cNvSpPr>
            <a:spLocks noGrp="1"/>
          </p:cNvSpPr>
          <p:nvPr>
            <p:ph type="sldNum" sz="quarter" idx="12"/>
          </p:nvPr>
        </p:nvSpPr>
        <p:spPr/>
        <p:txBody>
          <a:bodyPr/>
          <a:lstStyle/>
          <a:p>
            <a:fld id="{28C4B9FD-BBCD-4D20-BE68-D5FD8F544B57}" type="slidenum">
              <a:rPr lang="el-GR" smtClean="0"/>
              <a:pPr/>
              <a:t>14</a:t>
            </a:fld>
            <a:endParaRPr lang="el-GR"/>
          </a:p>
        </p:txBody>
      </p:sp>
      <p:sp>
        <p:nvSpPr>
          <p:cNvPr id="7" name="Footer Placeholder 4">
            <a:extLst>
              <a:ext uri="{FF2B5EF4-FFF2-40B4-BE49-F238E27FC236}">
                <a16:creationId xmlns:a16="http://schemas.microsoft.com/office/drawing/2014/main" id="{36976E61-43D3-4929-8FC3-9A3451433ACD}"/>
              </a:ext>
            </a:extLst>
          </p:cNvPr>
          <p:cNvSpPr>
            <a:spLocks noGrp="1"/>
          </p:cNvSpPr>
          <p:nvPr>
            <p:ph type="ftr" sz="quarter" idx="11"/>
          </p:nvPr>
        </p:nvSpPr>
        <p:spPr>
          <a:xfrm>
            <a:off x="4038600" y="6356350"/>
            <a:ext cx="4114800" cy="365125"/>
          </a:xfrm>
        </p:spPr>
        <p:txBody>
          <a:bodyPr/>
          <a:lstStyle/>
          <a:p>
            <a:r>
              <a:rPr lang="el-GR" dirty="0">
                <a:solidFill>
                  <a:schemeClr val="tx2">
                    <a:lumMod val="50000"/>
                  </a:schemeClr>
                </a:solidFill>
                <a:latin typeface="Tahoma" pitchFamily="34" charset="0"/>
                <a:ea typeface="Tahoma" pitchFamily="34" charset="0"/>
                <a:cs typeface="Tahoma" pitchFamily="34" charset="0"/>
              </a:rPr>
              <a:t>Παναγιώτης </a:t>
            </a:r>
            <a:r>
              <a:rPr lang="el-GR" dirty="0" err="1">
                <a:solidFill>
                  <a:schemeClr val="tx2">
                    <a:lumMod val="50000"/>
                  </a:schemeClr>
                </a:solidFill>
                <a:latin typeface="Tahoma" pitchFamily="34" charset="0"/>
                <a:ea typeface="Tahoma" pitchFamily="34" charset="0"/>
                <a:cs typeface="Tahoma" pitchFamily="34" charset="0"/>
              </a:rPr>
              <a:t>Πήλιουρας</a:t>
            </a:r>
            <a:r>
              <a:rPr lang="el-GR" dirty="0">
                <a:solidFill>
                  <a:schemeClr val="tx2">
                    <a:lumMod val="50000"/>
                  </a:schemeClr>
                </a:solidFill>
                <a:latin typeface="Tahoma" pitchFamily="34" charset="0"/>
                <a:ea typeface="Tahoma" pitchFamily="34" charset="0"/>
                <a:cs typeface="Tahoma" pitchFamily="34" charset="0"/>
              </a:rPr>
              <a:t> @ Θ.Ε. ΕΚΠ63 1</a:t>
            </a:r>
            <a:r>
              <a:rPr lang="el-GR" baseline="30000" dirty="0">
                <a:solidFill>
                  <a:schemeClr val="tx2">
                    <a:lumMod val="50000"/>
                  </a:schemeClr>
                </a:solidFill>
                <a:latin typeface="Tahoma" pitchFamily="34" charset="0"/>
                <a:ea typeface="Tahoma" pitchFamily="34" charset="0"/>
                <a:cs typeface="Tahoma" pitchFamily="34" charset="0"/>
              </a:rPr>
              <a:t>Η</a:t>
            </a:r>
            <a:r>
              <a:rPr lang="el-GR" dirty="0">
                <a:solidFill>
                  <a:schemeClr val="tx2">
                    <a:lumMod val="50000"/>
                  </a:schemeClr>
                </a:solidFill>
                <a:latin typeface="Tahoma" pitchFamily="34" charset="0"/>
                <a:ea typeface="Tahoma" pitchFamily="34" charset="0"/>
                <a:cs typeface="Tahoma" pitchFamily="34" charset="0"/>
              </a:rPr>
              <a:t> ΟΣΣ 2020-21</a:t>
            </a:r>
          </a:p>
        </p:txBody>
      </p:sp>
    </p:spTree>
    <p:extLst>
      <p:ext uri="{BB962C8B-B14F-4D97-AF65-F5344CB8AC3E}">
        <p14:creationId xmlns:p14="http://schemas.microsoft.com/office/powerpoint/2010/main" val="4651598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F155C2B-0C9C-4BD2-B6C7-804AF6A85710}" type="datetime1">
              <a:rPr lang="el-GR" smtClean="0"/>
              <a:pPr/>
              <a:t>25/10/2020</a:t>
            </a:fld>
            <a:endParaRPr lang="el-GR"/>
          </a:p>
        </p:txBody>
      </p:sp>
      <p:sp>
        <p:nvSpPr>
          <p:cNvPr id="6" name="Slide Number Placeholder 5"/>
          <p:cNvSpPr>
            <a:spLocks noGrp="1"/>
          </p:cNvSpPr>
          <p:nvPr>
            <p:ph type="sldNum" sz="quarter" idx="12"/>
          </p:nvPr>
        </p:nvSpPr>
        <p:spPr/>
        <p:txBody>
          <a:bodyPr/>
          <a:lstStyle/>
          <a:p>
            <a:fld id="{28C4B9FD-BBCD-4D20-BE68-D5FD8F544B57}" type="slidenum">
              <a:rPr lang="el-GR" smtClean="0"/>
              <a:pPr/>
              <a:t>15</a:t>
            </a:fld>
            <a:endParaRPr lang="el-GR"/>
          </a:p>
        </p:txBody>
      </p:sp>
      <p:sp>
        <p:nvSpPr>
          <p:cNvPr id="7" name="Rectangle 6"/>
          <p:cNvSpPr/>
          <p:nvPr/>
        </p:nvSpPr>
        <p:spPr>
          <a:xfrm>
            <a:off x="1922294" y="2338388"/>
            <a:ext cx="8864600" cy="2677656"/>
          </a:xfrm>
          <a:prstGeom prst="rect">
            <a:avLst/>
          </a:prstGeom>
        </p:spPr>
        <p:txBody>
          <a:bodyPr wrap="square">
            <a:spAutoFit/>
          </a:bodyPr>
          <a:lstStyle/>
          <a:p>
            <a:r>
              <a:rPr lang="el-GR" sz="2800" dirty="0">
                <a:latin typeface="Tahoma" pitchFamily="34" charset="0"/>
                <a:ea typeface="Tahoma" pitchFamily="34" charset="0"/>
                <a:cs typeface="Tahoma" pitchFamily="34" charset="0"/>
              </a:rPr>
              <a:t>Κάθε  Γραπτή Εργασία (ΓΕ εφεξής) στο πλαίσιο των 34 συνολικά εβδομάδων μελέτης σας κατά τη φετινή ακαδημαϊκή χρονιά, συνιστά όχι μόνο ένα εργαλείο αξιολόγησης, αλλά πρωτίστως </a:t>
            </a:r>
            <a:r>
              <a:rPr lang="el-GR" sz="2800" b="1" dirty="0">
                <a:latin typeface="Tahoma" pitchFamily="34" charset="0"/>
                <a:ea typeface="Tahoma" pitchFamily="34" charset="0"/>
                <a:cs typeface="Tahoma" pitchFamily="34" charset="0"/>
              </a:rPr>
              <a:t>ένα εργαλείο μάθησης</a:t>
            </a:r>
            <a:r>
              <a:rPr lang="el-GR" sz="2800" dirty="0">
                <a:latin typeface="Tahoma" pitchFamily="34" charset="0"/>
                <a:ea typeface="Tahoma" pitchFamily="34" charset="0"/>
                <a:cs typeface="Tahoma" pitchFamily="34" charset="0"/>
              </a:rPr>
              <a:t> στα χέρια σας και ταυτόχρονα εργαλείο διδασκαλίας για τον ΣΕΠ.</a:t>
            </a:r>
          </a:p>
        </p:txBody>
      </p:sp>
      <p:sp>
        <p:nvSpPr>
          <p:cNvPr id="8" name="Rectangle 7"/>
          <p:cNvSpPr/>
          <p:nvPr/>
        </p:nvSpPr>
        <p:spPr>
          <a:xfrm>
            <a:off x="4231532" y="616635"/>
            <a:ext cx="6474568" cy="1015663"/>
          </a:xfrm>
          <a:prstGeom prst="rect">
            <a:avLst/>
          </a:prstGeom>
        </p:spPr>
        <p:txBody>
          <a:bodyPr wrap="square">
            <a:spAutoFit/>
          </a:bodyPr>
          <a:lstStyle/>
          <a:p>
            <a:r>
              <a:rPr lang="el-GR" sz="2000" b="1" dirty="0">
                <a:latin typeface="Tahoma" pitchFamily="34" charset="0"/>
                <a:ea typeface="Tahoma" pitchFamily="34" charset="0"/>
                <a:cs typeface="Tahoma" pitchFamily="34" charset="0"/>
              </a:rPr>
              <a:t>Η 1η Γραπτή Εργασία στη Θεματική Ενότητα ΕΚΠ63 </a:t>
            </a:r>
          </a:p>
          <a:p>
            <a:pPr algn="r"/>
            <a:r>
              <a:rPr lang="el-GR" sz="2000" b="1" dirty="0">
                <a:latin typeface="Tahoma" pitchFamily="34" charset="0"/>
                <a:ea typeface="Tahoma" pitchFamily="34" charset="0"/>
                <a:cs typeface="Tahoma" pitchFamily="34" charset="0"/>
              </a:rPr>
              <a:t>(2020 – 2021)</a:t>
            </a:r>
          </a:p>
        </p:txBody>
      </p:sp>
      <p:grpSp>
        <p:nvGrpSpPr>
          <p:cNvPr id="13" name="Group 12"/>
          <p:cNvGrpSpPr/>
          <p:nvPr/>
        </p:nvGrpSpPr>
        <p:grpSpPr>
          <a:xfrm>
            <a:off x="-752889" y="849243"/>
            <a:ext cx="13671274" cy="5840895"/>
            <a:chOff x="-752889" y="849243"/>
            <a:chExt cx="13671274" cy="5840895"/>
          </a:xfrm>
        </p:grpSpPr>
        <p:sp>
          <p:nvSpPr>
            <p:cNvPr id="14" name="Oval 13"/>
            <p:cNvSpPr/>
            <p:nvPr/>
          </p:nvSpPr>
          <p:spPr>
            <a:xfrm>
              <a:off x="11383618" y="849243"/>
              <a:ext cx="1505778" cy="17526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11396871" y="2697921"/>
              <a:ext cx="1521514" cy="17526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11423375" y="4546599"/>
              <a:ext cx="1495010" cy="17526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752889" y="1266686"/>
              <a:ext cx="1505778" cy="17526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752889" y="3102111"/>
              <a:ext cx="1505778" cy="17526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752889" y="4937538"/>
              <a:ext cx="1505778" cy="17526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Footer Placeholder 4">
            <a:extLst>
              <a:ext uri="{FF2B5EF4-FFF2-40B4-BE49-F238E27FC236}">
                <a16:creationId xmlns:a16="http://schemas.microsoft.com/office/drawing/2014/main" id="{205D6CBA-1C9D-4B37-BD33-4BF3065828AE}"/>
              </a:ext>
            </a:extLst>
          </p:cNvPr>
          <p:cNvSpPr>
            <a:spLocks noGrp="1"/>
          </p:cNvSpPr>
          <p:nvPr>
            <p:ph type="ftr" sz="quarter" idx="11"/>
          </p:nvPr>
        </p:nvSpPr>
        <p:spPr>
          <a:xfrm>
            <a:off x="4038600" y="6356350"/>
            <a:ext cx="4114800" cy="365125"/>
          </a:xfrm>
        </p:spPr>
        <p:txBody>
          <a:bodyPr/>
          <a:lstStyle/>
          <a:p>
            <a:r>
              <a:rPr lang="el-GR" dirty="0">
                <a:solidFill>
                  <a:schemeClr val="tx2">
                    <a:lumMod val="50000"/>
                  </a:schemeClr>
                </a:solidFill>
                <a:latin typeface="Tahoma" pitchFamily="34" charset="0"/>
                <a:ea typeface="Tahoma" pitchFamily="34" charset="0"/>
                <a:cs typeface="Tahoma" pitchFamily="34" charset="0"/>
              </a:rPr>
              <a:t>Παναγιώτης </a:t>
            </a:r>
            <a:r>
              <a:rPr lang="el-GR" dirty="0" err="1">
                <a:solidFill>
                  <a:schemeClr val="tx2">
                    <a:lumMod val="50000"/>
                  </a:schemeClr>
                </a:solidFill>
                <a:latin typeface="Tahoma" pitchFamily="34" charset="0"/>
                <a:ea typeface="Tahoma" pitchFamily="34" charset="0"/>
                <a:cs typeface="Tahoma" pitchFamily="34" charset="0"/>
              </a:rPr>
              <a:t>Πήλιουρας</a:t>
            </a:r>
            <a:r>
              <a:rPr lang="el-GR" dirty="0">
                <a:solidFill>
                  <a:schemeClr val="tx2">
                    <a:lumMod val="50000"/>
                  </a:schemeClr>
                </a:solidFill>
                <a:latin typeface="Tahoma" pitchFamily="34" charset="0"/>
                <a:ea typeface="Tahoma" pitchFamily="34" charset="0"/>
                <a:cs typeface="Tahoma" pitchFamily="34" charset="0"/>
              </a:rPr>
              <a:t> @ Θ.Ε. ΕΚΠ63 1</a:t>
            </a:r>
            <a:r>
              <a:rPr lang="el-GR" baseline="30000" dirty="0">
                <a:solidFill>
                  <a:schemeClr val="tx2">
                    <a:lumMod val="50000"/>
                  </a:schemeClr>
                </a:solidFill>
                <a:latin typeface="Tahoma" pitchFamily="34" charset="0"/>
                <a:ea typeface="Tahoma" pitchFamily="34" charset="0"/>
                <a:cs typeface="Tahoma" pitchFamily="34" charset="0"/>
              </a:rPr>
              <a:t>Η</a:t>
            </a:r>
            <a:r>
              <a:rPr lang="el-GR" dirty="0">
                <a:solidFill>
                  <a:schemeClr val="tx2">
                    <a:lumMod val="50000"/>
                  </a:schemeClr>
                </a:solidFill>
                <a:latin typeface="Tahoma" pitchFamily="34" charset="0"/>
                <a:ea typeface="Tahoma" pitchFamily="34" charset="0"/>
                <a:cs typeface="Tahoma" pitchFamily="34" charset="0"/>
              </a:rPr>
              <a:t> ΟΣΣ 2020-21</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7ACEB74B-D8B4-4495-88B1-8399EDB1F6B6}"/>
              </a:ext>
            </a:extLst>
          </p:cNvPr>
          <p:cNvSpPr>
            <a:spLocks noGrp="1"/>
          </p:cNvSpPr>
          <p:nvPr>
            <p:ph type="title"/>
          </p:nvPr>
        </p:nvSpPr>
        <p:spPr>
          <a:xfrm>
            <a:off x="4884526" y="588862"/>
            <a:ext cx="7524000" cy="1325563"/>
          </a:xfrm>
        </p:spPr>
        <p:txBody>
          <a:bodyPr/>
          <a:lstStyle/>
          <a:p>
            <a:r>
              <a:rPr lang="en-US" altLang="en-US" b="1" dirty="0" err="1">
                <a:solidFill>
                  <a:srgbClr val="002060"/>
                </a:solidFill>
                <a:latin typeface="Open Sans"/>
              </a:rPr>
              <a:t>Σημ</a:t>
            </a:r>
            <a:r>
              <a:rPr lang="en-US" altLang="en-US" b="1" dirty="0">
                <a:solidFill>
                  <a:srgbClr val="002060"/>
                </a:solidFill>
                <a:latin typeface="Open Sans"/>
              </a:rPr>
              <a:t>ασία των ΓΕ</a:t>
            </a:r>
            <a:br>
              <a:rPr lang="en-US" altLang="en-US" b="1" dirty="0">
                <a:solidFill>
                  <a:srgbClr val="002060"/>
                </a:solidFill>
                <a:latin typeface="Open Sans"/>
              </a:rPr>
            </a:br>
            <a:endParaRPr lang="en-US" dirty="0">
              <a:solidFill>
                <a:srgbClr val="002060"/>
              </a:solidFill>
            </a:endParaRPr>
          </a:p>
        </p:txBody>
      </p:sp>
      <p:sp>
        <p:nvSpPr>
          <p:cNvPr id="4" name="Rectangle 1">
            <a:extLst>
              <a:ext uri="{FF2B5EF4-FFF2-40B4-BE49-F238E27FC236}">
                <a16:creationId xmlns:a16="http://schemas.microsoft.com/office/drawing/2014/main" id="{B29DE90F-62C5-4942-A39B-CB3F60AA9483}"/>
              </a:ext>
            </a:extLst>
          </p:cNvPr>
          <p:cNvSpPr>
            <a:spLocks noGrp="1" noChangeArrowheads="1"/>
          </p:cNvSpPr>
          <p:nvPr>
            <p:ph idx="1"/>
          </p:nvPr>
        </p:nvSpPr>
        <p:spPr bwMode="auto">
          <a:xfrm>
            <a:off x="1079770" y="1580713"/>
            <a:ext cx="9961123" cy="4883372"/>
          </a:xfrm>
          <a:prstGeom prst="rect">
            <a:avLst/>
          </a:prstGeom>
          <a:noFill/>
          <a:ln w="50800">
            <a:solidFill>
              <a:schemeClr val="tx1"/>
            </a:solidFill>
          </a:ln>
          <a:effectLst/>
        </p:spPr>
        <p:txBody>
          <a:bodyPr vert="horz" wrap="square" lIns="0" tIns="50784"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2060"/>
                </a:solidFill>
                <a:effectLst/>
                <a:latin typeface="Open Sans"/>
              </a:rPr>
              <a:t> Η </a:t>
            </a:r>
            <a:r>
              <a:rPr kumimoji="0" lang="en-US" altLang="en-US" sz="1800" b="0" i="0" u="none" strike="noStrike" cap="none" normalizeH="0" baseline="0" dirty="0" err="1">
                <a:ln>
                  <a:noFill/>
                </a:ln>
                <a:solidFill>
                  <a:srgbClr val="002060"/>
                </a:solidFill>
                <a:effectLst/>
                <a:latin typeface="Open Sans"/>
              </a:rPr>
              <a:t>διδ</a:t>
            </a:r>
            <a:r>
              <a:rPr kumimoji="0" lang="en-US" altLang="en-US" sz="1800" b="0" i="0" u="none" strike="noStrike" cap="none" normalizeH="0" baseline="0" dirty="0">
                <a:ln>
                  <a:noFill/>
                </a:ln>
                <a:solidFill>
                  <a:srgbClr val="002060"/>
                </a:solidFill>
                <a:effectLst/>
                <a:latin typeface="Open Sans"/>
              </a:rPr>
              <a:t>ακτική δραστηριότητα των ΓΕ (στα ΠΣ όπου αυτή προβλέπεται) είναι ιδιαίτερα σημαντική, </a:t>
            </a:r>
            <a:r>
              <a:rPr kumimoji="0" lang="el-GR" altLang="en-US" sz="1800" b="0" i="0" u="none" strike="noStrike" cap="none" normalizeH="0" baseline="0" dirty="0">
                <a:ln>
                  <a:noFill/>
                </a:ln>
                <a:solidFill>
                  <a:srgbClr val="002060"/>
                </a:solidFill>
                <a:effectLst/>
                <a:latin typeface="Open Sans"/>
              </a:rPr>
              <a:t> </a:t>
            </a:r>
            <a:r>
              <a:rPr kumimoji="0" lang="en-US" altLang="en-US" sz="1800" b="0" i="0" u="none" strike="noStrike" cap="none" normalizeH="0" baseline="0" dirty="0">
                <a:ln>
                  <a:noFill/>
                </a:ln>
                <a:solidFill>
                  <a:srgbClr val="002060"/>
                </a:solidFill>
                <a:effectLst/>
                <a:latin typeface="Open Sans"/>
              </a:rPr>
              <a:t>κα</a:t>
            </a:r>
            <a:r>
              <a:rPr kumimoji="0" lang="en-US" altLang="en-US" sz="1800" b="0" i="0" u="none" strike="noStrike" cap="none" normalizeH="0" baseline="0" dirty="0" err="1">
                <a:ln>
                  <a:noFill/>
                </a:ln>
                <a:solidFill>
                  <a:srgbClr val="002060"/>
                </a:solidFill>
                <a:effectLst/>
                <a:latin typeface="Open Sans"/>
              </a:rPr>
              <a:t>θότι</a:t>
            </a:r>
            <a:r>
              <a:rPr kumimoji="0" lang="en-US" altLang="en-US" sz="1800" b="0" i="0" u="none" strike="noStrike" cap="none" normalizeH="0" baseline="0" dirty="0">
                <a:ln>
                  <a:noFill/>
                </a:ln>
                <a:solidFill>
                  <a:srgbClr val="002060"/>
                </a:solidFill>
                <a:effectLst/>
                <a:latin typeface="Open Sans"/>
              </a:rPr>
              <a:t> συμβάλλουν με κρίσιμο τρόπο: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50" b="0" i="0" u="none" strike="noStrike" cap="none" normalizeH="0" baseline="0" dirty="0">
              <a:ln>
                <a:noFill/>
              </a:ln>
              <a:solidFill>
                <a:srgbClr val="002060"/>
              </a:solidFill>
              <a:effectLst/>
              <a:latin typeface="Open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l-GR" altLang="en-US" sz="1800" b="0" i="0" u="none" strike="noStrike" cap="none" normalizeH="0" baseline="0" dirty="0">
                <a:ln>
                  <a:noFill/>
                </a:ln>
                <a:solidFill>
                  <a:srgbClr val="002060"/>
                </a:solidFill>
                <a:effectLst/>
                <a:latin typeface="Open Sans"/>
              </a:rPr>
              <a:t> </a:t>
            </a:r>
            <a:r>
              <a:rPr kumimoji="0" lang="en-US" altLang="en-US" sz="1800" b="0" i="0" u="none" strike="noStrike" cap="none" normalizeH="0" baseline="0" dirty="0">
                <a:ln>
                  <a:noFill/>
                </a:ln>
                <a:solidFill>
                  <a:srgbClr val="002060"/>
                </a:solidFill>
                <a:effectLst/>
                <a:latin typeface="Open Sans"/>
              </a:rPr>
              <a:t>(α) στην πληροφόρηση, με συνεχή τρόπο, του φοιτητή αναφορικά με την πρόοδό του και το </a:t>
            </a:r>
            <a:r>
              <a:rPr kumimoji="0" lang="el-GR" altLang="en-US" sz="1800" b="0" i="0" u="none" strike="noStrike" cap="none" normalizeH="0" baseline="0" dirty="0">
                <a:ln>
                  <a:noFill/>
                </a:ln>
                <a:solidFill>
                  <a:srgbClr val="002060"/>
                </a:solidFill>
                <a:effectLst/>
                <a:latin typeface="Open Sans"/>
              </a:rPr>
              <a:t> </a:t>
            </a:r>
            <a:r>
              <a:rPr kumimoji="0" lang="en-US" altLang="en-US" sz="1800" b="0" i="0" u="none" strike="noStrike" cap="none" normalizeH="0" baseline="0" dirty="0">
                <a:ln>
                  <a:noFill/>
                </a:ln>
                <a:solidFill>
                  <a:srgbClr val="002060"/>
                </a:solidFill>
                <a:effectLst/>
                <a:latin typeface="Open Sans"/>
              </a:rPr>
              <a:t>επίπ</a:t>
            </a:r>
            <a:r>
              <a:rPr kumimoji="0" lang="en-US" altLang="en-US" sz="1800" b="0" i="0" u="none" strike="noStrike" cap="none" normalizeH="0" baseline="0" dirty="0" err="1">
                <a:ln>
                  <a:noFill/>
                </a:ln>
                <a:solidFill>
                  <a:srgbClr val="002060"/>
                </a:solidFill>
                <a:effectLst/>
                <a:latin typeface="Open Sans"/>
              </a:rPr>
              <a:t>εδο</a:t>
            </a:r>
            <a:r>
              <a:rPr kumimoji="0" lang="en-US" altLang="en-US" sz="1800" b="0" i="0" u="none" strike="noStrike" cap="none" normalizeH="0" baseline="0" dirty="0">
                <a:ln>
                  <a:noFill/>
                </a:ln>
                <a:solidFill>
                  <a:srgbClr val="002060"/>
                </a:solidFill>
                <a:effectLst/>
                <a:latin typeface="Open Sans"/>
              </a:rPr>
              <a:t> στο οποίο έχει φθάσει,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50" dirty="0">
              <a:solidFill>
                <a:srgbClr val="002060"/>
              </a:solidFill>
              <a:latin typeface="Open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2060"/>
                </a:solidFill>
                <a:effectLst/>
                <a:latin typeface="Open Sans"/>
              </a:rPr>
              <a:t> (β) στην παροχή, μέσα από το σχολιασμό των εργασιών από το </a:t>
            </a:r>
            <a:r>
              <a:rPr kumimoji="0" lang="el-GR" altLang="en-US" sz="1800" b="0" i="0" u="none" strike="noStrike" cap="none" normalizeH="0" baseline="0" dirty="0">
                <a:ln>
                  <a:noFill/>
                </a:ln>
                <a:solidFill>
                  <a:srgbClr val="002060"/>
                </a:solidFill>
                <a:effectLst/>
                <a:latin typeface="Open Sans"/>
              </a:rPr>
              <a:t>  </a:t>
            </a:r>
            <a:r>
              <a:rPr kumimoji="0" lang="en-US" altLang="en-US" sz="1800" b="0" i="0" u="none" strike="noStrike" cap="none" normalizeH="0" baseline="0" dirty="0" err="1">
                <a:ln>
                  <a:noFill/>
                </a:ln>
                <a:solidFill>
                  <a:srgbClr val="002060"/>
                </a:solidFill>
                <a:effectLst/>
                <a:latin typeface="Open Sans"/>
              </a:rPr>
              <a:t>διδάσκοντ</a:t>
            </a:r>
            <a:r>
              <a:rPr kumimoji="0" lang="en-US" altLang="en-US" sz="1800" b="0" i="0" u="none" strike="noStrike" cap="none" normalizeH="0" baseline="0" dirty="0">
                <a:ln>
                  <a:noFill/>
                </a:ln>
                <a:solidFill>
                  <a:srgbClr val="002060"/>
                </a:solidFill>
                <a:effectLst/>
                <a:latin typeface="Open Sans"/>
              </a:rPr>
              <a:t>α,   συμβουλών,   καθοδήγησης και ενθάρρυνσης για παραπέρα βελτίωση της </a:t>
            </a:r>
            <a:r>
              <a:rPr kumimoji="0" lang="el-GR" altLang="en-US" sz="1800" b="0" i="0" u="none" strike="noStrike" cap="none" normalizeH="0" baseline="0" dirty="0">
                <a:ln>
                  <a:noFill/>
                </a:ln>
                <a:solidFill>
                  <a:srgbClr val="002060"/>
                </a:solidFill>
                <a:effectLst/>
                <a:latin typeface="Open Sans"/>
              </a:rPr>
              <a:t> </a:t>
            </a:r>
            <a:r>
              <a:rPr kumimoji="0" lang="en-US" altLang="en-US" sz="1800" b="0" i="0" u="none" strike="noStrike" cap="none" normalizeH="0" baseline="0" dirty="0">
                <a:ln>
                  <a:noFill/>
                </a:ln>
                <a:solidFill>
                  <a:srgbClr val="002060"/>
                </a:solidFill>
                <a:effectLst/>
                <a:latin typeface="Open Sans"/>
              </a:rPr>
              <a:t>απ</a:t>
            </a:r>
            <a:r>
              <a:rPr kumimoji="0" lang="en-US" altLang="en-US" sz="1800" b="0" i="0" u="none" strike="noStrike" cap="none" normalizeH="0" baseline="0" dirty="0" err="1">
                <a:ln>
                  <a:noFill/>
                </a:ln>
                <a:solidFill>
                  <a:srgbClr val="002060"/>
                </a:solidFill>
                <a:effectLst/>
                <a:latin typeface="Open Sans"/>
              </a:rPr>
              <a:t>όδοσής</a:t>
            </a:r>
            <a:r>
              <a:rPr kumimoji="0" lang="en-US" altLang="en-US" sz="1800" b="0" i="0" u="none" strike="noStrike" cap="none" normalizeH="0" baseline="0" dirty="0">
                <a:ln>
                  <a:noFill/>
                </a:ln>
                <a:solidFill>
                  <a:srgbClr val="002060"/>
                </a:solidFill>
                <a:effectLst/>
                <a:latin typeface="Open Sans"/>
              </a:rPr>
              <a:t> του,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100" dirty="0">
              <a:solidFill>
                <a:srgbClr val="002060"/>
              </a:solidFill>
              <a:latin typeface="Open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2060"/>
                </a:solidFill>
                <a:effectLst/>
                <a:latin typeface="Open Sans"/>
              </a:rPr>
              <a:t> (γ) στην καθιέρωση εποικοδομητικής επικοινωνίας μεταξύ φοιτητή και διδάσκοντα,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200" dirty="0">
              <a:solidFill>
                <a:srgbClr val="002060"/>
              </a:solidFill>
              <a:latin typeface="Open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2060"/>
                </a:solidFill>
                <a:effectLst/>
                <a:latin typeface="Open Sans"/>
              </a:rPr>
              <a:t> (δ) στην δραστηριοποίηση του φοιτητή, καθότι οι ΓΕ ως σημαντικά ορόσημα γι’ αυτόν, τον </a:t>
            </a:r>
            <a:r>
              <a:rPr kumimoji="0" lang="el-GR" altLang="en-US" sz="1800" b="0" i="0" u="none" strike="noStrike" cap="none" normalizeH="0" baseline="0" dirty="0">
                <a:ln>
                  <a:noFill/>
                </a:ln>
                <a:solidFill>
                  <a:srgbClr val="002060"/>
                </a:solidFill>
                <a:effectLst/>
                <a:latin typeface="Open Sans"/>
              </a:rPr>
              <a:t> </a:t>
            </a:r>
            <a:r>
              <a:rPr kumimoji="0" lang="en-US" altLang="en-US" sz="1800" b="0" i="0" u="none" strike="noStrike" cap="none" normalizeH="0" baseline="0" dirty="0">
                <a:ln>
                  <a:noFill/>
                </a:ln>
                <a:solidFill>
                  <a:srgbClr val="002060"/>
                </a:solidFill>
                <a:effectLst/>
                <a:latin typeface="Open Sans"/>
              </a:rPr>
              <a:t>β</a:t>
            </a:r>
            <a:r>
              <a:rPr kumimoji="0" lang="en-US" altLang="en-US" sz="1800" b="0" i="0" u="none" strike="noStrike" cap="none" normalizeH="0" baseline="0" dirty="0" err="1">
                <a:ln>
                  <a:noFill/>
                </a:ln>
                <a:solidFill>
                  <a:srgbClr val="002060"/>
                </a:solidFill>
                <a:effectLst/>
                <a:latin typeface="Open Sans"/>
              </a:rPr>
              <a:t>οηθούν</a:t>
            </a:r>
            <a:r>
              <a:rPr kumimoji="0" lang="en-US" altLang="en-US" sz="1800" b="0" i="0" u="none" strike="noStrike" cap="none" normalizeH="0" baseline="0" dirty="0">
                <a:ln>
                  <a:noFill/>
                </a:ln>
                <a:solidFill>
                  <a:srgbClr val="002060"/>
                </a:solidFill>
                <a:effectLst/>
                <a:latin typeface="Open Sans"/>
              </a:rPr>
              <a:t> να τηρήσει το χρονοδιάγραμμα των σπουδών του,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400" dirty="0">
              <a:solidFill>
                <a:srgbClr val="002060"/>
              </a:solidFill>
              <a:latin typeface="Open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2060"/>
                </a:solidFill>
                <a:effectLst/>
                <a:latin typeface="Open Sans"/>
              </a:rPr>
              <a:t> (ε) στη δυνατότητα των φοιτητών να μάθουν με ενεργητικό τρόπο  να εφαρμόζουν τις γνώσεις που απέκτησαν και να διδαχθούν από τυχόν σφάλματά τους και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50" dirty="0">
              <a:solidFill>
                <a:srgbClr val="002060"/>
              </a:solidFill>
              <a:latin typeface="Open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2060"/>
                </a:solidFill>
                <a:effectLst/>
                <a:latin typeface="Open Sans"/>
              </a:rPr>
              <a:t> (στ) στην προετοιμασία των φοιτητών για τις γραπτές εξετάσεις..</a:t>
            </a:r>
            <a:endParaRPr kumimoji="0" lang="en-US" altLang="en-US" sz="4400" b="0" i="0" u="none" strike="noStrike" cap="none" normalizeH="0" baseline="0" dirty="0">
              <a:ln>
                <a:noFill/>
              </a:ln>
              <a:solidFill>
                <a:srgbClr val="002060"/>
              </a:solidFill>
              <a:effectLst/>
              <a:latin typeface="Arial" panose="020B0604020202020204" pitchFamily="34" charset="0"/>
            </a:endParaRPr>
          </a:p>
        </p:txBody>
      </p:sp>
      <p:sp>
        <p:nvSpPr>
          <p:cNvPr id="5" name="Footer Placeholder 4">
            <a:extLst>
              <a:ext uri="{FF2B5EF4-FFF2-40B4-BE49-F238E27FC236}">
                <a16:creationId xmlns:a16="http://schemas.microsoft.com/office/drawing/2014/main" id="{D7B0DF52-4FB7-42FA-A065-DB049373E6B5}"/>
              </a:ext>
            </a:extLst>
          </p:cNvPr>
          <p:cNvSpPr>
            <a:spLocks noGrp="1"/>
          </p:cNvSpPr>
          <p:nvPr>
            <p:ph type="ftr" sz="quarter" idx="11"/>
          </p:nvPr>
        </p:nvSpPr>
        <p:spPr>
          <a:xfrm>
            <a:off x="4038600" y="6356350"/>
            <a:ext cx="4114800" cy="365125"/>
          </a:xfrm>
        </p:spPr>
        <p:txBody>
          <a:bodyPr/>
          <a:lstStyle/>
          <a:p>
            <a:r>
              <a:rPr lang="el-GR" dirty="0">
                <a:solidFill>
                  <a:schemeClr val="tx2">
                    <a:lumMod val="50000"/>
                  </a:schemeClr>
                </a:solidFill>
                <a:latin typeface="Tahoma" pitchFamily="34" charset="0"/>
                <a:ea typeface="Tahoma" pitchFamily="34" charset="0"/>
                <a:cs typeface="Tahoma" pitchFamily="34" charset="0"/>
              </a:rPr>
              <a:t>Παναγιώτης </a:t>
            </a:r>
            <a:r>
              <a:rPr lang="el-GR" dirty="0" err="1">
                <a:solidFill>
                  <a:schemeClr val="tx2">
                    <a:lumMod val="50000"/>
                  </a:schemeClr>
                </a:solidFill>
                <a:latin typeface="Tahoma" pitchFamily="34" charset="0"/>
                <a:ea typeface="Tahoma" pitchFamily="34" charset="0"/>
                <a:cs typeface="Tahoma" pitchFamily="34" charset="0"/>
              </a:rPr>
              <a:t>Πήλιουρας</a:t>
            </a:r>
            <a:r>
              <a:rPr lang="el-GR" dirty="0">
                <a:solidFill>
                  <a:schemeClr val="tx2">
                    <a:lumMod val="50000"/>
                  </a:schemeClr>
                </a:solidFill>
                <a:latin typeface="Tahoma" pitchFamily="34" charset="0"/>
                <a:ea typeface="Tahoma" pitchFamily="34" charset="0"/>
                <a:cs typeface="Tahoma" pitchFamily="34" charset="0"/>
              </a:rPr>
              <a:t> @ Θ.Ε. ΕΚΠ63 1</a:t>
            </a:r>
            <a:r>
              <a:rPr lang="el-GR" baseline="30000" dirty="0">
                <a:solidFill>
                  <a:schemeClr val="tx2">
                    <a:lumMod val="50000"/>
                  </a:schemeClr>
                </a:solidFill>
                <a:latin typeface="Tahoma" pitchFamily="34" charset="0"/>
                <a:ea typeface="Tahoma" pitchFamily="34" charset="0"/>
                <a:cs typeface="Tahoma" pitchFamily="34" charset="0"/>
              </a:rPr>
              <a:t>Η</a:t>
            </a:r>
            <a:r>
              <a:rPr lang="el-GR" dirty="0">
                <a:solidFill>
                  <a:schemeClr val="tx2">
                    <a:lumMod val="50000"/>
                  </a:schemeClr>
                </a:solidFill>
                <a:latin typeface="Tahoma" pitchFamily="34" charset="0"/>
                <a:ea typeface="Tahoma" pitchFamily="34" charset="0"/>
                <a:cs typeface="Tahoma" pitchFamily="34" charset="0"/>
              </a:rPr>
              <a:t> ΟΣΣ 2020-21</a:t>
            </a:r>
          </a:p>
        </p:txBody>
      </p:sp>
    </p:spTree>
    <p:extLst>
      <p:ext uri="{BB962C8B-B14F-4D97-AF65-F5344CB8AC3E}">
        <p14:creationId xmlns:p14="http://schemas.microsoft.com/office/powerpoint/2010/main" val="18489687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BE29C5D5-1869-4AB2-8320-132BE3A1AF67}"/>
              </a:ext>
            </a:extLst>
          </p:cNvPr>
          <p:cNvSpPr>
            <a:spLocks noGrp="1"/>
          </p:cNvSpPr>
          <p:nvPr>
            <p:ph type="title"/>
          </p:nvPr>
        </p:nvSpPr>
        <p:spPr/>
        <p:txBody>
          <a:bodyPr/>
          <a:lstStyle/>
          <a:p>
            <a:endParaRPr lang="en-US"/>
          </a:p>
        </p:txBody>
      </p:sp>
      <p:sp>
        <p:nvSpPr>
          <p:cNvPr id="3" name="Θέση περιεχομένου 2">
            <a:extLst>
              <a:ext uri="{FF2B5EF4-FFF2-40B4-BE49-F238E27FC236}">
                <a16:creationId xmlns:a16="http://schemas.microsoft.com/office/drawing/2014/main" id="{E0430E8F-7B6B-4120-9354-3EB2962AA152}"/>
              </a:ext>
            </a:extLst>
          </p:cNvPr>
          <p:cNvSpPr>
            <a:spLocks noGrp="1"/>
          </p:cNvSpPr>
          <p:nvPr>
            <p:ph idx="1"/>
          </p:nvPr>
        </p:nvSpPr>
        <p:spPr/>
        <p:txBody>
          <a:bodyPr/>
          <a:lstStyle/>
          <a:p>
            <a:endParaRPr lang="en-US"/>
          </a:p>
        </p:txBody>
      </p:sp>
      <p:pic>
        <p:nvPicPr>
          <p:cNvPr id="4" name="Εικόνα 3">
            <a:extLst>
              <a:ext uri="{FF2B5EF4-FFF2-40B4-BE49-F238E27FC236}">
                <a16:creationId xmlns:a16="http://schemas.microsoft.com/office/drawing/2014/main" id="{3CD1F606-4B1A-4F52-A143-6A36CABFDBC4}"/>
              </a:ext>
            </a:extLst>
          </p:cNvPr>
          <p:cNvPicPr>
            <a:picLocks noChangeAspect="1"/>
          </p:cNvPicPr>
          <p:nvPr/>
        </p:nvPicPr>
        <p:blipFill>
          <a:blip r:embed="rId2"/>
          <a:stretch>
            <a:fillRect/>
          </a:stretch>
        </p:blipFill>
        <p:spPr>
          <a:xfrm>
            <a:off x="1066799" y="0"/>
            <a:ext cx="9673185" cy="6595353"/>
          </a:xfrm>
          <a:prstGeom prst="rect">
            <a:avLst/>
          </a:prstGeom>
        </p:spPr>
      </p:pic>
      <p:sp>
        <p:nvSpPr>
          <p:cNvPr id="5" name="Footer Placeholder 4">
            <a:extLst>
              <a:ext uri="{FF2B5EF4-FFF2-40B4-BE49-F238E27FC236}">
                <a16:creationId xmlns:a16="http://schemas.microsoft.com/office/drawing/2014/main" id="{7C5A0C56-1E36-42C1-AC5A-DB4764E96873}"/>
              </a:ext>
            </a:extLst>
          </p:cNvPr>
          <p:cNvSpPr>
            <a:spLocks noGrp="1"/>
          </p:cNvSpPr>
          <p:nvPr>
            <p:ph type="ftr" sz="quarter" idx="11"/>
          </p:nvPr>
        </p:nvSpPr>
        <p:spPr>
          <a:xfrm>
            <a:off x="4038600" y="6439422"/>
            <a:ext cx="4114800" cy="365125"/>
          </a:xfrm>
        </p:spPr>
        <p:txBody>
          <a:bodyPr/>
          <a:lstStyle/>
          <a:p>
            <a:r>
              <a:rPr lang="el-GR" dirty="0">
                <a:solidFill>
                  <a:schemeClr val="tx2">
                    <a:lumMod val="50000"/>
                  </a:schemeClr>
                </a:solidFill>
                <a:latin typeface="Tahoma" pitchFamily="34" charset="0"/>
                <a:ea typeface="Tahoma" pitchFamily="34" charset="0"/>
                <a:cs typeface="Tahoma" pitchFamily="34" charset="0"/>
              </a:rPr>
              <a:t>Παναγιώτης </a:t>
            </a:r>
            <a:r>
              <a:rPr lang="el-GR" dirty="0" err="1">
                <a:solidFill>
                  <a:schemeClr val="tx2">
                    <a:lumMod val="50000"/>
                  </a:schemeClr>
                </a:solidFill>
                <a:latin typeface="Tahoma" pitchFamily="34" charset="0"/>
                <a:ea typeface="Tahoma" pitchFamily="34" charset="0"/>
                <a:cs typeface="Tahoma" pitchFamily="34" charset="0"/>
              </a:rPr>
              <a:t>Πήλιουρας</a:t>
            </a:r>
            <a:r>
              <a:rPr lang="el-GR" dirty="0">
                <a:solidFill>
                  <a:schemeClr val="tx2">
                    <a:lumMod val="50000"/>
                  </a:schemeClr>
                </a:solidFill>
                <a:latin typeface="Tahoma" pitchFamily="34" charset="0"/>
                <a:ea typeface="Tahoma" pitchFamily="34" charset="0"/>
                <a:cs typeface="Tahoma" pitchFamily="34" charset="0"/>
              </a:rPr>
              <a:t> @ Θ.Ε. ΕΚΠ63 1</a:t>
            </a:r>
            <a:r>
              <a:rPr lang="el-GR" baseline="30000" dirty="0">
                <a:solidFill>
                  <a:schemeClr val="tx2">
                    <a:lumMod val="50000"/>
                  </a:schemeClr>
                </a:solidFill>
                <a:latin typeface="Tahoma" pitchFamily="34" charset="0"/>
                <a:ea typeface="Tahoma" pitchFamily="34" charset="0"/>
                <a:cs typeface="Tahoma" pitchFamily="34" charset="0"/>
              </a:rPr>
              <a:t>Η</a:t>
            </a:r>
            <a:r>
              <a:rPr lang="el-GR" dirty="0">
                <a:solidFill>
                  <a:schemeClr val="tx2">
                    <a:lumMod val="50000"/>
                  </a:schemeClr>
                </a:solidFill>
                <a:latin typeface="Tahoma" pitchFamily="34" charset="0"/>
                <a:ea typeface="Tahoma" pitchFamily="34" charset="0"/>
                <a:cs typeface="Tahoma" pitchFamily="34" charset="0"/>
              </a:rPr>
              <a:t> ΟΣΣ 2020-21</a:t>
            </a:r>
          </a:p>
        </p:txBody>
      </p:sp>
    </p:spTree>
    <p:extLst>
      <p:ext uri="{BB962C8B-B14F-4D97-AF65-F5344CB8AC3E}">
        <p14:creationId xmlns:p14="http://schemas.microsoft.com/office/powerpoint/2010/main" val="39557447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A1002188-22C6-4928-ADDF-0B21F2756EC7}"/>
              </a:ext>
            </a:extLst>
          </p:cNvPr>
          <p:cNvSpPr>
            <a:spLocks noGrp="1" noChangeArrowheads="1"/>
          </p:cNvSpPr>
          <p:nvPr>
            <p:ph type="title"/>
          </p:nvPr>
        </p:nvSpPr>
        <p:spPr>
          <a:xfrm>
            <a:off x="4056434" y="158074"/>
            <a:ext cx="7081736" cy="1143000"/>
          </a:xfrm>
        </p:spPr>
        <p:txBody>
          <a:bodyPr/>
          <a:lstStyle/>
          <a:p>
            <a:r>
              <a:rPr lang="el-GR" altLang="en-US" sz="3200" b="1" dirty="0">
                <a:cs typeface="Times New Roman" panose="02020603050405020304" pitchFamily="18" charset="0"/>
              </a:rPr>
              <a:t>Γενικά  χαρακτηριστικά των αντιλήψεων των μαθητών</a:t>
            </a:r>
            <a:r>
              <a:rPr lang="el-GR" altLang="en-US" dirty="0"/>
              <a:t> </a:t>
            </a:r>
          </a:p>
        </p:txBody>
      </p:sp>
      <p:sp>
        <p:nvSpPr>
          <p:cNvPr id="34819" name="Rectangle 3">
            <a:extLst>
              <a:ext uri="{FF2B5EF4-FFF2-40B4-BE49-F238E27FC236}">
                <a16:creationId xmlns:a16="http://schemas.microsoft.com/office/drawing/2014/main" id="{9D0F02E4-4336-4116-BBB0-2889E64D31BB}"/>
              </a:ext>
            </a:extLst>
          </p:cNvPr>
          <p:cNvSpPr>
            <a:spLocks noGrp="1" noChangeArrowheads="1"/>
          </p:cNvSpPr>
          <p:nvPr>
            <p:ph type="body" idx="1"/>
          </p:nvPr>
        </p:nvSpPr>
        <p:spPr>
          <a:xfrm>
            <a:off x="1167319" y="1760707"/>
            <a:ext cx="9970851" cy="4601183"/>
          </a:xfrm>
          <a:ln w="50800">
            <a:solidFill>
              <a:srgbClr val="CE1E82"/>
            </a:solidFill>
          </a:ln>
        </p:spPr>
        <p:txBody>
          <a:bodyPr>
            <a:normAutofit fontScale="92500" lnSpcReduction="10000"/>
          </a:bodyPr>
          <a:lstStyle/>
          <a:p>
            <a:pPr>
              <a:lnSpc>
                <a:spcPct val="90000"/>
              </a:lnSpc>
              <a:buFontTx/>
              <a:buNone/>
            </a:pPr>
            <a:r>
              <a:rPr lang="el-GR" altLang="en-US" sz="2400" dirty="0">
                <a:cs typeface="Times New Roman" panose="02020603050405020304" pitchFamily="18" charset="0"/>
              </a:rPr>
              <a:t>α) Κυριάρχηση της σκέψης από τα αντιληπτικά δεδομένα</a:t>
            </a:r>
            <a:endParaRPr lang="el-GR" altLang="en-US" sz="2400" dirty="0"/>
          </a:p>
          <a:p>
            <a:pPr>
              <a:lnSpc>
                <a:spcPct val="90000"/>
              </a:lnSpc>
              <a:buFontTx/>
              <a:buNone/>
            </a:pPr>
            <a:r>
              <a:rPr lang="el-GR" altLang="en-US" sz="2400" dirty="0">
                <a:cs typeface="Times New Roman" panose="02020603050405020304" pitchFamily="18" charset="0"/>
              </a:rPr>
              <a:t>β) Περιορισμένη εστίαση</a:t>
            </a:r>
            <a:r>
              <a:rPr lang="el-GR" altLang="en-US" sz="2400" dirty="0"/>
              <a:t> </a:t>
            </a:r>
          </a:p>
          <a:p>
            <a:pPr>
              <a:buNone/>
            </a:pPr>
            <a:r>
              <a:rPr lang="el-GR" altLang="en-US" sz="2400" dirty="0">
                <a:cs typeface="Times New Roman" panose="02020603050405020304" pitchFamily="18" charset="0"/>
              </a:rPr>
              <a:t>γ) Οι αντιλήψεις είναι λειτουργικές: συνύπαρξη πολλών αντιλήψεων - μη διαχωρισμός των εννοιών</a:t>
            </a:r>
            <a:r>
              <a:rPr lang="el-GR" altLang="en-US" sz="2400" dirty="0"/>
              <a:t> </a:t>
            </a:r>
            <a:r>
              <a:rPr lang="el-GR" altLang="en-US" sz="2400" dirty="0">
                <a:cs typeface="Times New Roman" panose="02020603050405020304" pitchFamily="18" charset="0"/>
              </a:rPr>
              <a:t> και εξάρτηση των αντιλήψεων από το πλαίσιο χρήσης τους</a:t>
            </a:r>
          </a:p>
          <a:p>
            <a:pPr>
              <a:lnSpc>
                <a:spcPct val="90000"/>
              </a:lnSpc>
              <a:buFontTx/>
              <a:buNone/>
            </a:pPr>
            <a:r>
              <a:rPr lang="el-GR" altLang="en-US" sz="2400" dirty="0"/>
              <a:t>δ) Έννοιες που δεν διαχωρίζονται</a:t>
            </a:r>
          </a:p>
          <a:p>
            <a:pPr>
              <a:lnSpc>
                <a:spcPct val="90000"/>
              </a:lnSpc>
              <a:buFontTx/>
              <a:buNone/>
            </a:pPr>
            <a:r>
              <a:rPr lang="el-GR" altLang="en-US" sz="2400" dirty="0">
                <a:cs typeface="Times New Roman" panose="02020603050405020304" pitchFamily="18" charset="0"/>
              </a:rPr>
              <a:t>ε) Γραμμικός </a:t>
            </a:r>
            <a:r>
              <a:rPr lang="el-GR" altLang="en-US" sz="2400" dirty="0" err="1">
                <a:cs typeface="Times New Roman" panose="02020603050405020304" pitchFamily="18" charset="0"/>
              </a:rPr>
              <a:t>αιτιακός</a:t>
            </a:r>
            <a:r>
              <a:rPr lang="el-GR" altLang="en-US" sz="2400" dirty="0">
                <a:cs typeface="Times New Roman" panose="02020603050405020304" pitchFamily="18" charset="0"/>
              </a:rPr>
              <a:t> συλλογισμός</a:t>
            </a:r>
            <a:r>
              <a:rPr lang="el-GR" altLang="en-US" sz="2400" dirty="0"/>
              <a:t> </a:t>
            </a:r>
          </a:p>
          <a:p>
            <a:pPr>
              <a:lnSpc>
                <a:spcPct val="90000"/>
              </a:lnSpc>
              <a:buFontTx/>
              <a:buNone/>
            </a:pPr>
            <a:r>
              <a:rPr lang="el-GR" altLang="en-US" sz="2400" dirty="0" err="1"/>
              <a:t>στ</a:t>
            </a:r>
            <a:r>
              <a:rPr lang="el-GR" altLang="en-US" sz="2400" dirty="0"/>
              <a:t>) Οι αντιλήψεις είναι ανθεκτικές στην αλλαγή</a:t>
            </a:r>
          </a:p>
          <a:p>
            <a:pPr>
              <a:lnSpc>
                <a:spcPct val="90000"/>
              </a:lnSpc>
              <a:buFontTx/>
              <a:buNone/>
            </a:pPr>
            <a:endParaRPr lang="el-GR" altLang="en-US" sz="2400" dirty="0"/>
          </a:p>
          <a:p>
            <a:pPr>
              <a:buNone/>
            </a:pPr>
            <a:r>
              <a:rPr lang="el-GR" altLang="en-US" sz="2400" dirty="0">
                <a:cs typeface="Times New Roman" panose="02020603050405020304" pitchFamily="18" charset="0"/>
              </a:rPr>
              <a:t>η) Εγωκεντρική και ανθρωποκεντρική άποψη</a:t>
            </a:r>
            <a:r>
              <a:rPr lang="el-GR" altLang="en-US" sz="2400" dirty="0"/>
              <a:t> </a:t>
            </a:r>
          </a:p>
          <a:p>
            <a:pPr>
              <a:lnSpc>
                <a:spcPct val="90000"/>
              </a:lnSpc>
              <a:buFontTx/>
              <a:buNone/>
            </a:pPr>
            <a:r>
              <a:rPr lang="el-GR" altLang="en-US" sz="2400" dirty="0">
                <a:cs typeface="Times New Roman" panose="02020603050405020304" pitchFamily="18" charset="0"/>
              </a:rPr>
              <a:t>θ) Στα αντικείμενα αποδίδονται χαρακτηριστικά ανθρώπων ή </a:t>
            </a:r>
            <a:r>
              <a:rPr lang="el-GR" altLang="en-US" sz="2400" dirty="0"/>
              <a:t>ζ</a:t>
            </a:r>
            <a:r>
              <a:rPr lang="el-GR" altLang="en-US" sz="2400" dirty="0">
                <a:cs typeface="Times New Roman" panose="02020603050405020304" pitchFamily="18" charset="0"/>
              </a:rPr>
              <a:t>ώων</a:t>
            </a:r>
            <a:r>
              <a:rPr lang="el-GR" altLang="en-US" sz="2400" dirty="0"/>
              <a:t> </a:t>
            </a:r>
          </a:p>
          <a:p>
            <a:pPr>
              <a:lnSpc>
                <a:spcPct val="90000"/>
              </a:lnSpc>
              <a:buFontTx/>
              <a:buNone/>
            </a:pPr>
            <a:r>
              <a:rPr lang="el-GR" altLang="en-US" sz="2400" dirty="0">
                <a:cs typeface="Times New Roman" panose="02020603050405020304" pitchFamily="18" charset="0"/>
              </a:rPr>
              <a:t>ι)  Στα αντικείμενα αποδίδεται ορισμένο ποσό μιας φυσικής οντότητας</a:t>
            </a:r>
            <a:r>
              <a:rPr lang="el-GR" altLang="en-US" sz="2400" dirty="0"/>
              <a:t> </a:t>
            </a:r>
          </a:p>
        </p:txBody>
      </p:sp>
      <p:sp>
        <p:nvSpPr>
          <p:cNvPr id="4" name="Footer Placeholder 4">
            <a:extLst>
              <a:ext uri="{FF2B5EF4-FFF2-40B4-BE49-F238E27FC236}">
                <a16:creationId xmlns:a16="http://schemas.microsoft.com/office/drawing/2014/main" id="{5C9EF736-336B-4AD0-8165-E113C43F7F95}"/>
              </a:ext>
            </a:extLst>
          </p:cNvPr>
          <p:cNvSpPr>
            <a:spLocks noGrp="1"/>
          </p:cNvSpPr>
          <p:nvPr>
            <p:ph type="ftr" sz="quarter" idx="11"/>
          </p:nvPr>
        </p:nvSpPr>
        <p:spPr>
          <a:xfrm>
            <a:off x="3541451" y="6356350"/>
            <a:ext cx="4114800" cy="365125"/>
          </a:xfrm>
        </p:spPr>
        <p:txBody>
          <a:bodyPr/>
          <a:lstStyle/>
          <a:p>
            <a:r>
              <a:rPr lang="el-GR" dirty="0">
                <a:solidFill>
                  <a:schemeClr val="tx2">
                    <a:lumMod val="50000"/>
                  </a:schemeClr>
                </a:solidFill>
                <a:latin typeface="Tahoma" pitchFamily="34" charset="0"/>
                <a:ea typeface="Tahoma" pitchFamily="34" charset="0"/>
                <a:cs typeface="Tahoma" pitchFamily="34" charset="0"/>
              </a:rPr>
              <a:t>Παναγιώτης </a:t>
            </a:r>
            <a:r>
              <a:rPr lang="el-GR" dirty="0" err="1">
                <a:solidFill>
                  <a:schemeClr val="tx2">
                    <a:lumMod val="50000"/>
                  </a:schemeClr>
                </a:solidFill>
                <a:latin typeface="Tahoma" pitchFamily="34" charset="0"/>
                <a:ea typeface="Tahoma" pitchFamily="34" charset="0"/>
                <a:cs typeface="Tahoma" pitchFamily="34" charset="0"/>
              </a:rPr>
              <a:t>Πήλιουρας</a:t>
            </a:r>
            <a:r>
              <a:rPr lang="el-GR" dirty="0">
                <a:solidFill>
                  <a:schemeClr val="tx2">
                    <a:lumMod val="50000"/>
                  </a:schemeClr>
                </a:solidFill>
                <a:latin typeface="Tahoma" pitchFamily="34" charset="0"/>
                <a:ea typeface="Tahoma" pitchFamily="34" charset="0"/>
                <a:cs typeface="Tahoma" pitchFamily="34" charset="0"/>
              </a:rPr>
              <a:t> @ Θ.Ε. ΕΚΠ63 1</a:t>
            </a:r>
            <a:r>
              <a:rPr lang="el-GR" baseline="30000" dirty="0">
                <a:solidFill>
                  <a:schemeClr val="tx2">
                    <a:lumMod val="50000"/>
                  </a:schemeClr>
                </a:solidFill>
                <a:latin typeface="Tahoma" pitchFamily="34" charset="0"/>
                <a:ea typeface="Tahoma" pitchFamily="34" charset="0"/>
                <a:cs typeface="Tahoma" pitchFamily="34" charset="0"/>
              </a:rPr>
              <a:t>Η</a:t>
            </a:r>
            <a:r>
              <a:rPr lang="el-GR" dirty="0">
                <a:solidFill>
                  <a:schemeClr val="tx2">
                    <a:lumMod val="50000"/>
                  </a:schemeClr>
                </a:solidFill>
                <a:latin typeface="Tahoma" pitchFamily="34" charset="0"/>
                <a:ea typeface="Tahoma" pitchFamily="34" charset="0"/>
                <a:cs typeface="Tahoma" pitchFamily="34" charset="0"/>
              </a:rPr>
              <a:t> ΟΣΣ 2020-21</a:t>
            </a:r>
          </a:p>
        </p:txBody>
      </p:sp>
    </p:spTree>
    <p:extLst>
      <p:ext uri="{BB962C8B-B14F-4D97-AF65-F5344CB8AC3E}">
        <p14:creationId xmlns:p14="http://schemas.microsoft.com/office/powerpoint/2010/main" val="7630047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C1F6D180-9168-4BE4-BE06-EB3B9F24209B}"/>
              </a:ext>
            </a:extLst>
          </p:cNvPr>
          <p:cNvSpPr>
            <a:spLocks noGrp="1"/>
          </p:cNvSpPr>
          <p:nvPr>
            <p:ph type="title"/>
          </p:nvPr>
        </p:nvSpPr>
        <p:spPr/>
        <p:txBody>
          <a:bodyPr/>
          <a:lstStyle/>
          <a:p>
            <a:endParaRPr lang="en-US"/>
          </a:p>
        </p:txBody>
      </p:sp>
      <p:sp>
        <p:nvSpPr>
          <p:cNvPr id="3" name="Θέση περιεχομένου 2">
            <a:extLst>
              <a:ext uri="{FF2B5EF4-FFF2-40B4-BE49-F238E27FC236}">
                <a16:creationId xmlns:a16="http://schemas.microsoft.com/office/drawing/2014/main" id="{2FC2D163-FC79-4FE7-85AB-B0462C752E12}"/>
              </a:ext>
            </a:extLst>
          </p:cNvPr>
          <p:cNvSpPr>
            <a:spLocks noGrp="1"/>
          </p:cNvSpPr>
          <p:nvPr>
            <p:ph idx="1"/>
          </p:nvPr>
        </p:nvSpPr>
        <p:spPr/>
        <p:txBody>
          <a:bodyPr/>
          <a:lstStyle/>
          <a:p>
            <a:endParaRPr lang="en-US"/>
          </a:p>
        </p:txBody>
      </p:sp>
      <p:pic>
        <p:nvPicPr>
          <p:cNvPr id="4" name="Εικόνα 3">
            <a:extLst>
              <a:ext uri="{FF2B5EF4-FFF2-40B4-BE49-F238E27FC236}">
                <a16:creationId xmlns:a16="http://schemas.microsoft.com/office/drawing/2014/main" id="{94B652C3-094F-43C6-BF98-793777E1DFA2}"/>
              </a:ext>
            </a:extLst>
          </p:cNvPr>
          <p:cNvPicPr>
            <a:picLocks noChangeAspect="1"/>
          </p:cNvPicPr>
          <p:nvPr/>
        </p:nvPicPr>
        <p:blipFill>
          <a:blip r:embed="rId2"/>
          <a:stretch>
            <a:fillRect/>
          </a:stretch>
        </p:blipFill>
        <p:spPr>
          <a:xfrm>
            <a:off x="542963" y="0"/>
            <a:ext cx="10791007" cy="6663447"/>
          </a:xfrm>
          <a:prstGeom prst="rect">
            <a:avLst/>
          </a:prstGeom>
        </p:spPr>
      </p:pic>
      <p:sp>
        <p:nvSpPr>
          <p:cNvPr id="5" name="Ορθογώνιο: Στρογγύλεμα γωνιών 4">
            <a:extLst>
              <a:ext uri="{FF2B5EF4-FFF2-40B4-BE49-F238E27FC236}">
                <a16:creationId xmlns:a16="http://schemas.microsoft.com/office/drawing/2014/main" id="{552AB7AB-75C4-44DD-8D3D-76231EACC1D4}"/>
              </a:ext>
            </a:extLst>
          </p:cNvPr>
          <p:cNvSpPr/>
          <p:nvPr/>
        </p:nvSpPr>
        <p:spPr>
          <a:xfrm>
            <a:off x="7120647" y="6176963"/>
            <a:ext cx="4528390" cy="62142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l-GR" sz="3200" dirty="0"/>
              <a:t>Βαθμολόγηση εργασίας</a:t>
            </a:r>
            <a:endParaRPr lang="en-US" sz="3200" dirty="0"/>
          </a:p>
        </p:txBody>
      </p:sp>
      <p:sp>
        <p:nvSpPr>
          <p:cNvPr id="6" name="Footer Placeholder 4">
            <a:extLst>
              <a:ext uri="{FF2B5EF4-FFF2-40B4-BE49-F238E27FC236}">
                <a16:creationId xmlns:a16="http://schemas.microsoft.com/office/drawing/2014/main" id="{E9886123-817E-4803-AF31-48F1EB4C81DD}"/>
              </a:ext>
            </a:extLst>
          </p:cNvPr>
          <p:cNvSpPr>
            <a:spLocks noGrp="1"/>
          </p:cNvSpPr>
          <p:nvPr>
            <p:ph type="ftr" sz="quarter" idx="11"/>
          </p:nvPr>
        </p:nvSpPr>
        <p:spPr>
          <a:xfrm>
            <a:off x="3005847" y="6426470"/>
            <a:ext cx="4114800" cy="365125"/>
          </a:xfrm>
        </p:spPr>
        <p:txBody>
          <a:bodyPr/>
          <a:lstStyle/>
          <a:p>
            <a:r>
              <a:rPr lang="el-GR" dirty="0">
                <a:solidFill>
                  <a:schemeClr val="tx2">
                    <a:lumMod val="50000"/>
                  </a:schemeClr>
                </a:solidFill>
                <a:latin typeface="Tahoma" pitchFamily="34" charset="0"/>
                <a:ea typeface="Tahoma" pitchFamily="34" charset="0"/>
                <a:cs typeface="Tahoma" pitchFamily="34" charset="0"/>
              </a:rPr>
              <a:t>Παναγιώτης </a:t>
            </a:r>
            <a:r>
              <a:rPr lang="el-GR" dirty="0" err="1">
                <a:solidFill>
                  <a:schemeClr val="tx2">
                    <a:lumMod val="50000"/>
                  </a:schemeClr>
                </a:solidFill>
                <a:latin typeface="Tahoma" pitchFamily="34" charset="0"/>
                <a:ea typeface="Tahoma" pitchFamily="34" charset="0"/>
                <a:cs typeface="Tahoma" pitchFamily="34" charset="0"/>
              </a:rPr>
              <a:t>Πήλιουρας</a:t>
            </a:r>
            <a:r>
              <a:rPr lang="el-GR" dirty="0">
                <a:solidFill>
                  <a:schemeClr val="tx2">
                    <a:lumMod val="50000"/>
                  </a:schemeClr>
                </a:solidFill>
                <a:latin typeface="Tahoma" pitchFamily="34" charset="0"/>
                <a:ea typeface="Tahoma" pitchFamily="34" charset="0"/>
                <a:cs typeface="Tahoma" pitchFamily="34" charset="0"/>
              </a:rPr>
              <a:t> @ Θ.Ε. ΕΚΠ63 1</a:t>
            </a:r>
            <a:r>
              <a:rPr lang="el-GR" baseline="30000" dirty="0">
                <a:solidFill>
                  <a:schemeClr val="tx2">
                    <a:lumMod val="50000"/>
                  </a:schemeClr>
                </a:solidFill>
                <a:latin typeface="Tahoma" pitchFamily="34" charset="0"/>
                <a:ea typeface="Tahoma" pitchFamily="34" charset="0"/>
                <a:cs typeface="Tahoma" pitchFamily="34" charset="0"/>
              </a:rPr>
              <a:t>Η</a:t>
            </a:r>
            <a:r>
              <a:rPr lang="el-GR" dirty="0">
                <a:solidFill>
                  <a:schemeClr val="tx2">
                    <a:lumMod val="50000"/>
                  </a:schemeClr>
                </a:solidFill>
                <a:latin typeface="Tahoma" pitchFamily="34" charset="0"/>
                <a:ea typeface="Tahoma" pitchFamily="34" charset="0"/>
                <a:cs typeface="Tahoma" pitchFamily="34" charset="0"/>
              </a:rPr>
              <a:t> ΟΣΣ 2020-21</a:t>
            </a:r>
          </a:p>
        </p:txBody>
      </p:sp>
    </p:spTree>
    <p:extLst>
      <p:ext uri="{BB962C8B-B14F-4D97-AF65-F5344CB8AC3E}">
        <p14:creationId xmlns:p14="http://schemas.microsoft.com/office/powerpoint/2010/main" val="271301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Πίνακας 8">
            <a:extLst>
              <a:ext uri="{FF2B5EF4-FFF2-40B4-BE49-F238E27FC236}">
                <a16:creationId xmlns:a16="http://schemas.microsoft.com/office/drawing/2014/main" id="{F82408F2-0DDB-4993-866F-6BDF6F9EF008}"/>
              </a:ext>
            </a:extLst>
          </p:cNvPr>
          <p:cNvGraphicFramePr>
            <a:graphicFrameLocks noGrp="1"/>
          </p:cNvGraphicFramePr>
          <p:nvPr/>
        </p:nvGraphicFramePr>
        <p:xfrm>
          <a:off x="2345991" y="980309"/>
          <a:ext cx="6593732" cy="5701536"/>
        </p:xfrm>
        <a:graphic>
          <a:graphicData uri="http://schemas.openxmlformats.org/drawingml/2006/table">
            <a:tbl>
              <a:tblPr>
                <a:tableStyleId>{5C22544A-7EE6-4342-B048-85BDC9FD1C3A}</a:tableStyleId>
              </a:tblPr>
              <a:tblGrid>
                <a:gridCol w="5527044">
                  <a:extLst>
                    <a:ext uri="{9D8B030D-6E8A-4147-A177-3AD203B41FA5}">
                      <a16:colId xmlns:a16="http://schemas.microsoft.com/office/drawing/2014/main" val="546164378"/>
                    </a:ext>
                  </a:extLst>
                </a:gridCol>
                <a:gridCol w="1066688">
                  <a:extLst>
                    <a:ext uri="{9D8B030D-6E8A-4147-A177-3AD203B41FA5}">
                      <a16:colId xmlns:a16="http://schemas.microsoft.com/office/drawing/2014/main" val="3260449193"/>
                    </a:ext>
                  </a:extLst>
                </a:gridCol>
              </a:tblGrid>
              <a:tr h="99669">
                <a:tc>
                  <a:txBody>
                    <a:bodyPr/>
                    <a:lstStyle/>
                    <a:p>
                      <a:pPr marL="0" marR="0" algn="ctr">
                        <a:lnSpc>
                          <a:spcPct val="115000"/>
                        </a:lnSpc>
                        <a:spcBef>
                          <a:spcPts val="0"/>
                        </a:spcBef>
                        <a:spcAft>
                          <a:spcPts val="0"/>
                        </a:spcAft>
                      </a:pPr>
                      <a:r>
                        <a:rPr lang="el-GR" sz="900" b="1" kern="50" dirty="0">
                          <a:effectLst/>
                        </a:rPr>
                        <a:t>Κριτήρια αξιολόγησης</a:t>
                      </a:r>
                      <a:endParaRPr lang="en-US" sz="900" b="1" kern="50" dirty="0">
                        <a:effectLst/>
                        <a:latin typeface="Calibri" panose="020F0502020204030204" pitchFamily="34" charset="0"/>
                        <a:ea typeface="Arial Unicode MS"/>
                        <a:cs typeface="font289"/>
                      </a:endParaRPr>
                    </a:p>
                  </a:txBody>
                  <a:tcPr marL="34768" marR="34768" marT="0" marB="0"/>
                </a:tc>
                <a:tc>
                  <a:txBody>
                    <a:bodyPr/>
                    <a:lstStyle/>
                    <a:p>
                      <a:pPr marL="0" marR="0" algn="ctr">
                        <a:lnSpc>
                          <a:spcPct val="115000"/>
                        </a:lnSpc>
                        <a:spcBef>
                          <a:spcPts val="0"/>
                        </a:spcBef>
                        <a:spcAft>
                          <a:spcPts val="0"/>
                        </a:spcAft>
                      </a:pPr>
                      <a:r>
                        <a:rPr lang="el-GR" sz="900" kern="50">
                          <a:effectLst/>
                        </a:rPr>
                        <a:t>Βαθμολογία</a:t>
                      </a:r>
                      <a:endParaRPr lang="en-US" sz="900" kern="50">
                        <a:effectLst/>
                        <a:latin typeface="Calibri" panose="020F0502020204030204" pitchFamily="34" charset="0"/>
                        <a:ea typeface="Arial Unicode MS"/>
                        <a:cs typeface="font289"/>
                      </a:endParaRPr>
                    </a:p>
                  </a:txBody>
                  <a:tcPr marL="34768" marR="34768" marT="0" marB="0"/>
                </a:tc>
                <a:extLst>
                  <a:ext uri="{0D108BD9-81ED-4DB2-BD59-A6C34878D82A}">
                    <a16:rowId xmlns:a16="http://schemas.microsoft.com/office/drawing/2014/main" val="4271262512"/>
                  </a:ext>
                </a:extLst>
              </a:tr>
              <a:tr h="189100">
                <a:tc>
                  <a:txBody>
                    <a:bodyPr/>
                    <a:lstStyle/>
                    <a:p>
                      <a:pPr marL="0" marR="0">
                        <a:lnSpc>
                          <a:spcPct val="115000"/>
                        </a:lnSpc>
                        <a:spcBef>
                          <a:spcPts val="0"/>
                        </a:spcBef>
                        <a:spcAft>
                          <a:spcPts val="0"/>
                        </a:spcAft>
                      </a:pPr>
                      <a:r>
                        <a:rPr lang="el-GR" sz="900" kern="50" dirty="0">
                          <a:effectLst/>
                        </a:rPr>
                        <a:t>Ενότητα 1.            (3 μονάδες)</a:t>
                      </a:r>
                      <a:endParaRPr lang="en-US" sz="900" kern="50" dirty="0">
                        <a:effectLst/>
                      </a:endParaRPr>
                    </a:p>
                    <a:p>
                      <a:pPr marL="0" marR="0">
                        <a:lnSpc>
                          <a:spcPct val="115000"/>
                        </a:lnSpc>
                        <a:spcBef>
                          <a:spcPts val="0"/>
                        </a:spcBef>
                        <a:spcAft>
                          <a:spcPts val="0"/>
                        </a:spcAft>
                      </a:pPr>
                      <a:r>
                        <a:rPr lang="el-GR" sz="900" b="1" kern="50" dirty="0">
                          <a:effectLst/>
                        </a:rPr>
                        <a:t>Εστίαση / Πληρότητα ανάπτυξης του θέματος  </a:t>
                      </a:r>
                      <a:endParaRPr lang="en-US" sz="900" b="1" kern="50" dirty="0">
                        <a:effectLst/>
                        <a:latin typeface="Calibri" panose="020F0502020204030204" pitchFamily="34" charset="0"/>
                        <a:ea typeface="Arial Unicode MS"/>
                        <a:cs typeface="font289"/>
                      </a:endParaRPr>
                    </a:p>
                  </a:txBody>
                  <a:tcPr marL="34768" marR="34768" marT="0" marB="0" anchor="ctr"/>
                </a:tc>
                <a:tc rowSpan="4">
                  <a:txBody>
                    <a:bodyPr/>
                    <a:lstStyle/>
                    <a:p>
                      <a:pPr marL="0" marR="0" algn="ctr">
                        <a:lnSpc>
                          <a:spcPct val="115000"/>
                        </a:lnSpc>
                        <a:spcBef>
                          <a:spcPts val="0"/>
                        </a:spcBef>
                        <a:spcAft>
                          <a:spcPts val="0"/>
                        </a:spcAft>
                      </a:pPr>
                      <a:r>
                        <a:rPr lang="el-GR" sz="900" kern="50">
                          <a:effectLst/>
                        </a:rPr>
                        <a:t> </a:t>
                      </a:r>
                      <a:endParaRPr lang="en-US" sz="900" kern="50">
                        <a:effectLst/>
                        <a:latin typeface="Calibri" panose="020F0502020204030204" pitchFamily="34" charset="0"/>
                        <a:ea typeface="Arial Unicode MS"/>
                        <a:cs typeface="font289"/>
                      </a:endParaRPr>
                    </a:p>
                  </a:txBody>
                  <a:tcPr marL="34768" marR="34768" marT="0" marB="0" anchor="ctr"/>
                </a:tc>
                <a:extLst>
                  <a:ext uri="{0D108BD9-81ED-4DB2-BD59-A6C34878D82A}">
                    <a16:rowId xmlns:a16="http://schemas.microsoft.com/office/drawing/2014/main" val="1092902038"/>
                  </a:ext>
                </a:extLst>
              </a:tr>
              <a:tr h="91395">
                <a:tc>
                  <a:txBody>
                    <a:bodyPr/>
                    <a:lstStyle/>
                    <a:p>
                      <a:pPr marL="0" marR="0">
                        <a:lnSpc>
                          <a:spcPct val="115000"/>
                        </a:lnSpc>
                        <a:spcBef>
                          <a:spcPts val="0"/>
                        </a:spcBef>
                        <a:spcAft>
                          <a:spcPts val="0"/>
                        </a:spcAft>
                      </a:pPr>
                      <a:r>
                        <a:rPr lang="el-GR" sz="900" kern="50">
                          <a:effectLst/>
                        </a:rPr>
                        <a:t>Εστίαση στα ζητούμενα του θέματος</a:t>
                      </a:r>
                      <a:endParaRPr lang="en-US" sz="900" kern="50">
                        <a:effectLst/>
                        <a:latin typeface="Calibri" panose="020F0502020204030204" pitchFamily="34" charset="0"/>
                        <a:ea typeface="Arial Unicode MS"/>
                        <a:cs typeface="font289"/>
                      </a:endParaRPr>
                    </a:p>
                  </a:txBody>
                  <a:tcPr marL="34768" marR="34768" marT="0" marB="0" anchor="ctr"/>
                </a:tc>
                <a:tc vMerge="1">
                  <a:txBody>
                    <a:bodyPr/>
                    <a:lstStyle/>
                    <a:p>
                      <a:endParaRPr lang="en-US"/>
                    </a:p>
                  </a:txBody>
                  <a:tcPr/>
                </a:tc>
                <a:extLst>
                  <a:ext uri="{0D108BD9-81ED-4DB2-BD59-A6C34878D82A}">
                    <a16:rowId xmlns:a16="http://schemas.microsoft.com/office/drawing/2014/main" val="4104022880"/>
                  </a:ext>
                </a:extLst>
              </a:tr>
              <a:tr h="91395">
                <a:tc>
                  <a:txBody>
                    <a:bodyPr/>
                    <a:lstStyle/>
                    <a:p>
                      <a:pPr marL="0" marR="0">
                        <a:lnSpc>
                          <a:spcPct val="115000"/>
                        </a:lnSpc>
                        <a:spcBef>
                          <a:spcPts val="0"/>
                        </a:spcBef>
                        <a:spcAft>
                          <a:spcPts val="0"/>
                        </a:spcAft>
                      </a:pPr>
                      <a:r>
                        <a:rPr lang="el-GR" sz="900" kern="50">
                          <a:effectLst/>
                        </a:rPr>
                        <a:t>Κριτική – συνθετική προσέγγιση του θέματος</a:t>
                      </a:r>
                      <a:endParaRPr lang="en-US" sz="900" kern="50">
                        <a:effectLst/>
                        <a:latin typeface="Calibri" panose="020F0502020204030204" pitchFamily="34" charset="0"/>
                        <a:ea typeface="Arial Unicode MS"/>
                        <a:cs typeface="font289"/>
                      </a:endParaRPr>
                    </a:p>
                  </a:txBody>
                  <a:tcPr marL="34768" marR="34768" marT="0" marB="0" anchor="ctr"/>
                </a:tc>
                <a:tc vMerge="1">
                  <a:txBody>
                    <a:bodyPr/>
                    <a:lstStyle/>
                    <a:p>
                      <a:endParaRPr lang="en-US"/>
                    </a:p>
                  </a:txBody>
                  <a:tcPr/>
                </a:tc>
                <a:extLst>
                  <a:ext uri="{0D108BD9-81ED-4DB2-BD59-A6C34878D82A}">
                    <a16:rowId xmlns:a16="http://schemas.microsoft.com/office/drawing/2014/main" val="1464765063"/>
                  </a:ext>
                </a:extLst>
              </a:tr>
              <a:tr h="91395">
                <a:tc>
                  <a:txBody>
                    <a:bodyPr/>
                    <a:lstStyle/>
                    <a:p>
                      <a:pPr marL="0" marR="0">
                        <a:lnSpc>
                          <a:spcPct val="115000"/>
                        </a:lnSpc>
                        <a:spcBef>
                          <a:spcPts val="0"/>
                        </a:spcBef>
                        <a:spcAft>
                          <a:spcPts val="0"/>
                        </a:spcAft>
                      </a:pPr>
                      <a:r>
                        <a:rPr lang="el-GR" sz="900" kern="50">
                          <a:effectLst/>
                        </a:rPr>
                        <a:t>Πληρότητα ανάπτυξης του θέματος</a:t>
                      </a:r>
                      <a:endParaRPr lang="en-US" sz="900" kern="50">
                        <a:effectLst/>
                        <a:latin typeface="Calibri" panose="020F0502020204030204" pitchFamily="34" charset="0"/>
                        <a:ea typeface="Arial Unicode MS"/>
                        <a:cs typeface="font289"/>
                      </a:endParaRPr>
                    </a:p>
                  </a:txBody>
                  <a:tcPr marL="34768" marR="34768" marT="0" marB="0" anchor="ctr"/>
                </a:tc>
                <a:tc vMerge="1">
                  <a:txBody>
                    <a:bodyPr/>
                    <a:lstStyle/>
                    <a:p>
                      <a:endParaRPr lang="en-US"/>
                    </a:p>
                  </a:txBody>
                  <a:tcPr/>
                </a:tc>
                <a:extLst>
                  <a:ext uri="{0D108BD9-81ED-4DB2-BD59-A6C34878D82A}">
                    <a16:rowId xmlns:a16="http://schemas.microsoft.com/office/drawing/2014/main" val="2155863876"/>
                  </a:ext>
                </a:extLst>
              </a:tr>
              <a:tr h="91395">
                <a:tc>
                  <a:txBody>
                    <a:bodyPr/>
                    <a:lstStyle/>
                    <a:p>
                      <a:pPr marL="0" marR="0" algn="r">
                        <a:lnSpc>
                          <a:spcPct val="115000"/>
                        </a:lnSpc>
                        <a:spcBef>
                          <a:spcPts val="0"/>
                        </a:spcBef>
                        <a:spcAft>
                          <a:spcPts val="0"/>
                        </a:spcAft>
                      </a:pPr>
                      <a:r>
                        <a:rPr lang="el-GR" sz="900" kern="50">
                          <a:effectLst/>
                        </a:rPr>
                        <a:t> </a:t>
                      </a:r>
                      <a:endParaRPr lang="en-US" sz="900" kern="50">
                        <a:effectLst/>
                        <a:latin typeface="Calibri" panose="020F0502020204030204" pitchFamily="34" charset="0"/>
                        <a:ea typeface="Arial Unicode MS"/>
                        <a:cs typeface="font289"/>
                      </a:endParaRPr>
                    </a:p>
                  </a:txBody>
                  <a:tcPr marL="34768" marR="34768" marT="0" marB="0" anchor="ctr"/>
                </a:tc>
                <a:tc>
                  <a:txBody>
                    <a:bodyPr/>
                    <a:lstStyle/>
                    <a:p>
                      <a:pPr marL="0" marR="0" algn="ctr">
                        <a:lnSpc>
                          <a:spcPct val="115000"/>
                        </a:lnSpc>
                        <a:spcBef>
                          <a:spcPts val="0"/>
                        </a:spcBef>
                        <a:spcAft>
                          <a:spcPts val="0"/>
                        </a:spcAft>
                      </a:pPr>
                      <a:r>
                        <a:rPr lang="en-US" sz="900" kern="50">
                          <a:effectLst/>
                        </a:rPr>
                        <a:t> </a:t>
                      </a:r>
                      <a:endParaRPr lang="en-US" sz="900" kern="50">
                        <a:effectLst/>
                        <a:latin typeface="Calibri" panose="020F0502020204030204" pitchFamily="34" charset="0"/>
                        <a:ea typeface="Arial Unicode MS"/>
                        <a:cs typeface="font289"/>
                      </a:endParaRPr>
                    </a:p>
                  </a:txBody>
                  <a:tcPr marL="34768" marR="34768" marT="0" marB="0" anchor="ctr"/>
                </a:tc>
                <a:extLst>
                  <a:ext uri="{0D108BD9-81ED-4DB2-BD59-A6C34878D82A}">
                    <a16:rowId xmlns:a16="http://schemas.microsoft.com/office/drawing/2014/main" val="1885522272"/>
                  </a:ext>
                </a:extLst>
              </a:tr>
              <a:tr h="189100">
                <a:tc>
                  <a:txBody>
                    <a:bodyPr/>
                    <a:lstStyle/>
                    <a:p>
                      <a:pPr marL="0" marR="0">
                        <a:lnSpc>
                          <a:spcPct val="115000"/>
                        </a:lnSpc>
                        <a:spcBef>
                          <a:spcPts val="0"/>
                        </a:spcBef>
                        <a:spcAft>
                          <a:spcPts val="0"/>
                        </a:spcAft>
                      </a:pPr>
                      <a:r>
                        <a:rPr lang="el-GR" sz="900" kern="50" dirty="0">
                          <a:effectLst/>
                        </a:rPr>
                        <a:t>Ενότητα 2.             (2 μονάδες)</a:t>
                      </a:r>
                      <a:endParaRPr lang="en-US" sz="900" kern="50" dirty="0">
                        <a:effectLst/>
                      </a:endParaRPr>
                    </a:p>
                    <a:p>
                      <a:pPr marL="0" marR="0">
                        <a:lnSpc>
                          <a:spcPct val="115000"/>
                        </a:lnSpc>
                        <a:spcBef>
                          <a:spcPts val="0"/>
                        </a:spcBef>
                        <a:spcAft>
                          <a:spcPts val="0"/>
                        </a:spcAft>
                      </a:pPr>
                      <a:r>
                        <a:rPr lang="el-GR" sz="900" b="1" kern="50" dirty="0">
                          <a:effectLst/>
                        </a:rPr>
                        <a:t>Κατανόηση και εμβάθυνση / Σαφήνεια διατύπωσης σκοπού</a:t>
                      </a:r>
                      <a:endParaRPr lang="en-US" sz="900" b="1" kern="50" dirty="0">
                        <a:effectLst/>
                        <a:latin typeface="Calibri" panose="020F0502020204030204" pitchFamily="34" charset="0"/>
                        <a:ea typeface="Arial Unicode MS"/>
                        <a:cs typeface="font289"/>
                      </a:endParaRPr>
                    </a:p>
                  </a:txBody>
                  <a:tcPr marL="34768" marR="34768" marT="0" marB="0" anchor="ctr"/>
                </a:tc>
                <a:tc rowSpan="4">
                  <a:txBody>
                    <a:bodyPr/>
                    <a:lstStyle/>
                    <a:p>
                      <a:pPr marL="0" marR="0" algn="ctr">
                        <a:lnSpc>
                          <a:spcPct val="115000"/>
                        </a:lnSpc>
                        <a:spcBef>
                          <a:spcPts val="0"/>
                        </a:spcBef>
                        <a:spcAft>
                          <a:spcPts val="0"/>
                        </a:spcAft>
                      </a:pPr>
                      <a:r>
                        <a:rPr lang="el-GR" sz="900" kern="50">
                          <a:effectLst/>
                        </a:rPr>
                        <a:t> </a:t>
                      </a:r>
                      <a:endParaRPr lang="en-US" sz="900" kern="50">
                        <a:effectLst/>
                        <a:latin typeface="Calibri" panose="020F0502020204030204" pitchFamily="34" charset="0"/>
                        <a:ea typeface="Arial Unicode MS"/>
                        <a:cs typeface="font289"/>
                      </a:endParaRPr>
                    </a:p>
                  </a:txBody>
                  <a:tcPr marL="34768" marR="34768" marT="0" marB="0" anchor="ctr"/>
                </a:tc>
                <a:extLst>
                  <a:ext uri="{0D108BD9-81ED-4DB2-BD59-A6C34878D82A}">
                    <a16:rowId xmlns:a16="http://schemas.microsoft.com/office/drawing/2014/main" val="3131935159"/>
                  </a:ext>
                </a:extLst>
              </a:tr>
              <a:tr h="91395">
                <a:tc>
                  <a:txBody>
                    <a:bodyPr/>
                    <a:lstStyle/>
                    <a:p>
                      <a:pPr marL="0" marR="0">
                        <a:lnSpc>
                          <a:spcPct val="115000"/>
                        </a:lnSpc>
                        <a:spcBef>
                          <a:spcPts val="0"/>
                        </a:spcBef>
                        <a:spcAft>
                          <a:spcPts val="0"/>
                        </a:spcAft>
                      </a:pPr>
                      <a:r>
                        <a:rPr lang="el-GR" sz="900" kern="50">
                          <a:effectLst/>
                        </a:rPr>
                        <a:t>Βαθμός κατανόησης των εννοιών και θεωριών</a:t>
                      </a:r>
                      <a:endParaRPr lang="en-US" sz="900" kern="50">
                        <a:effectLst/>
                        <a:latin typeface="Calibri" panose="020F0502020204030204" pitchFamily="34" charset="0"/>
                        <a:ea typeface="Arial Unicode MS"/>
                        <a:cs typeface="font289"/>
                      </a:endParaRPr>
                    </a:p>
                  </a:txBody>
                  <a:tcPr marL="34768" marR="34768" marT="0" marB="0" anchor="ctr"/>
                </a:tc>
                <a:tc vMerge="1">
                  <a:txBody>
                    <a:bodyPr/>
                    <a:lstStyle/>
                    <a:p>
                      <a:endParaRPr lang="en-US"/>
                    </a:p>
                  </a:txBody>
                  <a:tcPr/>
                </a:tc>
                <a:extLst>
                  <a:ext uri="{0D108BD9-81ED-4DB2-BD59-A6C34878D82A}">
                    <a16:rowId xmlns:a16="http://schemas.microsoft.com/office/drawing/2014/main" val="3519327916"/>
                  </a:ext>
                </a:extLst>
              </a:tr>
              <a:tr h="91395">
                <a:tc>
                  <a:txBody>
                    <a:bodyPr/>
                    <a:lstStyle/>
                    <a:p>
                      <a:pPr marL="0" marR="0">
                        <a:lnSpc>
                          <a:spcPct val="115000"/>
                        </a:lnSpc>
                        <a:spcBef>
                          <a:spcPts val="0"/>
                        </a:spcBef>
                        <a:spcAft>
                          <a:spcPts val="0"/>
                        </a:spcAft>
                      </a:pPr>
                      <a:r>
                        <a:rPr lang="el-GR" sz="900" kern="50">
                          <a:effectLst/>
                        </a:rPr>
                        <a:t>Ανάλυση-επεξεργασία βασικών σημείων του θέματος/ Εμβάθυνση</a:t>
                      </a:r>
                      <a:endParaRPr lang="en-US" sz="900" kern="50">
                        <a:effectLst/>
                        <a:latin typeface="Calibri" panose="020F0502020204030204" pitchFamily="34" charset="0"/>
                        <a:ea typeface="Arial Unicode MS"/>
                        <a:cs typeface="font289"/>
                      </a:endParaRPr>
                    </a:p>
                  </a:txBody>
                  <a:tcPr marL="34768" marR="34768" marT="0" marB="0" anchor="ctr"/>
                </a:tc>
                <a:tc vMerge="1">
                  <a:txBody>
                    <a:bodyPr/>
                    <a:lstStyle/>
                    <a:p>
                      <a:endParaRPr lang="en-US"/>
                    </a:p>
                  </a:txBody>
                  <a:tcPr/>
                </a:tc>
                <a:extLst>
                  <a:ext uri="{0D108BD9-81ED-4DB2-BD59-A6C34878D82A}">
                    <a16:rowId xmlns:a16="http://schemas.microsoft.com/office/drawing/2014/main" val="1744634808"/>
                  </a:ext>
                </a:extLst>
              </a:tr>
              <a:tr h="91395">
                <a:tc>
                  <a:txBody>
                    <a:bodyPr/>
                    <a:lstStyle/>
                    <a:p>
                      <a:pPr marL="0" marR="0">
                        <a:lnSpc>
                          <a:spcPct val="115000"/>
                        </a:lnSpc>
                        <a:spcBef>
                          <a:spcPts val="0"/>
                        </a:spcBef>
                        <a:spcAft>
                          <a:spcPts val="0"/>
                        </a:spcAft>
                      </a:pPr>
                      <a:r>
                        <a:rPr lang="el-GR" sz="900" kern="50">
                          <a:effectLst/>
                        </a:rPr>
                        <a:t> </a:t>
                      </a:r>
                      <a:endParaRPr lang="en-US" sz="900" kern="50">
                        <a:effectLst/>
                        <a:latin typeface="Calibri" panose="020F0502020204030204" pitchFamily="34" charset="0"/>
                        <a:ea typeface="Arial Unicode MS"/>
                        <a:cs typeface="font289"/>
                      </a:endParaRPr>
                    </a:p>
                  </a:txBody>
                  <a:tcPr marL="34768" marR="34768" marT="0" marB="0" anchor="ctr"/>
                </a:tc>
                <a:tc vMerge="1">
                  <a:txBody>
                    <a:bodyPr/>
                    <a:lstStyle/>
                    <a:p>
                      <a:endParaRPr lang="en-US"/>
                    </a:p>
                  </a:txBody>
                  <a:tcPr/>
                </a:tc>
                <a:extLst>
                  <a:ext uri="{0D108BD9-81ED-4DB2-BD59-A6C34878D82A}">
                    <a16:rowId xmlns:a16="http://schemas.microsoft.com/office/drawing/2014/main" val="1054601957"/>
                  </a:ext>
                </a:extLst>
              </a:tr>
              <a:tr h="91395">
                <a:tc>
                  <a:txBody>
                    <a:bodyPr/>
                    <a:lstStyle/>
                    <a:p>
                      <a:pPr marL="0" marR="0">
                        <a:lnSpc>
                          <a:spcPct val="115000"/>
                        </a:lnSpc>
                        <a:spcBef>
                          <a:spcPts val="0"/>
                        </a:spcBef>
                        <a:spcAft>
                          <a:spcPts val="0"/>
                        </a:spcAft>
                      </a:pPr>
                      <a:r>
                        <a:rPr lang="el-GR" sz="900" kern="50">
                          <a:effectLst/>
                        </a:rPr>
                        <a:t> </a:t>
                      </a:r>
                      <a:endParaRPr lang="en-US" sz="900" kern="50">
                        <a:effectLst/>
                        <a:latin typeface="Calibri" panose="020F0502020204030204" pitchFamily="34" charset="0"/>
                        <a:ea typeface="Arial Unicode MS"/>
                        <a:cs typeface="font289"/>
                      </a:endParaRPr>
                    </a:p>
                  </a:txBody>
                  <a:tcPr marL="34768" marR="34768" marT="0" marB="0"/>
                </a:tc>
                <a:tc>
                  <a:txBody>
                    <a:bodyPr/>
                    <a:lstStyle/>
                    <a:p>
                      <a:pPr marL="0" marR="0">
                        <a:lnSpc>
                          <a:spcPct val="115000"/>
                        </a:lnSpc>
                        <a:spcBef>
                          <a:spcPts val="0"/>
                        </a:spcBef>
                        <a:spcAft>
                          <a:spcPts val="0"/>
                        </a:spcAft>
                      </a:pPr>
                      <a:r>
                        <a:rPr lang="el-GR" sz="900" kern="50">
                          <a:effectLst/>
                        </a:rPr>
                        <a:t> </a:t>
                      </a:r>
                      <a:endParaRPr lang="en-US" sz="900" kern="50">
                        <a:effectLst/>
                        <a:latin typeface="Calibri" panose="020F0502020204030204" pitchFamily="34" charset="0"/>
                        <a:ea typeface="Arial Unicode MS"/>
                        <a:cs typeface="font289"/>
                      </a:endParaRPr>
                    </a:p>
                  </a:txBody>
                  <a:tcPr marL="34768" marR="34768" marT="0" marB="0"/>
                </a:tc>
                <a:extLst>
                  <a:ext uri="{0D108BD9-81ED-4DB2-BD59-A6C34878D82A}">
                    <a16:rowId xmlns:a16="http://schemas.microsoft.com/office/drawing/2014/main" val="1291950104"/>
                  </a:ext>
                </a:extLst>
              </a:tr>
              <a:tr h="189100">
                <a:tc>
                  <a:txBody>
                    <a:bodyPr/>
                    <a:lstStyle/>
                    <a:p>
                      <a:pPr marL="0" marR="0">
                        <a:lnSpc>
                          <a:spcPct val="115000"/>
                        </a:lnSpc>
                        <a:spcBef>
                          <a:spcPts val="0"/>
                        </a:spcBef>
                        <a:spcAft>
                          <a:spcPts val="0"/>
                        </a:spcAft>
                      </a:pPr>
                      <a:r>
                        <a:rPr lang="el-GR" sz="900" kern="50" dirty="0">
                          <a:effectLst/>
                        </a:rPr>
                        <a:t>Ενότητα 3.             (2 μονάδες)</a:t>
                      </a:r>
                      <a:endParaRPr lang="en-US" sz="900" kern="50" dirty="0">
                        <a:effectLst/>
                      </a:endParaRPr>
                    </a:p>
                    <a:p>
                      <a:pPr marL="0" marR="0">
                        <a:lnSpc>
                          <a:spcPct val="115000"/>
                        </a:lnSpc>
                        <a:spcBef>
                          <a:spcPts val="0"/>
                        </a:spcBef>
                        <a:spcAft>
                          <a:spcPts val="0"/>
                        </a:spcAft>
                      </a:pPr>
                      <a:r>
                        <a:rPr lang="el-GR" sz="900" b="1" kern="50" dirty="0">
                          <a:effectLst/>
                        </a:rPr>
                        <a:t>Οργάνωση του κειμένου / Ροή και λογική συνοχή/ Σαφήνεια περιεχομένου </a:t>
                      </a:r>
                      <a:endParaRPr lang="en-US" sz="900" b="1" kern="50" dirty="0">
                        <a:effectLst/>
                        <a:latin typeface="Calibri" panose="020F0502020204030204" pitchFamily="34" charset="0"/>
                        <a:ea typeface="Arial Unicode MS"/>
                        <a:cs typeface="font289"/>
                      </a:endParaRPr>
                    </a:p>
                  </a:txBody>
                  <a:tcPr marL="34768" marR="34768" marT="0" marB="0" anchor="ctr"/>
                </a:tc>
                <a:tc rowSpan="4">
                  <a:txBody>
                    <a:bodyPr/>
                    <a:lstStyle/>
                    <a:p>
                      <a:pPr marL="0" marR="0" algn="ctr">
                        <a:lnSpc>
                          <a:spcPct val="115000"/>
                        </a:lnSpc>
                        <a:spcBef>
                          <a:spcPts val="0"/>
                        </a:spcBef>
                        <a:spcAft>
                          <a:spcPts val="0"/>
                        </a:spcAft>
                      </a:pPr>
                      <a:r>
                        <a:rPr lang="el-GR" sz="900" kern="50">
                          <a:effectLst/>
                        </a:rPr>
                        <a:t> </a:t>
                      </a:r>
                      <a:endParaRPr lang="en-US" sz="900" kern="50">
                        <a:effectLst/>
                        <a:latin typeface="Calibri" panose="020F0502020204030204" pitchFamily="34" charset="0"/>
                        <a:ea typeface="Arial Unicode MS"/>
                        <a:cs typeface="font289"/>
                      </a:endParaRPr>
                    </a:p>
                  </a:txBody>
                  <a:tcPr marL="34768" marR="34768" marT="0" marB="0" anchor="ctr"/>
                </a:tc>
                <a:extLst>
                  <a:ext uri="{0D108BD9-81ED-4DB2-BD59-A6C34878D82A}">
                    <a16:rowId xmlns:a16="http://schemas.microsoft.com/office/drawing/2014/main" val="3195862557"/>
                  </a:ext>
                </a:extLst>
              </a:tr>
              <a:tr h="91395">
                <a:tc>
                  <a:txBody>
                    <a:bodyPr/>
                    <a:lstStyle/>
                    <a:p>
                      <a:pPr marL="0" marR="0">
                        <a:lnSpc>
                          <a:spcPct val="115000"/>
                        </a:lnSpc>
                        <a:spcBef>
                          <a:spcPts val="0"/>
                        </a:spcBef>
                        <a:spcAft>
                          <a:spcPts val="0"/>
                        </a:spcAft>
                      </a:pPr>
                      <a:r>
                        <a:rPr lang="el-GR" sz="900" kern="50">
                          <a:effectLst/>
                        </a:rPr>
                        <a:t>Λογική κατανομή του υλικού (εισαγωγή, ενότητες, συμπεράσματα)</a:t>
                      </a:r>
                      <a:endParaRPr lang="en-US" sz="900" kern="50">
                        <a:effectLst/>
                        <a:latin typeface="Calibri" panose="020F0502020204030204" pitchFamily="34" charset="0"/>
                        <a:ea typeface="Arial Unicode MS"/>
                        <a:cs typeface="font289"/>
                      </a:endParaRPr>
                    </a:p>
                  </a:txBody>
                  <a:tcPr marL="34768" marR="34768" marT="0" marB="0" anchor="ctr"/>
                </a:tc>
                <a:tc vMerge="1">
                  <a:txBody>
                    <a:bodyPr/>
                    <a:lstStyle/>
                    <a:p>
                      <a:endParaRPr lang="en-US"/>
                    </a:p>
                  </a:txBody>
                  <a:tcPr/>
                </a:tc>
                <a:extLst>
                  <a:ext uri="{0D108BD9-81ED-4DB2-BD59-A6C34878D82A}">
                    <a16:rowId xmlns:a16="http://schemas.microsoft.com/office/drawing/2014/main" val="476717371"/>
                  </a:ext>
                </a:extLst>
              </a:tr>
              <a:tr h="91395">
                <a:tc>
                  <a:txBody>
                    <a:bodyPr/>
                    <a:lstStyle/>
                    <a:p>
                      <a:pPr marL="0" marR="0">
                        <a:lnSpc>
                          <a:spcPct val="115000"/>
                        </a:lnSpc>
                        <a:spcBef>
                          <a:spcPts val="0"/>
                        </a:spcBef>
                        <a:spcAft>
                          <a:spcPts val="0"/>
                        </a:spcAft>
                      </a:pPr>
                      <a:r>
                        <a:rPr lang="el-GR" sz="900" kern="50">
                          <a:effectLst/>
                        </a:rPr>
                        <a:t>Ροή του κειμένου Συνοχή-σύνδεση παραγράφων και (υπο)ενοτήτων/ ομαλή μετάβαση</a:t>
                      </a:r>
                      <a:endParaRPr lang="en-US" sz="900" kern="50">
                        <a:effectLst/>
                        <a:latin typeface="Calibri" panose="020F0502020204030204" pitchFamily="34" charset="0"/>
                        <a:ea typeface="Arial Unicode MS"/>
                        <a:cs typeface="font289"/>
                      </a:endParaRPr>
                    </a:p>
                  </a:txBody>
                  <a:tcPr marL="34768" marR="34768" marT="0" marB="0" anchor="ctr"/>
                </a:tc>
                <a:tc vMerge="1">
                  <a:txBody>
                    <a:bodyPr/>
                    <a:lstStyle/>
                    <a:p>
                      <a:endParaRPr lang="en-US"/>
                    </a:p>
                  </a:txBody>
                  <a:tcPr/>
                </a:tc>
                <a:extLst>
                  <a:ext uri="{0D108BD9-81ED-4DB2-BD59-A6C34878D82A}">
                    <a16:rowId xmlns:a16="http://schemas.microsoft.com/office/drawing/2014/main" val="1569166828"/>
                  </a:ext>
                </a:extLst>
              </a:tr>
              <a:tr h="91395">
                <a:tc>
                  <a:txBody>
                    <a:bodyPr/>
                    <a:lstStyle/>
                    <a:p>
                      <a:pPr marL="0" marR="0">
                        <a:lnSpc>
                          <a:spcPct val="115000"/>
                        </a:lnSpc>
                        <a:spcBef>
                          <a:spcPts val="0"/>
                        </a:spcBef>
                        <a:spcAft>
                          <a:spcPts val="0"/>
                        </a:spcAft>
                      </a:pPr>
                      <a:r>
                        <a:rPr lang="el-GR" sz="900" kern="50">
                          <a:effectLst/>
                        </a:rPr>
                        <a:t>Σαφήνεια</a:t>
                      </a:r>
                      <a:endParaRPr lang="en-US" sz="900" kern="50">
                        <a:effectLst/>
                        <a:latin typeface="Calibri" panose="020F0502020204030204" pitchFamily="34" charset="0"/>
                        <a:ea typeface="Arial Unicode MS"/>
                        <a:cs typeface="font289"/>
                      </a:endParaRPr>
                    </a:p>
                  </a:txBody>
                  <a:tcPr marL="34768" marR="34768" marT="0" marB="0" anchor="ctr"/>
                </a:tc>
                <a:tc vMerge="1">
                  <a:txBody>
                    <a:bodyPr/>
                    <a:lstStyle/>
                    <a:p>
                      <a:endParaRPr lang="en-US"/>
                    </a:p>
                  </a:txBody>
                  <a:tcPr/>
                </a:tc>
                <a:extLst>
                  <a:ext uri="{0D108BD9-81ED-4DB2-BD59-A6C34878D82A}">
                    <a16:rowId xmlns:a16="http://schemas.microsoft.com/office/drawing/2014/main" val="1745988619"/>
                  </a:ext>
                </a:extLst>
              </a:tr>
              <a:tr h="91395">
                <a:tc>
                  <a:txBody>
                    <a:bodyPr/>
                    <a:lstStyle/>
                    <a:p>
                      <a:pPr marL="0" marR="0">
                        <a:lnSpc>
                          <a:spcPct val="115000"/>
                        </a:lnSpc>
                        <a:spcBef>
                          <a:spcPts val="0"/>
                        </a:spcBef>
                        <a:spcAft>
                          <a:spcPts val="0"/>
                        </a:spcAft>
                      </a:pPr>
                      <a:r>
                        <a:rPr lang="en-US" sz="900" kern="50">
                          <a:effectLst/>
                        </a:rPr>
                        <a:t> </a:t>
                      </a:r>
                      <a:endParaRPr lang="en-US" sz="900" kern="50">
                        <a:effectLst/>
                        <a:latin typeface="Calibri" panose="020F0502020204030204" pitchFamily="34" charset="0"/>
                        <a:ea typeface="Arial Unicode MS"/>
                        <a:cs typeface="font289"/>
                      </a:endParaRPr>
                    </a:p>
                  </a:txBody>
                  <a:tcPr marL="34768" marR="34768" marT="0" marB="0"/>
                </a:tc>
                <a:tc>
                  <a:txBody>
                    <a:bodyPr/>
                    <a:lstStyle/>
                    <a:p>
                      <a:pPr marL="0" marR="0">
                        <a:lnSpc>
                          <a:spcPct val="115000"/>
                        </a:lnSpc>
                        <a:spcBef>
                          <a:spcPts val="0"/>
                        </a:spcBef>
                        <a:spcAft>
                          <a:spcPts val="0"/>
                        </a:spcAft>
                      </a:pPr>
                      <a:r>
                        <a:rPr lang="en-US" sz="900" kern="50">
                          <a:effectLst/>
                        </a:rPr>
                        <a:t> </a:t>
                      </a:r>
                      <a:endParaRPr lang="en-US" sz="900" kern="50">
                        <a:effectLst/>
                        <a:latin typeface="Calibri" panose="020F0502020204030204" pitchFamily="34" charset="0"/>
                        <a:ea typeface="Arial Unicode MS"/>
                        <a:cs typeface="font289"/>
                      </a:endParaRPr>
                    </a:p>
                  </a:txBody>
                  <a:tcPr marL="34768" marR="34768" marT="0" marB="0"/>
                </a:tc>
                <a:extLst>
                  <a:ext uri="{0D108BD9-81ED-4DB2-BD59-A6C34878D82A}">
                    <a16:rowId xmlns:a16="http://schemas.microsoft.com/office/drawing/2014/main" val="2121719833"/>
                  </a:ext>
                </a:extLst>
              </a:tr>
              <a:tr h="189100">
                <a:tc>
                  <a:txBody>
                    <a:bodyPr/>
                    <a:lstStyle/>
                    <a:p>
                      <a:pPr marL="0" marR="0">
                        <a:lnSpc>
                          <a:spcPct val="115000"/>
                        </a:lnSpc>
                        <a:spcBef>
                          <a:spcPts val="0"/>
                        </a:spcBef>
                        <a:spcAft>
                          <a:spcPts val="0"/>
                        </a:spcAft>
                      </a:pPr>
                      <a:r>
                        <a:rPr lang="el-GR" sz="900" kern="50" dirty="0">
                          <a:effectLst/>
                        </a:rPr>
                        <a:t>Ενότητα 4.            (1,5 μονάδες)</a:t>
                      </a:r>
                      <a:endParaRPr lang="en-US" sz="900" kern="50" dirty="0">
                        <a:effectLst/>
                      </a:endParaRPr>
                    </a:p>
                    <a:p>
                      <a:pPr marL="0" marR="0">
                        <a:lnSpc>
                          <a:spcPct val="115000"/>
                        </a:lnSpc>
                        <a:spcBef>
                          <a:spcPts val="0"/>
                        </a:spcBef>
                        <a:spcAft>
                          <a:spcPts val="0"/>
                        </a:spcAft>
                      </a:pPr>
                      <a:r>
                        <a:rPr lang="el-GR" sz="900" b="1" kern="50" dirty="0">
                          <a:effectLst/>
                        </a:rPr>
                        <a:t>Τεκμηρίωση / οικοδόμηση επιχειρημάτων</a:t>
                      </a:r>
                      <a:endParaRPr lang="en-US" sz="900" b="1" kern="50" dirty="0">
                        <a:effectLst/>
                        <a:latin typeface="Calibri" panose="020F0502020204030204" pitchFamily="34" charset="0"/>
                        <a:ea typeface="Arial Unicode MS"/>
                        <a:cs typeface="font289"/>
                      </a:endParaRPr>
                    </a:p>
                  </a:txBody>
                  <a:tcPr marL="34768" marR="34768" marT="0" marB="0" anchor="ctr"/>
                </a:tc>
                <a:tc rowSpan="4">
                  <a:txBody>
                    <a:bodyPr/>
                    <a:lstStyle/>
                    <a:p>
                      <a:pPr marL="0" marR="0" algn="ctr">
                        <a:lnSpc>
                          <a:spcPct val="115000"/>
                        </a:lnSpc>
                        <a:spcBef>
                          <a:spcPts val="0"/>
                        </a:spcBef>
                        <a:spcAft>
                          <a:spcPts val="0"/>
                        </a:spcAft>
                      </a:pPr>
                      <a:r>
                        <a:rPr lang="el-GR" sz="900" kern="50">
                          <a:effectLst/>
                        </a:rPr>
                        <a:t> </a:t>
                      </a:r>
                      <a:endParaRPr lang="en-US" sz="900" kern="50">
                        <a:effectLst/>
                        <a:latin typeface="Calibri" panose="020F0502020204030204" pitchFamily="34" charset="0"/>
                        <a:ea typeface="Arial Unicode MS"/>
                        <a:cs typeface="font289"/>
                      </a:endParaRPr>
                    </a:p>
                  </a:txBody>
                  <a:tcPr marL="34768" marR="34768" marT="0" marB="0" anchor="ctr"/>
                </a:tc>
                <a:extLst>
                  <a:ext uri="{0D108BD9-81ED-4DB2-BD59-A6C34878D82A}">
                    <a16:rowId xmlns:a16="http://schemas.microsoft.com/office/drawing/2014/main" val="3752069846"/>
                  </a:ext>
                </a:extLst>
              </a:tr>
              <a:tr h="91395">
                <a:tc>
                  <a:txBody>
                    <a:bodyPr/>
                    <a:lstStyle/>
                    <a:p>
                      <a:pPr marL="0" marR="0">
                        <a:lnSpc>
                          <a:spcPct val="115000"/>
                        </a:lnSpc>
                        <a:spcBef>
                          <a:spcPts val="0"/>
                        </a:spcBef>
                        <a:spcAft>
                          <a:spcPts val="0"/>
                        </a:spcAft>
                      </a:pPr>
                      <a:r>
                        <a:rPr lang="el-GR" sz="900" kern="50">
                          <a:effectLst/>
                        </a:rPr>
                        <a:t>Τεκμηρίωση - Επιχειρηματολογία –Διατύπωση και  Βιβλιογραφική υποστήριξη θέσεων</a:t>
                      </a:r>
                      <a:endParaRPr lang="en-US" sz="900" kern="50">
                        <a:effectLst/>
                        <a:latin typeface="Calibri" panose="020F0502020204030204" pitchFamily="34" charset="0"/>
                        <a:ea typeface="Arial Unicode MS"/>
                        <a:cs typeface="font289"/>
                      </a:endParaRPr>
                    </a:p>
                  </a:txBody>
                  <a:tcPr marL="34768" marR="34768" marT="0" marB="0" anchor="ctr"/>
                </a:tc>
                <a:tc vMerge="1">
                  <a:txBody>
                    <a:bodyPr/>
                    <a:lstStyle/>
                    <a:p>
                      <a:endParaRPr lang="en-US"/>
                    </a:p>
                  </a:txBody>
                  <a:tcPr/>
                </a:tc>
                <a:extLst>
                  <a:ext uri="{0D108BD9-81ED-4DB2-BD59-A6C34878D82A}">
                    <a16:rowId xmlns:a16="http://schemas.microsoft.com/office/drawing/2014/main" val="4048247648"/>
                  </a:ext>
                </a:extLst>
              </a:tr>
              <a:tr h="189133">
                <a:tc>
                  <a:txBody>
                    <a:bodyPr/>
                    <a:lstStyle/>
                    <a:p>
                      <a:pPr marL="0" marR="0">
                        <a:lnSpc>
                          <a:spcPct val="115000"/>
                        </a:lnSpc>
                        <a:spcBef>
                          <a:spcPts val="0"/>
                        </a:spcBef>
                        <a:spcAft>
                          <a:spcPts val="0"/>
                        </a:spcAft>
                      </a:pPr>
                      <a:r>
                        <a:rPr lang="el-GR" sz="900" kern="50">
                          <a:effectLst/>
                        </a:rPr>
                        <a:t>Πρόσθετες υποστηρικτικές πληροφορίες και παραδείγματα, σύνδεση με την πραγματικότητα του οργανισμού αναφοράς</a:t>
                      </a:r>
                      <a:endParaRPr lang="en-US" sz="900" kern="50">
                        <a:effectLst/>
                        <a:latin typeface="Calibri" panose="020F0502020204030204" pitchFamily="34" charset="0"/>
                        <a:ea typeface="Arial Unicode MS"/>
                        <a:cs typeface="font289"/>
                      </a:endParaRPr>
                    </a:p>
                  </a:txBody>
                  <a:tcPr marL="34768" marR="34768" marT="0" marB="0" anchor="ctr"/>
                </a:tc>
                <a:tc vMerge="1">
                  <a:txBody>
                    <a:bodyPr/>
                    <a:lstStyle/>
                    <a:p>
                      <a:endParaRPr lang="en-US"/>
                    </a:p>
                  </a:txBody>
                  <a:tcPr/>
                </a:tc>
                <a:extLst>
                  <a:ext uri="{0D108BD9-81ED-4DB2-BD59-A6C34878D82A}">
                    <a16:rowId xmlns:a16="http://schemas.microsoft.com/office/drawing/2014/main" val="3372213368"/>
                  </a:ext>
                </a:extLst>
              </a:tr>
              <a:tr h="189133">
                <a:tc>
                  <a:txBody>
                    <a:bodyPr/>
                    <a:lstStyle/>
                    <a:p>
                      <a:pPr marL="0" marR="0">
                        <a:lnSpc>
                          <a:spcPct val="115000"/>
                        </a:lnSpc>
                        <a:spcBef>
                          <a:spcPts val="0"/>
                        </a:spcBef>
                        <a:spcAft>
                          <a:spcPts val="0"/>
                        </a:spcAft>
                      </a:pPr>
                      <a:r>
                        <a:rPr lang="el-GR" sz="900" kern="50">
                          <a:effectLst/>
                        </a:rPr>
                        <a:t>Πληρότητα παρουσίασης του επιστημονικού διαλόγου και της αντιπαράθεσης επιχειρημάτων πάνω στο θέμα</a:t>
                      </a:r>
                      <a:endParaRPr lang="en-US" sz="900" kern="50">
                        <a:effectLst/>
                        <a:latin typeface="Calibri" panose="020F0502020204030204" pitchFamily="34" charset="0"/>
                        <a:ea typeface="Arial Unicode MS"/>
                        <a:cs typeface="font289"/>
                      </a:endParaRPr>
                    </a:p>
                  </a:txBody>
                  <a:tcPr marL="34768" marR="34768" marT="0" marB="0" anchor="ctr"/>
                </a:tc>
                <a:tc vMerge="1">
                  <a:txBody>
                    <a:bodyPr/>
                    <a:lstStyle/>
                    <a:p>
                      <a:endParaRPr lang="en-US"/>
                    </a:p>
                  </a:txBody>
                  <a:tcPr/>
                </a:tc>
                <a:extLst>
                  <a:ext uri="{0D108BD9-81ED-4DB2-BD59-A6C34878D82A}">
                    <a16:rowId xmlns:a16="http://schemas.microsoft.com/office/drawing/2014/main" val="3318735686"/>
                  </a:ext>
                </a:extLst>
              </a:tr>
              <a:tr h="91395">
                <a:tc>
                  <a:txBody>
                    <a:bodyPr/>
                    <a:lstStyle/>
                    <a:p>
                      <a:pPr marL="0" marR="0">
                        <a:lnSpc>
                          <a:spcPct val="115000"/>
                        </a:lnSpc>
                        <a:spcBef>
                          <a:spcPts val="0"/>
                        </a:spcBef>
                        <a:spcAft>
                          <a:spcPts val="0"/>
                        </a:spcAft>
                      </a:pPr>
                      <a:r>
                        <a:rPr lang="el-GR" sz="900" kern="50">
                          <a:effectLst/>
                        </a:rPr>
                        <a:t> </a:t>
                      </a:r>
                      <a:endParaRPr lang="en-US" sz="900" kern="50">
                        <a:effectLst/>
                        <a:latin typeface="Calibri" panose="020F0502020204030204" pitchFamily="34" charset="0"/>
                        <a:ea typeface="Arial Unicode MS"/>
                        <a:cs typeface="font289"/>
                      </a:endParaRPr>
                    </a:p>
                  </a:txBody>
                  <a:tcPr marL="34768" marR="34768" marT="0" marB="0"/>
                </a:tc>
                <a:tc>
                  <a:txBody>
                    <a:bodyPr/>
                    <a:lstStyle/>
                    <a:p>
                      <a:pPr marL="0" marR="0">
                        <a:lnSpc>
                          <a:spcPct val="115000"/>
                        </a:lnSpc>
                        <a:spcBef>
                          <a:spcPts val="0"/>
                        </a:spcBef>
                        <a:spcAft>
                          <a:spcPts val="0"/>
                        </a:spcAft>
                      </a:pPr>
                      <a:r>
                        <a:rPr lang="el-GR" sz="900" kern="50">
                          <a:effectLst/>
                        </a:rPr>
                        <a:t> </a:t>
                      </a:r>
                      <a:endParaRPr lang="en-US" sz="900" kern="50">
                        <a:effectLst/>
                        <a:latin typeface="Calibri" panose="020F0502020204030204" pitchFamily="34" charset="0"/>
                        <a:ea typeface="Arial Unicode MS"/>
                        <a:cs typeface="font289"/>
                      </a:endParaRPr>
                    </a:p>
                  </a:txBody>
                  <a:tcPr marL="34768" marR="34768" marT="0" marB="0"/>
                </a:tc>
                <a:extLst>
                  <a:ext uri="{0D108BD9-81ED-4DB2-BD59-A6C34878D82A}">
                    <a16:rowId xmlns:a16="http://schemas.microsoft.com/office/drawing/2014/main" val="1148058543"/>
                  </a:ext>
                </a:extLst>
              </a:tr>
              <a:tr h="189100">
                <a:tc>
                  <a:txBody>
                    <a:bodyPr/>
                    <a:lstStyle/>
                    <a:p>
                      <a:pPr marL="0" marR="0">
                        <a:lnSpc>
                          <a:spcPct val="115000"/>
                        </a:lnSpc>
                        <a:spcBef>
                          <a:spcPts val="0"/>
                        </a:spcBef>
                        <a:spcAft>
                          <a:spcPts val="0"/>
                        </a:spcAft>
                      </a:pPr>
                      <a:r>
                        <a:rPr lang="el-GR" sz="900" kern="50" dirty="0">
                          <a:effectLst/>
                        </a:rPr>
                        <a:t>Ενότητα 5.            (1,5 μονάδες)</a:t>
                      </a:r>
                      <a:endParaRPr lang="en-US" sz="900" kern="50" dirty="0">
                        <a:effectLst/>
                      </a:endParaRPr>
                    </a:p>
                    <a:p>
                      <a:pPr marL="0" marR="0">
                        <a:lnSpc>
                          <a:spcPct val="115000"/>
                        </a:lnSpc>
                        <a:spcBef>
                          <a:spcPts val="0"/>
                        </a:spcBef>
                        <a:spcAft>
                          <a:spcPts val="0"/>
                        </a:spcAft>
                      </a:pPr>
                      <a:r>
                        <a:rPr lang="el-GR" sz="900" b="1" kern="50" dirty="0">
                          <a:effectLst/>
                        </a:rPr>
                        <a:t>Χρήση της γλώσσας &amp; Τεχνικά στοιχεία συγγραφής κειμένου</a:t>
                      </a:r>
                      <a:endParaRPr lang="en-US" sz="900" b="1" kern="50" dirty="0">
                        <a:effectLst/>
                        <a:latin typeface="Calibri" panose="020F0502020204030204" pitchFamily="34" charset="0"/>
                        <a:ea typeface="Arial Unicode MS"/>
                        <a:cs typeface="font289"/>
                      </a:endParaRPr>
                    </a:p>
                  </a:txBody>
                  <a:tcPr marL="34768" marR="34768" marT="0" marB="0" anchor="ctr"/>
                </a:tc>
                <a:tc rowSpan="4">
                  <a:txBody>
                    <a:bodyPr/>
                    <a:lstStyle/>
                    <a:p>
                      <a:pPr marL="0" marR="0" algn="ctr">
                        <a:lnSpc>
                          <a:spcPct val="115000"/>
                        </a:lnSpc>
                        <a:spcBef>
                          <a:spcPts val="0"/>
                        </a:spcBef>
                        <a:spcAft>
                          <a:spcPts val="0"/>
                        </a:spcAft>
                      </a:pPr>
                      <a:r>
                        <a:rPr lang="el-GR" sz="900" kern="50">
                          <a:effectLst/>
                        </a:rPr>
                        <a:t> </a:t>
                      </a:r>
                      <a:endParaRPr lang="en-US" sz="900" kern="50">
                        <a:effectLst/>
                        <a:latin typeface="Calibri" panose="020F0502020204030204" pitchFamily="34" charset="0"/>
                        <a:ea typeface="Arial Unicode MS"/>
                        <a:cs typeface="font289"/>
                      </a:endParaRPr>
                    </a:p>
                  </a:txBody>
                  <a:tcPr marL="34768" marR="34768" marT="0" marB="0" anchor="ctr"/>
                </a:tc>
                <a:extLst>
                  <a:ext uri="{0D108BD9-81ED-4DB2-BD59-A6C34878D82A}">
                    <a16:rowId xmlns:a16="http://schemas.microsoft.com/office/drawing/2014/main" val="3126033696"/>
                  </a:ext>
                </a:extLst>
              </a:tr>
              <a:tr h="91395">
                <a:tc>
                  <a:txBody>
                    <a:bodyPr/>
                    <a:lstStyle/>
                    <a:p>
                      <a:pPr marL="0" marR="0">
                        <a:lnSpc>
                          <a:spcPct val="115000"/>
                        </a:lnSpc>
                        <a:spcBef>
                          <a:spcPts val="0"/>
                        </a:spcBef>
                        <a:spcAft>
                          <a:spcPts val="0"/>
                        </a:spcAft>
                      </a:pPr>
                      <a:r>
                        <a:rPr lang="el-GR" sz="900" kern="50">
                          <a:effectLst/>
                        </a:rPr>
                        <a:t>Γραμματοσυντακτική δομή &amp; ακρίβεια διατύπωσης </a:t>
                      </a:r>
                      <a:endParaRPr lang="en-US" sz="900" kern="50">
                        <a:effectLst/>
                        <a:latin typeface="Calibri" panose="020F0502020204030204" pitchFamily="34" charset="0"/>
                        <a:ea typeface="Arial Unicode MS"/>
                        <a:cs typeface="font289"/>
                      </a:endParaRPr>
                    </a:p>
                  </a:txBody>
                  <a:tcPr marL="34768" marR="34768" marT="0" marB="0" anchor="ctr"/>
                </a:tc>
                <a:tc vMerge="1">
                  <a:txBody>
                    <a:bodyPr/>
                    <a:lstStyle/>
                    <a:p>
                      <a:endParaRPr lang="en-US"/>
                    </a:p>
                  </a:txBody>
                  <a:tcPr/>
                </a:tc>
                <a:extLst>
                  <a:ext uri="{0D108BD9-81ED-4DB2-BD59-A6C34878D82A}">
                    <a16:rowId xmlns:a16="http://schemas.microsoft.com/office/drawing/2014/main" val="128986999"/>
                  </a:ext>
                </a:extLst>
              </a:tr>
              <a:tr h="91395">
                <a:tc>
                  <a:txBody>
                    <a:bodyPr/>
                    <a:lstStyle/>
                    <a:p>
                      <a:pPr marL="0" marR="0">
                        <a:lnSpc>
                          <a:spcPct val="115000"/>
                        </a:lnSpc>
                        <a:spcBef>
                          <a:spcPts val="0"/>
                        </a:spcBef>
                        <a:spcAft>
                          <a:spcPts val="0"/>
                        </a:spcAft>
                      </a:pPr>
                      <a:r>
                        <a:rPr lang="el-GR" sz="900" kern="50">
                          <a:effectLst/>
                        </a:rPr>
                        <a:t>Τήρηση προδιαγραφών και αισθητικής της εργασίας</a:t>
                      </a:r>
                      <a:endParaRPr lang="en-US" sz="900" kern="50">
                        <a:effectLst/>
                        <a:latin typeface="Calibri" panose="020F0502020204030204" pitchFamily="34" charset="0"/>
                        <a:ea typeface="Arial Unicode MS"/>
                        <a:cs typeface="font289"/>
                      </a:endParaRPr>
                    </a:p>
                  </a:txBody>
                  <a:tcPr marL="34768" marR="34768" marT="0" marB="0" anchor="ctr"/>
                </a:tc>
                <a:tc vMerge="1">
                  <a:txBody>
                    <a:bodyPr/>
                    <a:lstStyle/>
                    <a:p>
                      <a:endParaRPr lang="en-US"/>
                    </a:p>
                  </a:txBody>
                  <a:tcPr/>
                </a:tc>
                <a:extLst>
                  <a:ext uri="{0D108BD9-81ED-4DB2-BD59-A6C34878D82A}">
                    <a16:rowId xmlns:a16="http://schemas.microsoft.com/office/drawing/2014/main" val="2485418920"/>
                  </a:ext>
                </a:extLst>
              </a:tr>
              <a:tr h="91395">
                <a:tc>
                  <a:txBody>
                    <a:bodyPr/>
                    <a:lstStyle/>
                    <a:p>
                      <a:pPr marL="0" marR="0">
                        <a:lnSpc>
                          <a:spcPct val="115000"/>
                        </a:lnSpc>
                        <a:spcBef>
                          <a:spcPts val="0"/>
                        </a:spcBef>
                        <a:spcAft>
                          <a:spcPts val="0"/>
                        </a:spcAft>
                      </a:pPr>
                      <a:r>
                        <a:rPr lang="el-GR" sz="900" kern="50">
                          <a:effectLst/>
                        </a:rPr>
                        <a:t>Βιβλιογραφικές παραπομπές &amp; αναφορές</a:t>
                      </a:r>
                      <a:endParaRPr lang="en-US" sz="900" kern="50">
                        <a:effectLst/>
                        <a:latin typeface="Calibri" panose="020F0502020204030204" pitchFamily="34" charset="0"/>
                        <a:ea typeface="Arial Unicode MS"/>
                        <a:cs typeface="font289"/>
                      </a:endParaRPr>
                    </a:p>
                  </a:txBody>
                  <a:tcPr marL="34768" marR="34768" marT="0" marB="0" anchor="ctr"/>
                </a:tc>
                <a:tc vMerge="1">
                  <a:txBody>
                    <a:bodyPr/>
                    <a:lstStyle/>
                    <a:p>
                      <a:endParaRPr lang="en-US"/>
                    </a:p>
                  </a:txBody>
                  <a:tcPr/>
                </a:tc>
                <a:extLst>
                  <a:ext uri="{0D108BD9-81ED-4DB2-BD59-A6C34878D82A}">
                    <a16:rowId xmlns:a16="http://schemas.microsoft.com/office/drawing/2014/main" val="1510703365"/>
                  </a:ext>
                </a:extLst>
              </a:tr>
              <a:tr h="91395">
                <a:tc>
                  <a:txBody>
                    <a:bodyPr/>
                    <a:lstStyle/>
                    <a:p>
                      <a:pPr marL="0" marR="0">
                        <a:lnSpc>
                          <a:spcPct val="115000"/>
                        </a:lnSpc>
                        <a:spcBef>
                          <a:spcPts val="0"/>
                        </a:spcBef>
                        <a:spcAft>
                          <a:spcPts val="0"/>
                        </a:spcAft>
                      </a:pPr>
                      <a:r>
                        <a:rPr lang="en-US" sz="900" kern="50">
                          <a:effectLst/>
                        </a:rPr>
                        <a:t> </a:t>
                      </a:r>
                      <a:endParaRPr lang="en-US" sz="900" kern="50">
                        <a:effectLst/>
                        <a:latin typeface="Calibri" panose="020F0502020204030204" pitchFamily="34" charset="0"/>
                        <a:ea typeface="Arial Unicode MS"/>
                        <a:cs typeface="font289"/>
                      </a:endParaRPr>
                    </a:p>
                  </a:txBody>
                  <a:tcPr marL="34768" marR="34768" marT="0" marB="0"/>
                </a:tc>
                <a:tc>
                  <a:txBody>
                    <a:bodyPr/>
                    <a:lstStyle/>
                    <a:p>
                      <a:pPr marL="0" marR="0">
                        <a:lnSpc>
                          <a:spcPct val="115000"/>
                        </a:lnSpc>
                        <a:spcBef>
                          <a:spcPts val="0"/>
                        </a:spcBef>
                        <a:spcAft>
                          <a:spcPts val="0"/>
                        </a:spcAft>
                      </a:pPr>
                      <a:r>
                        <a:rPr lang="en-US" sz="900" kern="50">
                          <a:effectLst/>
                        </a:rPr>
                        <a:t> </a:t>
                      </a:r>
                      <a:endParaRPr lang="en-US" sz="900" kern="50">
                        <a:effectLst/>
                        <a:latin typeface="Calibri" panose="020F0502020204030204" pitchFamily="34" charset="0"/>
                        <a:ea typeface="Arial Unicode MS"/>
                        <a:cs typeface="font289"/>
                      </a:endParaRPr>
                    </a:p>
                  </a:txBody>
                  <a:tcPr marL="34768" marR="34768" marT="0" marB="0"/>
                </a:tc>
                <a:extLst>
                  <a:ext uri="{0D108BD9-81ED-4DB2-BD59-A6C34878D82A}">
                    <a16:rowId xmlns:a16="http://schemas.microsoft.com/office/drawing/2014/main" val="2659104786"/>
                  </a:ext>
                </a:extLst>
              </a:tr>
              <a:tr h="689451">
                <a:tc>
                  <a:txBody>
                    <a:bodyPr/>
                    <a:lstStyle/>
                    <a:p>
                      <a:pPr marL="0" marR="0">
                        <a:lnSpc>
                          <a:spcPct val="115000"/>
                        </a:lnSpc>
                        <a:spcBef>
                          <a:spcPts val="0"/>
                        </a:spcBef>
                        <a:spcAft>
                          <a:spcPts val="0"/>
                        </a:spcAft>
                      </a:pPr>
                      <a:r>
                        <a:rPr lang="el-GR" sz="900" u="sng" kern="50" dirty="0">
                          <a:effectLst/>
                        </a:rPr>
                        <a:t>Ιδιαίτερα σχόλια</a:t>
                      </a:r>
                      <a:r>
                        <a:rPr lang="el-GR" sz="900" kern="50" dirty="0">
                          <a:effectLst/>
                        </a:rPr>
                        <a:t> </a:t>
                      </a:r>
                      <a:endParaRPr lang="en-US" sz="900" kern="50" dirty="0">
                        <a:effectLst/>
                      </a:endParaRPr>
                    </a:p>
                    <a:p>
                      <a:pPr marL="0" marR="0">
                        <a:lnSpc>
                          <a:spcPct val="115000"/>
                        </a:lnSpc>
                        <a:spcBef>
                          <a:spcPts val="0"/>
                        </a:spcBef>
                        <a:spcAft>
                          <a:spcPts val="0"/>
                        </a:spcAft>
                      </a:pPr>
                      <a:r>
                        <a:rPr lang="el-GR" sz="900" kern="50" dirty="0">
                          <a:effectLst/>
                        </a:rPr>
                        <a:t>Δυνατά σημεία  </a:t>
                      </a:r>
                      <a:endParaRPr lang="en-US" sz="900" kern="50" dirty="0">
                        <a:effectLst/>
                      </a:endParaRPr>
                    </a:p>
                    <a:p>
                      <a:pPr marL="0" marR="0">
                        <a:lnSpc>
                          <a:spcPct val="115000"/>
                        </a:lnSpc>
                        <a:spcBef>
                          <a:spcPts val="0"/>
                        </a:spcBef>
                        <a:spcAft>
                          <a:spcPts val="0"/>
                        </a:spcAft>
                      </a:pPr>
                      <a:r>
                        <a:rPr lang="el-GR" sz="900" kern="50" dirty="0">
                          <a:effectLst/>
                        </a:rPr>
                        <a:t>Που πρέπει να δοθεί προσοχή   </a:t>
                      </a:r>
                      <a:endParaRPr lang="en-US" sz="900" kern="50" dirty="0">
                        <a:effectLst/>
                        <a:latin typeface="Calibri" panose="020F0502020204030204" pitchFamily="34" charset="0"/>
                        <a:ea typeface="Arial Unicode MS"/>
                        <a:cs typeface="font289"/>
                      </a:endParaRPr>
                    </a:p>
                  </a:txBody>
                  <a:tcPr marL="34768" marR="34768" marT="0" marB="0" anchor="ctr"/>
                </a:tc>
                <a:tc>
                  <a:txBody>
                    <a:bodyPr/>
                    <a:lstStyle/>
                    <a:p>
                      <a:pPr marL="0" marR="0" algn="ctr">
                        <a:lnSpc>
                          <a:spcPct val="115000"/>
                        </a:lnSpc>
                        <a:spcBef>
                          <a:spcPts val="0"/>
                        </a:spcBef>
                        <a:spcAft>
                          <a:spcPts val="0"/>
                        </a:spcAft>
                      </a:pPr>
                      <a:r>
                        <a:rPr lang="el-GR" sz="1000" kern="50">
                          <a:effectLst/>
                        </a:rPr>
                        <a:t> </a:t>
                      </a:r>
                      <a:endParaRPr lang="en-US" sz="900" kern="50">
                        <a:effectLst/>
                        <a:latin typeface="Calibri" panose="020F0502020204030204" pitchFamily="34" charset="0"/>
                        <a:ea typeface="Arial Unicode MS"/>
                        <a:cs typeface="font289"/>
                      </a:endParaRPr>
                    </a:p>
                  </a:txBody>
                  <a:tcPr marL="34768" marR="34768" marT="0" marB="0" anchor="ctr"/>
                </a:tc>
                <a:extLst>
                  <a:ext uri="{0D108BD9-81ED-4DB2-BD59-A6C34878D82A}">
                    <a16:rowId xmlns:a16="http://schemas.microsoft.com/office/drawing/2014/main" val="2268601079"/>
                  </a:ext>
                </a:extLst>
              </a:tr>
              <a:tr h="116280">
                <a:tc>
                  <a:txBody>
                    <a:bodyPr/>
                    <a:lstStyle/>
                    <a:p>
                      <a:pPr marL="0" marR="0" algn="r">
                        <a:lnSpc>
                          <a:spcPct val="115000"/>
                        </a:lnSpc>
                        <a:spcBef>
                          <a:spcPts val="0"/>
                        </a:spcBef>
                        <a:spcAft>
                          <a:spcPts val="0"/>
                        </a:spcAft>
                      </a:pPr>
                      <a:r>
                        <a:rPr lang="el-GR" sz="1000" kern="50">
                          <a:effectLst/>
                        </a:rPr>
                        <a:t>ΒΑΘΜΟΛΟΓΙΑ     ΕΡΓΑΣΙΑΣ </a:t>
                      </a:r>
                      <a:endParaRPr lang="en-US" sz="900" kern="50">
                        <a:effectLst/>
                        <a:latin typeface="Calibri" panose="020F0502020204030204" pitchFamily="34" charset="0"/>
                        <a:ea typeface="Arial Unicode MS"/>
                        <a:cs typeface="font289"/>
                      </a:endParaRPr>
                    </a:p>
                  </a:txBody>
                  <a:tcPr marL="34768" marR="34768" marT="0" marB="0" anchor="ctr"/>
                </a:tc>
                <a:tc>
                  <a:txBody>
                    <a:bodyPr/>
                    <a:lstStyle/>
                    <a:p>
                      <a:pPr marL="0" marR="0" algn="ctr">
                        <a:lnSpc>
                          <a:spcPct val="115000"/>
                        </a:lnSpc>
                        <a:spcBef>
                          <a:spcPts val="0"/>
                        </a:spcBef>
                        <a:spcAft>
                          <a:spcPts val="0"/>
                        </a:spcAft>
                      </a:pPr>
                      <a:r>
                        <a:rPr lang="el-GR" sz="1000" kern="50" dirty="0">
                          <a:effectLst/>
                        </a:rPr>
                        <a:t> </a:t>
                      </a:r>
                      <a:endParaRPr lang="en-US" sz="900" kern="50" dirty="0">
                        <a:effectLst/>
                        <a:latin typeface="Calibri" panose="020F0502020204030204" pitchFamily="34" charset="0"/>
                        <a:ea typeface="Arial Unicode MS"/>
                        <a:cs typeface="font289"/>
                      </a:endParaRPr>
                    </a:p>
                  </a:txBody>
                  <a:tcPr marL="34768" marR="34768" marT="0" marB="0" anchor="ctr"/>
                </a:tc>
                <a:extLst>
                  <a:ext uri="{0D108BD9-81ED-4DB2-BD59-A6C34878D82A}">
                    <a16:rowId xmlns:a16="http://schemas.microsoft.com/office/drawing/2014/main" val="3290318637"/>
                  </a:ext>
                </a:extLst>
              </a:tr>
            </a:tbl>
          </a:graphicData>
        </a:graphic>
      </p:graphicFrame>
      <p:pic>
        <p:nvPicPr>
          <p:cNvPr id="10" name="Εικόνα 9">
            <a:extLst>
              <a:ext uri="{FF2B5EF4-FFF2-40B4-BE49-F238E27FC236}">
                <a16:creationId xmlns:a16="http://schemas.microsoft.com/office/drawing/2014/main" id="{9DCF2FF0-CF77-4375-B039-D4B3F161A080}"/>
              </a:ext>
            </a:extLst>
          </p:cNvPr>
          <p:cNvPicPr>
            <a:picLocks noChangeAspect="1"/>
          </p:cNvPicPr>
          <p:nvPr/>
        </p:nvPicPr>
        <p:blipFill>
          <a:blip r:embed="rId2"/>
          <a:stretch>
            <a:fillRect/>
          </a:stretch>
        </p:blipFill>
        <p:spPr>
          <a:xfrm>
            <a:off x="2765899" y="4864"/>
            <a:ext cx="5570703" cy="975445"/>
          </a:xfrm>
          <a:prstGeom prst="rect">
            <a:avLst/>
          </a:prstGeom>
        </p:spPr>
      </p:pic>
      <p:sp>
        <p:nvSpPr>
          <p:cNvPr id="11" name="Ορθογώνιο: Στρογγύλεμα γωνιών 10">
            <a:extLst>
              <a:ext uri="{FF2B5EF4-FFF2-40B4-BE49-F238E27FC236}">
                <a16:creationId xmlns:a16="http://schemas.microsoft.com/office/drawing/2014/main" id="{497CA660-0E07-4F09-AD0F-B0F4D3C50D3C}"/>
              </a:ext>
            </a:extLst>
          </p:cNvPr>
          <p:cNvSpPr/>
          <p:nvPr/>
        </p:nvSpPr>
        <p:spPr>
          <a:xfrm>
            <a:off x="9815209" y="4601183"/>
            <a:ext cx="2081719" cy="157588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l-GR" dirty="0"/>
              <a:t>Αντιγραφή-Λογοκλοπή (</a:t>
            </a:r>
            <a:r>
              <a:rPr lang="en-US" dirty="0"/>
              <a:t>Turnitin)</a:t>
            </a:r>
          </a:p>
        </p:txBody>
      </p:sp>
      <p:sp>
        <p:nvSpPr>
          <p:cNvPr id="5" name="Footer Placeholder 4">
            <a:extLst>
              <a:ext uri="{FF2B5EF4-FFF2-40B4-BE49-F238E27FC236}">
                <a16:creationId xmlns:a16="http://schemas.microsoft.com/office/drawing/2014/main" id="{A6D2AACE-A8C4-486C-9B2D-C2F2A66CBE4B}"/>
              </a:ext>
            </a:extLst>
          </p:cNvPr>
          <p:cNvSpPr>
            <a:spLocks noGrp="1"/>
          </p:cNvSpPr>
          <p:nvPr>
            <p:ph type="ftr" sz="quarter" idx="11"/>
          </p:nvPr>
        </p:nvSpPr>
        <p:spPr>
          <a:xfrm>
            <a:off x="3299297" y="6589814"/>
            <a:ext cx="4114800" cy="365125"/>
          </a:xfrm>
        </p:spPr>
        <p:txBody>
          <a:bodyPr/>
          <a:lstStyle/>
          <a:p>
            <a:r>
              <a:rPr lang="el-GR" dirty="0">
                <a:solidFill>
                  <a:schemeClr val="tx2">
                    <a:lumMod val="50000"/>
                  </a:schemeClr>
                </a:solidFill>
                <a:latin typeface="Tahoma" pitchFamily="34" charset="0"/>
                <a:ea typeface="Tahoma" pitchFamily="34" charset="0"/>
                <a:cs typeface="Tahoma" pitchFamily="34" charset="0"/>
              </a:rPr>
              <a:t>Παναγιώτης </a:t>
            </a:r>
            <a:r>
              <a:rPr lang="el-GR" dirty="0" err="1">
                <a:solidFill>
                  <a:schemeClr val="tx2">
                    <a:lumMod val="50000"/>
                  </a:schemeClr>
                </a:solidFill>
                <a:latin typeface="Tahoma" pitchFamily="34" charset="0"/>
                <a:ea typeface="Tahoma" pitchFamily="34" charset="0"/>
                <a:cs typeface="Tahoma" pitchFamily="34" charset="0"/>
              </a:rPr>
              <a:t>Πήλιουρας</a:t>
            </a:r>
            <a:r>
              <a:rPr lang="el-GR" dirty="0">
                <a:solidFill>
                  <a:schemeClr val="tx2">
                    <a:lumMod val="50000"/>
                  </a:schemeClr>
                </a:solidFill>
                <a:latin typeface="Tahoma" pitchFamily="34" charset="0"/>
                <a:ea typeface="Tahoma" pitchFamily="34" charset="0"/>
                <a:cs typeface="Tahoma" pitchFamily="34" charset="0"/>
              </a:rPr>
              <a:t> @ Θ.Ε. ΕΚΠ63 1</a:t>
            </a:r>
            <a:r>
              <a:rPr lang="el-GR" baseline="30000" dirty="0">
                <a:solidFill>
                  <a:schemeClr val="tx2">
                    <a:lumMod val="50000"/>
                  </a:schemeClr>
                </a:solidFill>
                <a:latin typeface="Tahoma" pitchFamily="34" charset="0"/>
                <a:ea typeface="Tahoma" pitchFamily="34" charset="0"/>
                <a:cs typeface="Tahoma" pitchFamily="34" charset="0"/>
              </a:rPr>
              <a:t>Η</a:t>
            </a:r>
            <a:r>
              <a:rPr lang="el-GR" dirty="0">
                <a:solidFill>
                  <a:schemeClr val="tx2">
                    <a:lumMod val="50000"/>
                  </a:schemeClr>
                </a:solidFill>
                <a:latin typeface="Tahoma" pitchFamily="34" charset="0"/>
                <a:ea typeface="Tahoma" pitchFamily="34" charset="0"/>
                <a:cs typeface="Tahoma" pitchFamily="34" charset="0"/>
              </a:rPr>
              <a:t> ΟΣΣ 2020-21</a:t>
            </a:r>
          </a:p>
        </p:txBody>
      </p:sp>
    </p:spTree>
    <p:extLst>
      <p:ext uri="{BB962C8B-B14F-4D97-AF65-F5344CB8AC3E}">
        <p14:creationId xmlns:p14="http://schemas.microsoft.com/office/powerpoint/2010/main" val="24012046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9BD1BFDC-D54A-4116-88C0-3CF16CBF66A7}"/>
              </a:ext>
            </a:extLst>
          </p:cNvPr>
          <p:cNvSpPr>
            <a:spLocks noGrp="1"/>
          </p:cNvSpPr>
          <p:nvPr>
            <p:ph type="title"/>
          </p:nvPr>
        </p:nvSpPr>
        <p:spPr/>
        <p:txBody>
          <a:bodyPr/>
          <a:lstStyle/>
          <a:p>
            <a:pPr algn="ctr"/>
            <a:r>
              <a:rPr lang="el-GR" dirty="0">
                <a:solidFill>
                  <a:srgbClr val="002060"/>
                </a:solidFill>
              </a:rPr>
              <a:t>Αντιλήψεις των μαθητών για έννοιες ΦΕ: Οι εμπειρίες μας</a:t>
            </a:r>
            <a:endParaRPr lang="en-US" dirty="0">
              <a:solidFill>
                <a:srgbClr val="002060"/>
              </a:solidFill>
            </a:endParaRPr>
          </a:p>
        </p:txBody>
      </p:sp>
      <p:sp>
        <p:nvSpPr>
          <p:cNvPr id="3" name="Θέση περιεχομένου 2">
            <a:extLst>
              <a:ext uri="{FF2B5EF4-FFF2-40B4-BE49-F238E27FC236}">
                <a16:creationId xmlns:a16="http://schemas.microsoft.com/office/drawing/2014/main" id="{7C5CF295-4776-41F9-8D84-A0781096B234}"/>
              </a:ext>
            </a:extLst>
          </p:cNvPr>
          <p:cNvSpPr>
            <a:spLocks noGrp="1"/>
          </p:cNvSpPr>
          <p:nvPr>
            <p:ph idx="1"/>
          </p:nvPr>
        </p:nvSpPr>
        <p:spPr>
          <a:xfrm>
            <a:off x="2850203" y="3136831"/>
            <a:ext cx="6177065" cy="1746453"/>
          </a:xfrm>
          <a:ln w="50800">
            <a:solidFill>
              <a:srgbClr val="CE1E82"/>
            </a:solidFill>
          </a:ln>
        </p:spPr>
        <p:txBody>
          <a:bodyPr/>
          <a:lstStyle/>
          <a:p>
            <a:endParaRPr lang="el-GR" dirty="0"/>
          </a:p>
          <a:p>
            <a:r>
              <a:rPr lang="el-GR" dirty="0"/>
              <a:t>Αναφέρουμε σχετικές εμπειρίες μας</a:t>
            </a:r>
          </a:p>
          <a:p>
            <a:endParaRPr lang="el-GR" dirty="0"/>
          </a:p>
          <a:p>
            <a:endParaRPr lang="en-US" dirty="0"/>
          </a:p>
        </p:txBody>
      </p:sp>
      <p:sp>
        <p:nvSpPr>
          <p:cNvPr id="4" name="Footer Placeholder 4">
            <a:extLst>
              <a:ext uri="{FF2B5EF4-FFF2-40B4-BE49-F238E27FC236}">
                <a16:creationId xmlns:a16="http://schemas.microsoft.com/office/drawing/2014/main" id="{B3B49E9B-2AAA-4CFB-AD43-70267C6989B2}"/>
              </a:ext>
            </a:extLst>
          </p:cNvPr>
          <p:cNvSpPr>
            <a:spLocks noGrp="1"/>
          </p:cNvSpPr>
          <p:nvPr>
            <p:ph type="ftr" sz="quarter" idx="11"/>
          </p:nvPr>
        </p:nvSpPr>
        <p:spPr>
          <a:xfrm>
            <a:off x="4038600" y="6356350"/>
            <a:ext cx="4114800" cy="365125"/>
          </a:xfrm>
        </p:spPr>
        <p:txBody>
          <a:bodyPr/>
          <a:lstStyle/>
          <a:p>
            <a:r>
              <a:rPr lang="el-GR" dirty="0">
                <a:solidFill>
                  <a:schemeClr val="tx2">
                    <a:lumMod val="50000"/>
                  </a:schemeClr>
                </a:solidFill>
                <a:latin typeface="Tahoma" pitchFamily="34" charset="0"/>
                <a:ea typeface="Tahoma" pitchFamily="34" charset="0"/>
                <a:cs typeface="Tahoma" pitchFamily="34" charset="0"/>
              </a:rPr>
              <a:t>Παναγιώτης </a:t>
            </a:r>
            <a:r>
              <a:rPr lang="el-GR" dirty="0" err="1">
                <a:solidFill>
                  <a:schemeClr val="tx2">
                    <a:lumMod val="50000"/>
                  </a:schemeClr>
                </a:solidFill>
                <a:latin typeface="Tahoma" pitchFamily="34" charset="0"/>
                <a:ea typeface="Tahoma" pitchFamily="34" charset="0"/>
                <a:cs typeface="Tahoma" pitchFamily="34" charset="0"/>
              </a:rPr>
              <a:t>Πήλιουρας</a:t>
            </a:r>
            <a:r>
              <a:rPr lang="el-GR" dirty="0">
                <a:solidFill>
                  <a:schemeClr val="tx2">
                    <a:lumMod val="50000"/>
                  </a:schemeClr>
                </a:solidFill>
                <a:latin typeface="Tahoma" pitchFamily="34" charset="0"/>
                <a:ea typeface="Tahoma" pitchFamily="34" charset="0"/>
                <a:cs typeface="Tahoma" pitchFamily="34" charset="0"/>
              </a:rPr>
              <a:t> @ Θ.Ε. ΕΚΠ63 1</a:t>
            </a:r>
            <a:r>
              <a:rPr lang="el-GR" baseline="30000" dirty="0">
                <a:solidFill>
                  <a:schemeClr val="tx2">
                    <a:lumMod val="50000"/>
                  </a:schemeClr>
                </a:solidFill>
                <a:latin typeface="Tahoma" pitchFamily="34" charset="0"/>
                <a:ea typeface="Tahoma" pitchFamily="34" charset="0"/>
                <a:cs typeface="Tahoma" pitchFamily="34" charset="0"/>
              </a:rPr>
              <a:t>Η</a:t>
            </a:r>
            <a:r>
              <a:rPr lang="el-GR" dirty="0">
                <a:solidFill>
                  <a:schemeClr val="tx2">
                    <a:lumMod val="50000"/>
                  </a:schemeClr>
                </a:solidFill>
                <a:latin typeface="Tahoma" pitchFamily="34" charset="0"/>
                <a:ea typeface="Tahoma" pitchFamily="34" charset="0"/>
                <a:cs typeface="Tahoma" pitchFamily="34" charset="0"/>
              </a:rPr>
              <a:t> ΟΣΣ 2020-21</a:t>
            </a:r>
          </a:p>
        </p:txBody>
      </p:sp>
    </p:spTree>
    <p:extLst>
      <p:ext uri="{BB962C8B-B14F-4D97-AF65-F5344CB8AC3E}">
        <p14:creationId xmlns:p14="http://schemas.microsoft.com/office/powerpoint/2010/main" val="4419874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a:extLst>
              <a:ext uri="{FF2B5EF4-FFF2-40B4-BE49-F238E27FC236}">
                <a16:creationId xmlns:a16="http://schemas.microsoft.com/office/drawing/2014/main" id="{919A4EBF-4054-438C-84CD-6A58B793C1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8226" y="1"/>
            <a:ext cx="7521575" cy="6848475"/>
          </a:xfrm>
          <a:prstGeom prst="rect">
            <a:avLst/>
          </a:prstGeom>
          <a:noFill/>
          <a:extLst>
            <a:ext uri="{909E8E84-426E-40DD-AFC4-6F175D3DCCD1}">
              <a14:hiddenFill xmlns:a14="http://schemas.microsoft.com/office/drawing/2010/main">
                <a:solidFill>
                  <a:srgbClr val="FFFFFF"/>
                </a:solidFill>
              </a14:hiddenFill>
            </a:ext>
          </a:extLst>
        </p:spPr>
      </p:pic>
      <p:sp>
        <p:nvSpPr>
          <p:cNvPr id="3" name="Footer Placeholder 4">
            <a:extLst>
              <a:ext uri="{FF2B5EF4-FFF2-40B4-BE49-F238E27FC236}">
                <a16:creationId xmlns:a16="http://schemas.microsoft.com/office/drawing/2014/main" id="{8E9B0764-8EE9-4E7D-A521-5C42824265BF}"/>
              </a:ext>
            </a:extLst>
          </p:cNvPr>
          <p:cNvSpPr>
            <a:spLocks noGrp="1"/>
          </p:cNvSpPr>
          <p:nvPr>
            <p:ph type="ftr" sz="quarter" idx="11"/>
          </p:nvPr>
        </p:nvSpPr>
        <p:spPr>
          <a:xfrm>
            <a:off x="4038600" y="6436252"/>
            <a:ext cx="4114800" cy="365125"/>
          </a:xfrm>
        </p:spPr>
        <p:txBody>
          <a:bodyPr/>
          <a:lstStyle/>
          <a:p>
            <a:r>
              <a:rPr lang="el-GR" dirty="0">
                <a:solidFill>
                  <a:schemeClr val="tx2">
                    <a:lumMod val="50000"/>
                  </a:schemeClr>
                </a:solidFill>
                <a:latin typeface="Tahoma" pitchFamily="34" charset="0"/>
                <a:ea typeface="Tahoma" pitchFamily="34" charset="0"/>
                <a:cs typeface="Tahoma" pitchFamily="34" charset="0"/>
              </a:rPr>
              <a:t>Παναγιώτης </a:t>
            </a:r>
            <a:r>
              <a:rPr lang="el-GR" dirty="0" err="1">
                <a:solidFill>
                  <a:schemeClr val="tx2">
                    <a:lumMod val="50000"/>
                  </a:schemeClr>
                </a:solidFill>
                <a:latin typeface="Tahoma" pitchFamily="34" charset="0"/>
                <a:ea typeface="Tahoma" pitchFamily="34" charset="0"/>
                <a:cs typeface="Tahoma" pitchFamily="34" charset="0"/>
              </a:rPr>
              <a:t>Πήλιουρας</a:t>
            </a:r>
            <a:r>
              <a:rPr lang="el-GR" dirty="0">
                <a:solidFill>
                  <a:schemeClr val="tx2">
                    <a:lumMod val="50000"/>
                  </a:schemeClr>
                </a:solidFill>
                <a:latin typeface="Tahoma" pitchFamily="34" charset="0"/>
                <a:ea typeface="Tahoma" pitchFamily="34" charset="0"/>
                <a:cs typeface="Tahoma" pitchFamily="34" charset="0"/>
              </a:rPr>
              <a:t> @ Θ.Ε. ΕΚΠ63 1</a:t>
            </a:r>
            <a:r>
              <a:rPr lang="el-GR" baseline="30000" dirty="0">
                <a:solidFill>
                  <a:schemeClr val="tx2">
                    <a:lumMod val="50000"/>
                  </a:schemeClr>
                </a:solidFill>
                <a:latin typeface="Tahoma" pitchFamily="34" charset="0"/>
                <a:ea typeface="Tahoma" pitchFamily="34" charset="0"/>
                <a:cs typeface="Tahoma" pitchFamily="34" charset="0"/>
              </a:rPr>
              <a:t>Η</a:t>
            </a:r>
            <a:r>
              <a:rPr lang="el-GR" dirty="0">
                <a:solidFill>
                  <a:schemeClr val="tx2">
                    <a:lumMod val="50000"/>
                  </a:schemeClr>
                </a:solidFill>
                <a:latin typeface="Tahoma" pitchFamily="34" charset="0"/>
                <a:ea typeface="Tahoma" pitchFamily="34" charset="0"/>
                <a:cs typeface="Tahoma" pitchFamily="34" charset="0"/>
              </a:rPr>
              <a:t> ΟΣΣ 2020-21</a:t>
            </a:r>
          </a:p>
        </p:txBody>
      </p:sp>
    </p:spTree>
    <p:extLst>
      <p:ext uri="{BB962C8B-B14F-4D97-AF65-F5344CB8AC3E}">
        <p14:creationId xmlns:p14="http://schemas.microsoft.com/office/powerpoint/2010/main" val="15241377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4" name="Picture 4">
            <a:extLst>
              <a:ext uri="{FF2B5EF4-FFF2-40B4-BE49-F238E27FC236}">
                <a16:creationId xmlns:a16="http://schemas.microsoft.com/office/drawing/2014/main" id="{88D3D5ED-3550-4485-BB06-656556C0AE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1" y="76201"/>
            <a:ext cx="7693025" cy="6835775"/>
          </a:xfrm>
          <a:prstGeom prst="rect">
            <a:avLst/>
          </a:prstGeom>
          <a:noFill/>
          <a:extLst>
            <a:ext uri="{909E8E84-426E-40DD-AFC4-6F175D3DCCD1}">
              <a14:hiddenFill xmlns:a14="http://schemas.microsoft.com/office/drawing/2010/main">
                <a:solidFill>
                  <a:srgbClr val="FFFFFF"/>
                </a:solidFill>
              </a14:hiddenFill>
            </a:ext>
          </a:extLst>
        </p:spPr>
      </p:pic>
      <p:sp>
        <p:nvSpPr>
          <p:cNvPr id="3" name="Footer Placeholder 4">
            <a:extLst>
              <a:ext uri="{FF2B5EF4-FFF2-40B4-BE49-F238E27FC236}">
                <a16:creationId xmlns:a16="http://schemas.microsoft.com/office/drawing/2014/main" id="{125DEE69-1458-49CA-8584-8DD5932FAFD7}"/>
              </a:ext>
            </a:extLst>
          </p:cNvPr>
          <p:cNvSpPr>
            <a:spLocks noGrp="1"/>
          </p:cNvSpPr>
          <p:nvPr>
            <p:ph type="ftr" sz="quarter" idx="11"/>
          </p:nvPr>
        </p:nvSpPr>
        <p:spPr>
          <a:xfrm>
            <a:off x="4075113" y="6599236"/>
            <a:ext cx="4114800" cy="365125"/>
          </a:xfrm>
        </p:spPr>
        <p:txBody>
          <a:bodyPr/>
          <a:lstStyle/>
          <a:p>
            <a:r>
              <a:rPr lang="el-GR" dirty="0">
                <a:solidFill>
                  <a:schemeClr val="tx2">
                    <a:lumMod val="50000"/>
                  </a:schemeClr>
                </a:solidFill>
                <a:latin typeface="Tahoma" pitchFamily="34" charset="0"/>
                <a:ea typeface="Tahoma" pitchFamily="34" charset="0"/>
                <a:cs typeface="Tahoma" pitchFamily="34" charset="0"/>
              </a:rPr>
              <a:t>Παναγιώτης </a:t>
            </a:r>
            <a:r>
              <a:rPr lang="el-GR" dirty="0" err="1">
                <a:solidFill>
                  <a:schemeClr val="tx2">
                    <a:lumMod val="50000"/>
                  </a:schemeClr>
                </a:solidFill>
                <a:latin typeface="Tahoma" pitchFamily="34" charset="0"/>
                <a:ea typeface="Tahoma" pitchFamily="34" charset="0"/>
                <a:cs typeface="Tahoma" pitchFamily="34" charset="0"/>
              </a:rPr>
              <a:t>Πήλιουρας</a:t>
            </a:r>
            <a:r>
              <a:rPr lang="el-GR" dirty="0">
                <a:solidFill>
                  <a:schemeClr val="tx2">
                    <a:lumMod val="50000"/>
                  </a:schemeClr>
                </a:solidFill>
                <a:latin typeface="Tahoma" pitchFamily="34" charset="0"/>
                <a:ea typeface="Tahoma" pitchFamily="34" charset="0"/>
                <a:cs typeface="Tahoma" pitchFamily="34" charset="0"/>
              </a:rPr>
              <a:t> @ Θ.Ε. ΕΚΠ63 1</a:t>
            </a:r>
            <a:r>
              <a:rPr lang="el-GR" baseline="30000" dirty="0">
                <a:solidFill>
                  <a:schemeClr val="tx2">
                    <a:lumMod val="50000"/>
                  </a:schemeClr>
                </a:solidFill>
                <a:latin typeface="Tahoma" pitchFamily="34" charset="0"/>
                <a:ea typeface="Tahoma" pitchFamily="34" charset="0"/>
                <a:cs typeface="Tahoma" pitchFamily="34" charset="0"/>
              </a:rPr>
              <a:t>Η</a:t>
            </a:r>
            <a:r>
              <a:rPr lang="el-GR" dirty="0">
                <a:solidFill>
                  <a:schemeClr val="tx2">
                    <a:lumMod val="50000"/>
                  </a:schemeClr>
                </a:solidFill>
                <a:latin typeface="Tahoma" pitchFamily="34" charset="0"/>
                <a:ea typeface="Tahoma" pitchFamily="34" charset="0"/>
                <a:cs typeface="Tahoma" pitchFamily="34" charset="0"/>
              </a:rPr>
              <a:t> ΟΣΣ 2020-21</a:t>
            </a:r>
          </a:p>
        </p:txBody>
      </p:sp>
    </p:spTree>
    <p:extLst>
      <p:ext uri="{BB962C8B-B14F-4D97-AF65-F5344CB8AC3E}">
        <p14:creationId xmlns:p14="http://schemas.microsoft.com/office/powerpoint/2010/main" val="22107214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6C507375-1AED-4C0F-ADF8-42A27A6D425D}"/>
              </a:ext>
            </a:extLst>
          </p:cNvPr>
          <p:cNvSpPr>
            <a:spLocks noGrp="1" noChangeArrowheads="1"/>
          </p:cNvSpPr>
          <p:nvPr>
            <p:ph type="title"/>
          </p:nvPr>
        </p:nvSpPr>
        <p:spPr>
          <a:xfrm>
            <a:off x="2336259" y="1893651"/>
            <a:ext cx="7848600" cy="3281464"/>
          </a:xfrm>
        </p:spPr>
        <p:txBody>
          <a:bodyPr/>
          <a:lstStyle/>
          <a:p>
            <a:r>
              <a:rPr lang="el-GR" altLang="en-US" b="1">
                <a:solidFill>
                  <a:srgbClr val="000066"/>
                </a:solidFill>
                <a:cs typeface="Times New Roman" panose="02020603050405020304" pitchFamily="18" charset="0"/>
              </a:rPr>
              <a:t>Ο </a:t>
            </a:r>
            <a:r>
              <a:rPr lang="el-GR" altLang="en-US" b="1" i="1">
                <a:solidFill>
                  <a:srgbClr val="000066"/>
                </a:solidFill>
              </a:rPr>
              <a:t>πι</a:t>
            </a:r>
            <a:r>
              <a:rPr lang="en-US" altLang="en-US" b="1" i="1">
                <a:solidFill>
                  <a:srgbClr val="000066"/>
                </a:solidFill>
                <a:cs typeface="Times New Roman" panose="02020603050405020304" pitchFamily="18" charset="0"/>
              </a:rPr>
              <a:t>o</a:t>
            </a:r>
            <a:r>
              <a:rPr lang="el-GR" altLang="en-US" b="1" i="1">
                <a:solidFill>
                  <a:srgbClr val="000066"/>
                </a:solidFill>
                <a:cs typeface="Times New Roman" panose="02020603050405020304" pitchFamily="18" charset="0"/>
              </a:rPr>
              <a:t> σπουδαίος απλός παράγοντας που επηρεά</a:t>
            </a:r>
            <a:r>
              <a:rPr lang="el-GR" altLang="en-US" b="1" i="1">
                <a:solidFill>
                  <a:srgbClr val="000066"/>
                </a:solidFill>
              </a:rPr>
              <a:t>ζ</a:t>
            </a:r>
            <a:r>
              <a:rPr lang="el-GR" altLang="en-US" b="1" i="1">
                <a:solidFill>
                  <a:srgbClr val="000066"/>
                </a:solidFill>
                <a:cs typeface="Times New Roman" panose="02020603050405020304" pitchFamily="18" charset="0"/>
              </a:rPr>
              <a:t>ει τη μάθηση είναι αυτό που ο μαθητής ήδη γνωρί</a:t>
            </a:r>
            <a:r>
              <a:rPr lang="el-GR" altLang="en-US" b="1" i="1">
                <a:solidFill>
                  <a:srgbClr val="000066"/>
                </a:solidFill>
              </a:rPr>
              <a:t>ζ</a:t>
            </a:r>
            <a:r>
              <a:rPr lang="el-GR" altLang="en-US" b="1" i="1">
                <a:solidFill>
                  <a:srgbClr val="000066"/>
                </a:solidFill>
                <a:cs typeface="Times New Roman" panose="02020603050405020304" pitchFamily="18" charset="0"/>
              </a:rPr>
              <a:t>ει. Εξακρίβωσε το και δίδαξε τον σύμφωνα με αυτό</a:t>
            </a:r>
            <a:r>
              <a:rPr lang="el-GR" altLang="en-US" b="1" i="1">
                <a:solidFill>
                  <a:srgbClr val="000000"/>
                </a:solidFill>
                <a:cs typeface="Times New Roman" panose="02020603050405020304" pitchFamily="18" charset="0"/>
              </a:rPr>
              <a:t> </a:t>
            </a:r>
            <a:br>
              <a:rPr lang="el-GR" altLang="en-US" b="1" i="1">
                <a:solidFill>
                  <a:srgbClr val="000000"/>
                </a:solidFill>
              </a:rPr>
            </a:br>
            <a:br>
              <a:rPr lang="el-GR" altLang="en-US" b="1" i="1">
                <a:solidFill>
                  <a:srgbClr val="000000"/>
                </a:solidFill>
              </a:rPr>
            </a:br>
            <a:r>
              <a:rPr lang="el-GR" altLang="en-US">
                <a:solidFill>
                  <a:srgbClr val="336600"/>
                </a:solidFill>
                <a:cs typeface="Times New Roman" panose="02020603050405020304" pitchFamily="18" charset="0"/>
              </a:rPr>
              <a:t>(</a:t>
            </a:r>
            <a:r>
              <a:rPr lang="en-US" altLang="en-US">
                <a:solidFill>
                  <a:srgbClr val="336600"/>
                </a:solidFill>
                <a:cs typeface="Times New Roman" panose="02020603050405020304" pitchFamily="18" charset="0"/>
              </a:rPr>
              <a:t>Ausubel</a:t>
            </a:r>
            <a:r>
              <a:rPr lang="el-GR" altLang="en-US">
                <a:solidFill>
                  <a:srgbClr val="336600"/>
                </a:solidFill>
                <a:cs typeface="Times New Roman" panose="02020603050405020304" pitchFamily="18" charset="0"/>
              </a:rPr>
              <a:t>, 1968).</a:t>
            </a:r>
            <a:r>
              <a:rPr lang="el-GR" altLang="en-US">
                <a:solidFill>
                  <a:srgbClr val="000000"/>
                </a:solidFill>
                <a:cs typeface="Times New Roman" panose="02020603050405020304" pitchFamily="18" charset="0"/>
              </a:rPr>
              <a:t> </a:t>
            </a:r>
          </a:p>
        </p:txBody>
      </p:sp>
      <p:sp>
        <p:nvSpPr>
          <p:cNvPr id="3" name="Footer Placeholder 4">
            <a:extLst>
              <a:ext uri="{FF2B5EF4-FFF2-40B4-BE49-F238E27FC236}">
                <a16:creationId xmlns:a16="http://schemas.microsoft.com/office/drawing/2014/main" id="{D35891BE-E07E-48A4-8B7B-BA13D681BF84}"/>
              </a:ext>
            </a:extLst>
          </p:cNvPr>
          <p:cNvSpPr>
            <a:spLocks noGrp="1"/>
          </p:cNvSpPr>
          <p:nvPr>
            <p:ph type="ftr" sz="quarter" idx="11"/>
          </p:nvPr>
        </p:nvSpPr>
        <p:spPr>
          <a:xfrm>
            <a:off x="4038600" y="6356350"/>
            <a:ext cx="4114800" cy="365125"/>
          </a:xfrm>
        </p:spPr>
        <p:txBody>
          <a:bodyPr/>
          <a:lstStyle/>
          <a:p>
            <a:r>
              <a:rPr lang="el-GR" dirty="0">
                <a:solidFill>
                  <a:schemeClr val="tx2">
                    <a:lumMod val="50000"/>
                  </a:schemeClr>
                </a:solidFill>
                <a:latin typeface="Tahoma" pitchFamily="34" charset="0"/>
                <a:ea typeface="Tahoma" pitchFamily="34" charset="0"/>
                <a:cs typeface="Tahoma" pitchFamily="34" charset="0"/>
              </a:rPr>
              <a:t>Παναγιώτης </a:t>
            </a:r>
            <a:r>
              <a:rPr lang="el-GR" dirty="0" err="1">
                <a:solidFill>
                  <a:schemeClr val="tx2">
                    <a:lumMod val="50000"/>
                  </a:schemeClr>
                </a:solidFill>
                <a:latin typeface="Tahoma" pitchFamily="34" charset="0"/>
                <a:ea typeface="Tahoma" pitchFamily="34" charset="0"/>
                <a:cs typeface="Tahoma" pitchFamily="34" charset="0"/>
              </a:rPr>
              <a:t>Πήλιουρας</a:t>
            </a:r>
            <a:r>
              <a:rPr lang="el-GR" dirty="0">
                <a:solidFill>
                  <a:schemeClr val="tx2">
                    <a:lumMod val="50000"/>
                  </a:schemeClr>
                </a:solidFill>
                <a:latin typeface="Tahoma" pitchFamily="34" charset="0"/>
                <a:ea typeface="Tahoma" pitchFamily="34" charset="0"/>
                <a:cs typeface="Tahoma" pitchFamily="34" charset="0"/>
              </a:rPr>
              <a:t> @ Θ.Ε. ΕΚΠ63 1</a:t>
            </a:r>
            <a:r>
              <a:rPr lang="el-GR" baseline="30000" dirty="0">
                <a:solidFill>
                  <a:schemeClr val="tx2">
                    <a:lumMod val="50000"/>
                  </a:schemeClr>
                </a:solidFill>
                <a:latin typeface="Tahoma" pitchFamily="34" charset="0"/>
                <a:ea typeface="Tahoma" pitchFamily="34" charset="0"/>
                <a:cs typeface="Tahoma" pitchFamily="34" charset="0"/>
              </a:rPr>
              <a:t>Η</a:t>
            </a:r>
            <a:r>
              <a:rPr lang="el-GR" dirty="0">
                <a:solidFill>
                  <a:schemeClr val="tx2">
                    <a:lumMod val="50000"/>
                  </a:schemeClr>
                </a:solidFill>
                <a:latin typeface="Tahoma" pitchFamily="34" charset="0"/>
                <a:ea typeface="Tahoma" pitchFamily="34" charset="0"/>
                <a:cs typeface="Tahoma" pitchFamily="34" charset="0"/>
              </a:rPr>
              <a:t> ΟΣΣ 2020-21</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C62EFA84-AFF8-446C-A3FB-6B866319373D}"/>
              </a:ext>
            </a:extLst>
          </p:cNvPr>
          <p:cNvSpPr>
            <a:spLocks noGrp="1" noChangeArrowheads="1"/>
          </p:cNvSpPr>
          <p:nvPr>
            <p:ph type="title"/>
          </p:nvPr>
        </p:nvSpPr>
        <p:spPr/>
        <p:txBody>
          <a:bodyPr>
            <a:normAutofit/>
          </a:bodyPr>
          <a:lstStyle/>
          <a:p>
            <a:r>
              <a:rPr lang="el-GR" altLang="en-US" b="1" dirty="0">
                <a:solidFill>
                  <a:srgbClr val="002060"/>
                </a:solidFill>
              </a:rPr>
              <a:t>Οι αντιλήψεις των μαθητών αναφέρονται και ως:</a:t>
            </a:r>
          </a:p>
        </p:txBody>
      </p:sp>
      <p:sp>
        <p:nvSpPr>
          <p:cNvPr id="13315" name="Rectangle 3">
            <a:extLst>
              <a:ext uri="{FF2B5EF4-FFF2-40B4-BE49-F238E27FC236}">
                <a16:creationId xmlns:a16="http://schemas.microsoft.com/office/drawing/2014/main" id="{50DF19DD-488A-4498-B76F-163200F9066A}"/>
              </a:ext>
            </a:extLst>
          </p:cNvPr>
          <p:cNvSpPr>
            <a:spLocks noGrp="1" noChangeArrowheads="1"/>
          </p:cNvSpPr>
          <p:nvPr>
            <p:ph type="body" idx="1"/>
          </p:nvPr>
        </p:nvSpPr>
        <p:spPr>
          <a:xfrm>
            <a:off x="2385561" y="1825625"/>
            <a:ext cx="7050932" cy="4351338"/>
          </a:xfrm>
          <a:ln w="50800">
            <a:solidFill>
              <a:srgbClr val="CE1E82"/>
            </a:solidFill>
          </a:ln>
        </p:spPr>
        <p:txBody>
          <a:bodyPr/>
          <a:lstStyle/>
          <a:p>
            <a:pPr algn="just"/>
            <a:r>
              <a:rPr lang="el-GR" altLang="en-US" dirty="0">
                <a:solidFill>
                  <a:srgbClr val="000099"/>
                </a:solidFill>
              </a:rPr>
              <a:t>εναλ</a:t>
            </a:r>
            <a:r>
              <a:rPr lang="el-GR" altLang="en-US" dirty="0">
                <a:solidFill>
                  <a:srgbClr val="000099"/>
                </a:solidFill>
                <a:cs typeface="Times New Roman" panose="02020603050405020304" pitchFamily="18" charset="0"/>
              </a:rPr>
              <a:t>λακτικές ιδέες </a:t>
            </a:r>
            <a:endParaRPr lang="el-GR" altLang="en-US" dirty="0">
              <a:solidFill>
                <a:srgbClr val="000099"/>
              </a:solidFill>
            </a:endParaRPr>
          </a:p>
          <a:p>
            <a:pPr algn="just"/>
            <a:r>
              <a:rPr lang="el-GR" altLang="en-US" dirty="0">
                <a:solidFill>
                  <a:srgbClr val="000099"/>
                </a:solidFill>
                <a:cs typeface="Times New Roman" panose="02020603050405020304" pitchFamily="18" charset="0"/>
              </a:rPr>
              <a:t> παρανοήσεις</a:t>
            </a:r>
            <a:endParaRPr lang="el-GR" altLang="en-US" dirty="0">
              <a:solidFill>
                <a:srgbClr val="000099"/>
              </a:solidFill>
            </a:endParaRPr>
          </a:p>
          <a:p>
            <a:pPr algn="just"/>
            <a:r>
              <a:rPr lang="el-GR" altLang="en-US" dirty="0">
                <a:solidFill>
                  <a:srgbClr val="000099"/>
                </a:solidFill>
                <a:cs typeface="Times New Roman" panose="02020603050405020304" pitchFamily="18" charset="0"/>
              </a:rPr>
              <a:t> </a:t>
            </a:r>
            <a:r>
              <a:rPr lang="el-GR" altLang="en-US" dirty="0" err="1">
                <a:solidFill>
                  <a:srgbClr val="000099"/>
                </a:solidFill>
                <a:cs typeface="Times New Roman" panose="02020603050405020304" pitchFamily="18" charset="0"/>
              </a:rPr>
              <a:t>προϋπάρχουσες</a:t>
            </a:r>
            <a:r>
              <a:rPr lang="el-GR" altLang="en-US" dirty="0">
                <a:solidFill>
                  <a:srgbClr val="000099"/>
                </a:solidFill>
                <a:cs typeface="Times New Roman" panose="02020603050405020304" pitchFamily="18" charset="0"/>
              </a:rPr>
              <a:t> ιδέες</a:t>
            </a:r>
            <a:endParaRPr lang="el-GR" altLang="en-US" dirty="0">
              <a:solidFill>
                <a:srgbClr val="000099"/>
              </a:solidFill>
            </a:endParaRPr>
          </a:p>
          <a:p>
            <a:pPr algn="just"/>
            <a:r>
              <a:rPr lang="el-GR" altLang="en-US" dirty="0">
                <a:solidFill>
                  <a:srgbClr val="000099"/>
                </a:solidFill>
                <a:cs typeface="Times New Roman" panose="02020603050405020304" pitchFamily="18" charset="0"/>
              </a:rPr>
              <a:t> αυθόρμητες αντιλήψεις</a:t>
            </a:r>
            <a:endParaRPr lang="el-GR" altLang="en-US" dirty="0">
              <a:solidFill>
                <a:srgbClr val="000099"/>
              </a:solidFill>
            </a:endParaRPr>
          </a:p>
          <a:p>
            <a:pPr algn="just"/>
            <a:r>
              <a:rPr lang="el-GR" altLang="en-US" dirty="0">
                <a:solidFill>
                  <a:srgbClr val="000099"/>
                </a:solidFill>
                <a:cs typeface="Times New Roman" panose="02020603050405020304" pitchFamily="18" charset="0"/>
              </a:rPr>
              <a:t> διαισθητικές ιδέες</a:t>
            </a:r>
            <a:endParaRPr lang="el-GR" altLang="en-US" dirty="0">
              <a:solidFill>
                <a:srgbClr val="000099"/>
              </a:solidFill>
            </a:endParaRPr>
          </a:p>
          <a:p>
            <a:pPr algn="just"/>
            <a:r>
              <a:rPr lang="el-GR" altLang="en-US" dirty="0">
                <a:solidFill>
                  <a:srgbClr val="000099"/>
                </a:solidFill>
                <a:cs typeface="Times New Roman" panose="02020603050405020304" pitchFamily="18" charset="0"/>
              </a:rPr>
              <a:t> επιστήμη των παιδιών</a:t>
            </a:r>
            <a:endParaRPr lang="el-GR" altLang="en-US" dirty="0">
              <a:solidFill>
                <a:srgbClr val="000099"/>
              </a:solidFill>
            </a:endParaRPr>
          </a:p>
          <a:p>
            <a:pPr algn="just"/>
            <a:r>
              <a:rPr lang="el-GR" altLang="en-US" dirty="0">
                <a:solidFill>
                  <a:srgbClr val="000099"/>
                </a:solidFill>
                <a:cs typeface="Times New Roman" panose="02020603050405020304" pitchFamily="18" charset="0"/>
              </a:rPr>
              <a:t> αναπαραστάσεις </a:t>
            </a:r>
            <a:endParaRPr lang="el-GR" altLang="en-US" dirty="0">
              <a:solidFill>
                <a:srgbClr val="000099"/>
              </a:solidFill>
            </a:endParaRPr>
          </a:p>
          <a:p>
            <a:pPr algn="just"/>
            <a:r>
              <a:rPr lang="el-GR" altLang="en-US" dirty="0">
                <a:solidFill>
                  <a:srgbClr val="000099"/>
                </a:solidFill>
              </a:rPr>
              <a:t> </a:t>
            </a:r>
            <a:r>
              <a:rPr lang="el-GR" altLang="en-US" dirty="0">
                <a:solidFill>
                  <a:srgbClr val="000099"/>
                </a:solidFill>
                <a:cs typeface="Times New Roman" panose="02020603050405020304" pitchFamily="18" charset="0"/>
              </a:rPr>
              <a:t>νοητικά μοντέλα</a:t>
            </a:r>
          </a:p>
          <a:p>
            <a:endParaRPr lang="el-GR" altLang="en-US" dirty="0">
              <a:solidFill>
                <a:srgbClr val="000099"/>
              </a:solidFill>
            </a:endParaRPr>
          </a:p>
        </p:txBody>
      </p:sp>
      <p:sp>
        <p:nvSpPr>
          <p:cNvPr id="4" name="Footer Placeholder 4">
            <a:extLst>
              <a:ext uri="{FF2B5EF4-FFF2-40B4-BE49-F238E27FC236}">
                <a16:creationId xmlns:a16="http://schemas.microsoft.com/office/drawing/2014/main" id="{1C98EA7A-D5AF-4D61-8FF1-150EE2EACD92}"/>
              </a:ext>
            </a:extLst>
          </p:cNvPr>
          <p:cNvSpPr>
            <a:spLocks noGrp="1"/>
          </p:cNvSpPr>
          <p:nvPr>
            <p:ph type="ftr" sz="quarter" idx="11"/>
          </p:nvPr>
        </p:nvSpPr>
        <p:spPr>
          <a:xfrm>
            <a:off x="4038600" y="6356350"/>
            <a:ext cx="4114800" cy="365125"/>
          </a:xfrm>
        </p:spPr>
        <p:txBody>
          <a:bodyPr/>
          <a:lstStyle/>
          <a:p>
            <a:r>
              <a:rPr lang="el-GR" dirty="0">
                <a:solidFill>
                  <a:schemeClr val="tx2">
                    <a:lumMod val="50000"/>
                  </a:schemeClr>
                </a:solidFill>
                <a:latin typeface="Tahoma" pitchFamily="34" charset="0"/>
                <a:ea typeface="Tahoma" pitchFamily="34" charset="0"/>
                <a:cs typeface="Tahoma" pitchFamily="34" charset="0"/>
              </a:rPr>
              <a:t>Παναγιώτης </a:t>
            </a:r>
            <a:r>
              <a:rPr lang="el-GR" dirty="0" err="1">
                <a:solidFill>
                  <a:schemeClr val="tx2">
                    <a:lumMod val="50000"/>
                  </a:schemeClr>
                </a:solidFill>
                <a:latin typeface="Tahoma" pitchFamily="34" charset="0"/>
                <a:ea typeface="Tahoma" pitchFamily="34" charset="0"/>
                <a:cs typeface="Tahoma" pitchFamily="34" charset="0"/>
              </a:rPr>
              <a:t>Πήλιουρας</a:t>
            </a:r>
            <a:r>
              <a:rPr lang="el-GR" dirty="0">
                <a:solidFill>
                  <a:schemeClr val="tx2">
                    <a:lumMod val="50000"/>
                  </a:schemeClr>
                </a:solidFill>
                <a:latin typeface="Tahoma" pitchFamily="34" charset="0"/>
                <a:ea typeface="Tahoma" pitchFamily="34" charset="0"/>
                <a:cs typeface="Tahoma" pitchFamily="34" charset="0"/>
              </a:rPr>
              <a:t> @ Θ.Ε. ΕΚΠ63 1</a:t>
            </a:r>
            <a:r>
              <a:rPr lang="el-GR" baseline="30000" dirty="0">
                <a:solidFill>
                  <a:schemeClr val="tx2">
                    <a:lumMod val="50000"/>
                  </a:schemeClr>
                </a:solidFill>
                <a:latin typeface="Tahoma" pitchFamily="34" charset="0"/>
                <a:ea typeface="Tahoma" pitchFamily="34" charset="0"/>
                <a:cs typeface="Tahoma" pitchFamily="34" charset="0"/>
              </a:rPr>
              <a:t>Η</a:t>
            </a:r>
            <a:r>
              <a:rPr lang="el-GR" dirty="0">
                <a:solidFill>
                  <a:schemeClr val="tx2">
                    <a:lumMod val="50000"/>
                  </a:schemeClr>
                </a:solidFill>
                <a:latin typeface="Tahoma" pitchFamily="34" charset="0"/>
                <a:ea typeface="Tahoma" pitchFamily="34" charset="0"/>
                <a:cs typeface="Tahoma" pitchFamily="34" charset="0"/>
              </a:rPr>
              <a:t> ΟΣΣ 2020-21</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AA0661AC-A979-4976-9506-EDEEB60C6B95}"/>
              </a:ext>
            </a:extLst>
          </p:cNvPr>
          <p:cNvSpPr>
            <a:spLocks noGrp="1" noChangeArrowheads="1"/>
          </p:cNvSpPr>
          <p:nvPr>
            <p:ph type="ctrTitle"/>
          </p:nvPr>
        </p:nvSpPr>
        <p:spPr>
          <a:xfrm>
            <a:off x="1905000" y="609600"/>
            <a:ext cx="8458200" cy="1143000"/>
          </a:xfrm>
        </p:spPr>
        <p:txBody>
          <a:bodyPr anchor="ctr">
            <a:normAutofit fontScale="90000"/>
          </a:bodyPr>
          <a:lstStyle/>
          <a:p>
            <a:r>
              <a:rPr lang="el-GR" altLang="en-US" sz="3600" b="1" dirty="0">
                <a:solidFill>
                  <a:srgbClr val="000066"/>
                </a:solidFill>
                <a:cs typeface="Times New Roman" panose="02020603050405020304" pitchFamily="18" charset="0"/>
              </a:rPr>
              <a:t>Οι αντιλήψεις των μαθητών</a:t>
            </a:r>
            <a:br>
              <a:rPr lang="el-GR" altLang="en-US" sz="3600" b="1" dirty="0">
                <a:solidFill>
                  <a:srgbClr val="000066"/>
                </a:solidFill>
              </a:rPr>
            </a:br>
            <a:r>
              <a:rPr lang="el-GR" altLang="en-US" sz="3600" b="1" dirty="0">
                <a:solidFill>
                  <a:srgbClr val="000066"/>
                </a:solidFill>
                <a:cs typeface="Times New Roman" panose="02020603050405020304" pitchFamily="18" charset="0"/>
              </a:rPr>
              <a:t> στις Φυσικές Επιστήμες</a:t>
            </a:r>
            <a:br>
              <a:rPr lang="el-GR" altLang="en-US" sz="4400" dirty="0">
                <a:cs typeface="Times New Roman" panose="02020603050405020304" pitchFamily="18" charset="0"/>
              </a:rPr>
            </a:br>
            <a:endParaRPr lang="el-GR" altLang="en-US" sz="4400" dirty="0"/>
          </a:p>
        </p:txBody>
      </p:sp>
      <p:sp>
        <p:nvSpPr>
          <p:cNvPr id="5123" name="Rectangle 3">
            <a:extLst>
              <a:ext uri="{FF2B5EF4-FFF2-40B4-BE49-F238E27FC236}">
                <a16:creationId xmlns:a16="http://schemas.microsoft.com/office/drawing/2014/main" id="{0800475E-9787-46A2-9750-656F6D190F21}"/>
              </a:ext>
            </a:extLst>
          </p:cNvPr>
          <p:cNvSpPr>
            <a:spLocks noGrp="1" noChangeArrowheads="1"/>
          </p:cNvSpPr>
          <p:nvPr>
            <p:ph type="subTitle" idx="1"/>
          </p:nvPr>
        </p:nvSpPr>
        <p:spPr>
          <a:xfrm>
            <a:off x="1752600" y="1981200"/>
            <a:ext cx="8686800" cy="3670570"/>
          </a:xfrm>
          <a:ln w="50800">
            <a:solidFill>
              <a:srgbClr val="CE1E82"/>
            </a:solidFill>
          </a:ln>
        </p:spPr>
        <p:txBody>
          <a:bodyPr/>
          <a:lstStyle/>
          <a:p>
            <a:pPr algn="l">
              <a:buFontTx/>
              <a:buChar char="•"/>
            </a:pPr>
            <a:endParaRPr lang="el-GR" altLang="en-US" sz="1200" dirty="0">
              <a:solidFill>
                <a:srgbClr val="002060"/>
              </a:solidFill>
            </a:endParaRPr>
          </a:p>
          <a:p>
            <a:pPr algn="l">
              <a:buFontTx/>
              <a:buChar char="•"/>
            </a:pPr>
            <a:r>
              <a:rPr lang="el-GR" altLang="en-US" sz="3200" dirty="0">
                <a:solidFill>
                  <a:srgbClr val="002060"/>
                </a:solidFill>
              </a:rPr>
              <a:t>Χρησιμοποιούνται από τους μαθητές για να προβλέψουν και να ερμηνεύσουν ό,τι υποπίπτει στην αντίληψή τους</a:t>
            </a:r>
          </a:p>
          <a:p>
            <a:pPr algn="l">
              <a:buFontTx/>
              <a:buChar char="•"/>
            </a:pPr>
            <a:endParaRPr lang="el-GR" altLang="en-US" sz="3200" dirty="0">
              <a:solidFill>
                <a:srgbClr val="002060"/>
              </a:solidFill>
            </a:endParaRPr>
          </a:p>
          <a:p>
            <a:pPr algn="just">
              <a:buFontTx/>
              <a:buChar char="•"/>
            </a:pPr>
            <a:r>
              <a:rPr lang="el-GR" altLang="en-US" sz="3200" dirty="0">
                <a:solidFill>
                  <a:srgbClr val="002060"/>
                </a:solidFill>
                <a:cs typeface="Times New Roman" panose="02020603050405020304" pitchFamily="18" charset="0"/>
              </a:rPr>
              <a:t>Οι εναλλακτικές ιδέες των μαθητών έχουν γενικότητα και διαχρονική ισχύ</a:t>
            </a:r>
            <a:r>
              <a:rPr lang="el-GR" altLang="en-US" sz="3200" dirty="0">
                <a:solidFill>
                  <a:srgbClr val="002060"/>
                </a:solidFill>
              </a:rPr>
              <a:t>.</a:t>
            </a:r>
            <a:r>
              <a:rPr lang="el-GR" altLang="en-US" sz="3200" dirty="0">
                <a:solidFill>
                  <a:srgbClr val="002060"/>
                </a:solidFill>
                <a:cs typeface="Times New Roman" panose="02020603050405020304" pitchFamily="18" charset="0"/>
              </a:rPr>
              <a:t> </a:t>
            </a:r>
          </a:p>
          <a:p>
            <a:pPr algn="l">
              <a:buFontTx/>
              <a:buChar char="•"/>
            </a:pPr>
            <a:endParaRPr lang="el-GR" altLang="en-US" sz="3200" dirty="0">
              <a:solidFill>
                <a:srgbClr val="002060"/>
              </a:solidFill>
            </a:endParaRPr>
          </a:p>
        </p:txBody>
      </p:sp>
      <p:sp>
        <p:nvSpPr>
          <p:cNvPr id="4" name="Footer Placeholder 4">
            <a:extLst>
              <a:ext uri="{FF2B5EF4-FFF2-40B4-BE49-F238E27FC236}">
                <a16:creationId xmlns:a16="http://schemas.microsoft.com/office/drawing/2014/main" id="{42B9DF09-BF90-4E1E-BB71-83508FADEA9B}"/>
              </a:ext>
            </a:extLst>
          </p:cNvPr>
          <p:cNvSpPr>
            <a:spLocks noGrp="1"/>
          </p:cNvSpPr>
          <p:nvPr>
            <p:ph type="ftr" sz="quarter" idx="11"/>
          </p:nvPr>
        </p:nvSpPr>
        <p:spPr>
          <a:xfrm>
            <a:off x="4038600" y="6356350"/>
            <a:ext cx="4114800" cy="365125"/>
          </a:xfrm>
        </p:spPr>
        <p:txBody>
          <a:bodyPr/>
          <a:lstStyle/>
          <a:p>
            <a:r>
              <a:rPr lang="el-GR" dirty="0">
                <a:solidFill>
                  <a:schemeClr val="tx2">
                    <a:lumMod val="50000"/>
                  </a:schemeClr>
                </a:solidFill>
                <a:latin typeface="Tahoma" pitchFamily="34" charset="0"/>
                <a:ea typeface="Tahoma" pitchFamily="34" charset="0"/>
                <a:cs typeface="Tahoma" pitchFamily="34" charset="0"/>
              </a:rPr>
              <a:t>Παναγιώτης </a:t>
            </a:r>
            <a:r>
              <a:rPr lang="el-GR" dirty="0" err="1">
                <a:solidFill>
                  <a:schemeClr val="tx2">
                    <a:lumMod val="50000"/>
                  </a:schemeClr>
                </a:solidFill>
                <a:latin typeface="Tahoma" pitchFamily="34" charset="0"/>
                <a:ea typeface="Tahoma" pitchFamily="34" charset="0"/>
                <a:cs typeface="Tahoma" pitchFamily="34" charset="0"/>
              </a:rPr>
              <a:t>Πήλιουρας</a:t>
            </a:r>
            <a:r>
              <a:rPr lang="el-GR" dirty="0">
                <a:solidFill>
                  <a:schemeClr val="tx2">
                    <a:lumMod val="50000"/>
                  </a:schemeClr>
                </a:solidFill>
                <a:latin typeface="Tahoma" pitchFamily="34" charset="0"/>
                <a:ea typeface="Tahoma" pitchFamily="34" charset="0"/>
                <a:cs typeface="Tahoma" pitchFamily="34" charset="0"/>
              </a:rPr>
              <a:t> @ Θ.Ε. ΕΚΠ63 1</a:t>
            </a:r>
            <a:r>
              <a:rPr lang="el-GR" baseline="30000" dirty="0">
                <a:solidFill>
                  <a:schemeClr val="tx2">
                    <a:lumMod val="50000"/>
                  </a:schemeClr>
                </a:solidFill>
                <a:latin typeface="Tahoma" pitchFamily="34" charset="0"/>
                <a:ea typeface="Tahoma" pitchFamily="34" charset="0"/>
                <a:cs typeface="Tahoma" pitchFamily="34" charset="0"/>
              </a:rPr>
              <a:t>Η</a:t>
            </a:r>
            <a:r>
              <a:rPr lang="el-GR" dirty="0">
                <a:solidFill>
                  <a:schemeClr val="tx2">
                    <a:lumMod val="50000"/>
                  </a:schemeClr>
                </a:solidFill>
                <a:latin typeface="Tahoma" pitchFamily="34" charset="0"/>
                <a:ea typeface="Tahoma" pitchFamily="34" charset="0"/>
                <a:cs typeface="Tahoma" pitchFamily="34" charset="0"/>
              </a:rPr>
              <a:t> ΟΣΣ 2020-21</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F23744CF-CA09-43AB-90D2-578792F06EC9}"/>
              </a:ext>
            </a:extLst>
          </p:cNvPr>
          <p:cNvSpPr>
            <a:spLocks noGrp="1" noChangeArrowheads="1"/>
          </p:cNvSpPr>
          <p:nvPr>
            <p:ph type="ctrTitle"/>
          </p:nvPr>
        </p:nvSpPr>
        <p:spPr>
          <a:xfrm>
            <a:off x="2209800" y="381000"/>
            <a:ext cx="7772400" cy="1143000"/>
          </a:xfrm>
        </p:spPr>
        <p:txBody>
          <a:bodyPr anchor="ctr">
            <a:normAutofit fontScale="90000"/>
          </a:bodyPr>
          <a:lstStyle/>
          <a:p>
            <a:r>
              <a:rPr lang="el-GR" altLang="en-US" sz="3600" b="1" dirty="0">
                <a:solidFill>
                  <a:srgbClr val="000066"/>
                </a:solidFill>
                <a:cs typeface="Times New Roman" panose="02020603050405020304" pitchFamily="18" charset="0"/>
              </a:rPr>
              <a:t>Οι αντιλήψεις των μαθητών</a:t>
            </a:r>
            <a:br>
              <a:rPr lang="el-GR" altLang="en-US" sz="3600" b="1" dirty="0">
                <a:solidFill>
                  <a:srgbClr val="000066"/>
                </a:solidFill>
              </a:rPr>
            </a:br>
            <a:r>
              <a:rPr lang="el-GR" altLang="en-US" sz="3600" b="1" dirty="0">
                <a:solidFill>
                  <a:srgbClr val="000066"/>
                </a:solidFill>
                <a:cs typeface="Times New Roman" panose="02020603050405020304" pitchFamily="18" charset="0"/>
              </a:rPr>
              <a:t> στις Φυσικές Επιστήμες</a:t>
            </a:r>
            <a:br>
              <a:rPr lang="el-GR" altLang="en-US" sz="4400" dirty="0">
                <a:cs typeface="Times New Roman" panose="02020603050405020304" pitchFamily="18" charset="0"/>
              </a:rPr>
            </a:br>
            <a:endParaRPr lang="el-GR" altLang="en-US" sz="4400" dirty="0">
              <a:cs typeface="Times New Roman" panose="02020603050405020304" pitchFamily="18" charset="0"/>
            </a:endParaRPr>
          </a:p>
        </p:txBody>
      </p:sp>
      <p:sp>
        <p:nvSpPr>
          <p:cNvPr id="7171" name="Rectangle 3">
            <a:extLst>
              <a:ext uri="{FF2B5EF4-FFF2-40B4-BE49-F238E27FC236}">
                <a16:creationId xmlns:a16="http://schemas.microsoft.com/office/drawing/2014/main" id="{D5131A2C-8475-4013-AD7D-4BEAA3DA51A2}"/>
              </a:ext>
            </a:extLst>
          </p:cNvPr>
          <p:cNvSpPr>
            <a:spLocks noGrp="1" noChangeArrowheads="1"/>
          </p:cNvSpPr>
          <p:nvPr>
            <p:ph type="subTitle" idx="1"/>
          </p:nvPr>
        </p:nvSpPr>
        <p:spPr>
          <a:xfrm>
            <a:off x="1828800" y="1828800"/>
            <a:ext cx="8534400" cy="3638145"/>
          </a:xfrm>
          <a:ln w="50800">
            <a:solidFill>
              <a:srgbClr val="CE1E82"/>
            </a:solidFill>
          </a:ln>
        </p:spPr>
        <p:txBody>
          <a:bodyPr/>
          <a:lstStyle/>
          <a:p>
            <a:pPr algn="l">
              <a:buFontTx/>
              <a:buChar char="•"/>
            </a:pPr>
            <a:r>
              <a:rPr lang="el-GR" altLang="en-US" sz="3200" dirty="0">
                <a:cs typeface="Times New Roman" panose="02020603050405020304" pitchFamily="18" charset="0"/>
              </a:rPr>
              <a:t>Οι </a:t>
            </a:r>
            <a:r>
              <a:rPr lang="el-GR" altLang="en-US" sz="3200" dirty="0">
                <a:solidFill>
                  <a:srgbClr val="000066"/>
                </a:solidFill>
                <a:cs typeface="Times New Roman" panose="02020603050405020304" pitchFamily="18" charset="0"/>
              </a:rPr>
              <a:t>αντιλήψεις</a:t>
            </a:r>
            <a:r>
              <a:rPr lang="el-GR" altLang="en-US" sz="3200" dirty="0">
                <a:cs typeface="Times New Roman" panose="02020603050405020304" pitchFamily="18" charset="0"/>
              </a:rPr>
              <a:t> αυτές είναι επαρκείς για τους μαθητές για την ερμηνεία των φαινομένων και συγκροτούν μια </a:t>
            </a:r>
            <a:r>
              <a:rPr lang="el-GR" altLang="en-US" sz="3200" dirty="0" err="1">
                <a:cs typeface="Times New Roman" panose="02020603050405020304" pitchFamily="18" charset="0"/>
              </a:rPr>
              <a:t>αυτοσυνεπή</a:t>
            </a:r>
            <a:r>
              <a:rPr lang="el-GR" altLang="en-US" sz="3200" dirty="0">
                <a:cs typeface="Times New Roman" panose="02020603050405020304" pitchFamily="18" charset="0"/>
              </a:rPr>
              <a:t> ως ένα βαθμό γνωστική δομή με περιορισμένη ισχύ. </a:t>
            </a:r>
            <a:br>
              <a:rPr lang="el-GR" altLang="en-US" sz="3200" dirty="0"/>
            </a:br>
            <a:endParaRPr lang="el-GR" altLang="en-US" sz="3200" dirty="0"/>
          </a:p>
          <a:p>
            <a:pPr algn="l">
              <a:buFontTx/>
              <a:buChar char="•"/>
            </a:pPr>
            <a:r>
              <a:rPr lang="el-GR" altLang="en-US" sz="3200" dirty="0">
                <a:cs typeface="Times New Roman" panose="02020603050405020304" pitchFamily="18" charset="0"/>
              </a:rPr>
              <a:t>Πολλές φορές επηρεά</a:t>
            </a:r>
            <a:r>
              <a:rPr lang="el-GR" altLang="en-US" sz="3200" dirty="0"/>
              <a:t>ζ</a:t>
            </a:r>
            <a:r>
              <a:rPr lang="el-GR" altLang="en-US" sz="3200" dirty="0">
                <a:cs typeface="Times New Roman" panose="02020603050405020304" pitchFamily="18" charset="0"/>
              </a:rPr>
              <a:t>ονται ελάχιστα από την παραδοσιακή ή την πειραματική διδασκαλία.</a:t>
            </a:r>
          </a:p>
        </p:txBody>
      </p:sp>
      <p:sp>
        <p:nvSpPr>
          <p:cNvPr id="4" name="Footer Placeholder 4">
            <a:extLst>
              <a:ext uri="{FF2B5EF4-FFF2-40B4-BE49-F238E27FC236}">
                <a16:creationId xmlns:a16="http://schemas.microsoft.com/office/drawing/2014/main" id="{F905FAE7-70C3-4C14-9BC8-253EAC75C599}"/>
              </a:ext>
            </a:extLst>
          </p:cNvPr>
          <p:cNvSpPr>
            <a:spLocks noGrp="1"/>
          </p:cNvSpPr>
          <p:nvPr>
            <p:ph type="ftr" sz="quarter" idx="11"/>
          </p:nvPr>
        </p:nvSpPr>
        <p:spPr>
          <a:xfrm>
            <a:off x="4038600" y="6356350"/>
            <a:ext cx="4114800" cy="365125"/>
          </a:xfrm>
        </p:spPr>
        <p:txBody>
          <a:bodyPr/>
          <a:lstStyle/>
          <a:p>
            <a:r>
              <a:rPr lang="el-GR" dirty="0">
                <a:solidFill>
                  <a:schemeClr val="tx2">
                    <a:lumMod val="50000"/>
                  </a:schemeClr>
                </a:solidFill>
                <a:latin typeface="Tahoma" pitchFamily="34" charset="0"/>
                <a:ea typeface="Tahoma" pitchFamily="34" charset="0"/>
                <a:cs typeface="Tahoma" pitchFamily="34" charset="0"/>
              </a:rPr>
              <a:t>Παναγιώτης </a:t>
            </a:r>
            <a:r>
              <a:rPr lang="el-GR" dirty="0" err="1">
                <a:solidFill>
                  <a:schemeClr val="tx2">
                    <a:lumMod val="50000"/>
                  </a:schemeClr>
                </a:solidFill>
                <a:latin typeface="Tahoma" pitchFamily="34" charset="0"/>
                <a:ea typeface="Tahoma" pitchFamily="34" charset="0"/>
                <a:cs typeface="Tahoma" pitchFamily="34" charset="0"/>
              </a:rPr>
              <a:t>Πήλιουρας</a:t>
            </a:r>
            <a:r>
              <a:rPr lang="el-GR" dirty="0">
                <a:solidFill>
                  <a:schemeClr val="tx2">
                    <a:lumMod val="50000"/>
                  </a:schemeClr>
                </a:solidFill>
                <a:latin typeface="Tahoma" pitchFamily="34" charset="0"/>
                <a:ea typeface="Tahoma" pitchFamily="34" charset="0"/>
                <a:cs typeface="Tahoma" pitchFamily="34" charset="0"/>
              </a:rPr>
              <a:t> @ Θ.Ε. ΕΚΠ63 1</a:t>
            </a:r>
            <a:r>
              <a:rPr lang="el-GR" baseline="30000" dirty="0">
                <a:solidFill>
                  <a:schemeClr val="tx2">
                    <a:lumMod val="50000"/>
                  </a:schemeClr>
                </a:solidFill>
                <a:latin typeface="Tahoma" pitchFamily="34" charset="0"/>
                <a:ea typeface="Tahoma" pitchFamily="34" charset="0"/>
                <a:cs typeface="Tahoma" pitchFamily="34" charset="0"/>
              </a:rPr>
              <a:t>Η</a:t>
            </a:r>
            <a:r>
              <a:rPr lang="el-GR" dirty="0">
                <a:solidFill>
                  <a:schemeClr val="tx2">
                    <a:lumMod val="50000"/>
                  </a:schemeClr>
                </a:solidFill>
                <a:latin typeface="Tahoma" pitchFamily="34" charset="0"/>
                <a:ea typeface="Tahoma" pitchFamily="34" charset="0"/>
                <a:cs typeface="Tahoma" pitchFamily="34" charset="0"/>
              </a:rPr>
              <a:t> ΟΣΣ 2020-21</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C9B76661-F3FF-4ABB-9D49-4E1F3B172B72}"/>
              </a:ext>
            </a:extLst>
          </p:cNvPr>
          <p:cNvSpPr>
            <a:spLocks noGrp="1" noChangeArrowheads="1"/>
          </p:cNvSpPr>
          <p:nvPr>
            <p:ph type="title"/>
          </p:nvPr>
        </p:nvSpPr>
        <p:spPr/>
        <p:txBody>
          <a:bodyPr/>
          <a:lstStyle/>
          <a:p>
            <a:r>
              <a:rPr lang="el-GR" altLang="en-US" b="1" dirty="0">
                <a:solidFill>
                  <a:srgbClr val="000066"/>
                </a:solidFill>
                <a:cs typeface="Times New Roman" panose="02020603050405020304" pitchFamily="18" charset="0"/>
              </a:rPr>
              <a:t>Οι </a:t>
            </a:r>
            <a:r>
              <a:rPr lang="el-GR" altLang="en-US" sz="3600" b="1" dirty="0">
                <a:solidFill>
                  <a:srgbClr val="000066"/>
                </a:solidFill>
                <a:cs typeface="Times New Roman" panose="02020603050405020304" pitchFamily="18" charset="0"/>
              </a:rPr>
              <a:t>αντιλήψεις</a:t>
            </a:r>
            <a:r>
              <a:rPr lang="el-GR" altLang="en-US" b="1" dirty="0">
                <a:solidFill>
                  <a:srgbClr val="000066"/>
                </a:solidFill>
                <a:cs typeface="Times New Roman" panose="02020603050405020304" pitchFamily="18" charset="0"/>
              </a:rPr>
              <a:t> των μαθητών</a:t>
            </a:r>
            <a:br>
              <a:rPr lang="el-GR" altLang="en-US" b="1" dirty="0">
                <a:solidFill>
                  <a:srgbClr val="000066"/>
                </a:solidFill>
              </a:rPr>
            </a:br>
            <a:r>
              <a:rPr lang="el-GR" altLang="en-US" b="1" dirty="0">
                <a:solidFill>
                  <a:srgbClr val="000066"/>
                </a:solidFill>
                <a:cs typeface="Times New Roman" panose="02020603050405020304" pitchFamily="18" charset="0"/>
              </a:rPr>
              <a:t> στις Φυσικές Επιστήμες</a:t>
            </a:r>
          </a:p>
        </p:txBody>
      </p:sp>
      <p:sp>
        <p:nvSpPr>
          <p:cNvPr id="12291" name="Rectangle 3">
            <a:extLst>
              <a:ext uri="{FF2B5EF4-FFF2-40B4-BE49-F238E27FC236}">
                <a16:creationId xmlns:a16="http://schemas.microsoft.com/office/drawing/2014/main" id="{0A9ECAFE-E788-486B-ADA8-F35CF99FAE6D}"/>
              </a:ext>
            </a:extLst>
          </p:cNvPr>
          <p:cNvSpPr>
            <a:spLocks noGrp="1" noChangeArrowheads="1"/>
          </p:cNvSpPr>
          <p:nvPr>
            <p:ph type="body" idx="1"/>
          </p:nvPr>
        </p:nvSpPr>
        <p:spPr>
          <a:xfrm>
            <a:off x="1702340" y="2387346"/>
            <a:ext cx="8482519" cy="2083307"/>
          </a:xfrm>
          <a:ln w="50800">
            <a:solidFill>
              <a:srgbClr val="CE1E82"/>
            </a:solidFill>
          </a:ln>
        </p:spPr>
        <p:txBody>
          <a:bodyPr/>
          <a:lstStyle/>
          <a:p>
            <a:pPr marL="0" indent="0">
              <a:buNone/>
            </a:pPr>
            <a:r>
              <a:rPr lang="el-GR" altLang="en-US" dirty="0">
                <a:cs typeface="Times New Roman" panose="02020603050405020304" pitchFamily="18" charset="0"/>
              </a:rPr>
              <a:t>Είναι κατά κανόνα λανθασμένες από επιστημονική άποψη και λειτουργούν όχι μόνο ως προσωπικές θεωρίες για την κατανόηση της πραγματικότητας, αλλά και ως φίλτρο ή και ως εμπόδιο για την απόκτηση των νέων γνώσεων που καλείται να μάθει ο/η μαθητής/</a:t>
            </a:r>
            <a:r>
              <a:rPr lang="el-GR" altLang="en-US" dirty="0" err="1">
                <a:cs typeface="Times New Roman" panose="02020603050405020304" pitchFamily="18" charset="0"/>
              </a:rPr>
              <a:t>ρια</a:t>
            </a:r>
            <a:r>
              <a:rPr lang="el-GR" altLang="en-US" dirty="0"/>
              <a:t> </a:t>
            </a:r>
          </a:p>
        </p:txBody>
      </p:sp>
      <p:sp>
        <p:nvSpPr>
          <p:cNvPr id="4" name="Footer Placeholder 4">
            <a:extLst>
              <a:ext uri="{FF2B5EF4-FFF2-40B4-BE49-F238E27FC236}">
                <a16:creationId xmlns:a16="http://schemas.microsoft.com/office/drawing/2014/main" id="{E18544EC-B8E7-4056-9398-03B583106C5A}"/>
              </a:ext>
            </a:extLst>
          </p:cNvPr>
          <p:cNvSpPr>
            <a:spLocks noGrp="1"/>
          </p:cNvSpPr>
          <p:nvPr>
            <p:ph type="ftr" sz="quarter" idx="11"/>
          </p:nvPr>
        </p:nvSpPr>
        <p:spPr>
          <a:xfrm>
            <a:off x="4038600" y="6356350"/>
            <a:ext cx="4114800" cy="365125"/>
          </a:xfrm>
        </p:spPr>
        <p:txBody>
          <a:bodyPr/>
          <a:lstStyle/>
          <a:p>
            <a:r>
              <a:rPr lang="el-GR" dirty="0">
                <a:solidFill>
                  <a:schemeClr val="tx2">
                    <a:lumMod val="50000"/>
                  </a:schemeClr>
                </a:solidFill>
                <a:latin typeface="Tahoma" pitchFamily="34" charset="0"/>
                <a:ea typeface="Tahoma" pitchFamily="34" charset="0"/>
                <a:cs typeface="Tahoma" pitchFamily="34" charset="0"/>
              </a:rPr>
              <a:t>Παναγιώτης </a:t>
            </a:r>
            <a:r>
              <a:rPr lang="el-GR" dirty="0" err="1">
                <a:solidFill>
                  <a:schemeClr val="tx2">
                    <a:lumMod val="50000"/>
                  </a:schemeClr>
                </a:solidFill>
                <a:latin typeface="Tahoma" pitchFamily="34" charset="0"/>
                <a:ea typeface="Tahoma" pitchFamily="34" charset="0"/>
                <a:cs typeface="Tahoma" pitchFamily="34" charset="0"/>
              </a:rPr>
              <a:t>Πήλιουρας</a:t>
            </a:r>
            <a:r>
              <a:rPr lang="el-GR" dirty="0">
                <a:solidFill>
                  <a:schemeClr val="tx2">
                    <a:lumMod val="50000"/>
                  </a:schemeClr>
                </a:solidFill>
                <a:latin typeface="Tahoma" pitchFamily="34" charset="0"/>
                <a:ea typeface="Tahoma" pitchFamily="34" charset="0"/>
                <a:cs typeface="Tahoma" pitchFamily="34" charset="0"/>
              </a:rPr>
              <a:t> @ Θ.Ε. ΕΚΠ63 1</a:t>
            </a:r>
            <a:r>
              <a:rPr lang="el-GR" baseline="30000" dirty="0">
                <a:solidFill>
                  <a:schemeClr val="tx2">
                    <a:lumMod val="50000"/>
                  </a:schemeClr>
                </a:solidFill>
                <a:latin typeface="Tahoma" pitchFamily="34" charset="0"/>
                <a:ea typeface="Tahoma" pitchFamily="34" charset="0"/>
                <a:cs typeface="Tahoma" pitchFamily="34" charset="0"/>
              </a:rPr>
              <a:t>Η</a:t>
            </a:r>
            <a:r>
              <a:rPr lang="el-GR" dirty="0">
                <a:solidFill>
                  <a:schemeClr val="tx2">
                    <a:lumMod val="50000"/>
                  </a:schemeClr>
                </a:solidFill>
                <a:latin typeface="Tahoma" pitchFamily="34" charset="0"/>
                <a:ea typeface="Tahoma" pitchFamily="34" charset="0"/>
                <a:cs typeface="Tahoma" pitchFamily="34" charset="0"/>
              </a:rPr>
              <a:t> ΟΣΣ 2020-21</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6FC35F83-D700-4DA8-81B7-5B18489ECB78}"/>
              </a:ext>
            </a:extLst>
          </p:cNvPr>
          <p:cNvSpPr>
            <a:spLocks noGrp="1" noChangeArrowheads="1"/>
          </p:cNvSpPr>
          <p:nvPr>
            <p:ph type="ctrTitle"/>
          </p:nvPr>
        </p:nvSpPr>
        <p:spPr>
          <a:xfrm>
            <a:off x="2286000" y="674452"/>
            <a:ext cx="7620000" cy="533400"/>
          </a:xfrm>
        </p:spPr>
        <p:txBody>
          <a:bodyPr anchor="ctr">
            <a:noAutofit/>
          </a:bodyPr>
          <a:lstStyle/>
          <a:p>
            <a:r>
              <a:rPr lang="el-GR" altLang="en-US" sz="3200" b="1" dirty="0">
                <a:solidFill>
                  <a:srgbClr val="000066"/>
                </a:solidFill>
                <a:cs typeface="Times New Roman" panose="02020603050405020304" pitchFamily="18" charset="0"/>
              </a:rPr>
              <a:t>Οι αντιλήψεις των μαθητών</a:t>
            </a:r>
            <a:br>
              <a:rPr lang="el-GR" altLang="en-US" sz="3200" b="1" dirty="0">
                <a:solidFill>
                  <a:srgbClr val="000066"/>
                </a:solidFill>
              </a:rPr>
            </a:br>
            <a:r>
              <a:rPr lang="el-GR" altLang="en-US" sz="3200" b="1" dirty="0">
                <a:solidFill>
                  <a:srgbClr val="000066"/>
                </a:solidFill>
                <a:cs typeface="Times New Roman" panose="02020603050405020304" pitchFamily="18" charset="0"/>
              </a:rPr>
              <a:t> στις Φυσικές Επιστήμες</a:t>
            </a:r>
            <a:br>
              <a:rPr lang="el-GR" altLang="en-US" sz="3200" dirty="0">
                <a:cs typeface="Times New Roman" panose="02020603050405020304" pitchFamily="18" charset="0"/>
              </a:rPr>
            </a:br>
            <a:endParaRPr lang="el-GR" altLang="en-US" sz="3200" dirty="0">
              <a:cs typeface="Times New Roman" panose="02020603050405020304" pitchFamily="18" charset="0"/>
            </a:endParaRPr>
          </a:p>
        </p:txBody>
      </p:sp>
      <p:sp>
        <p:nvSpPr>
          <p:cNvPr id="8195" name="Rectangle 3">
            <a:extLst>
              <a:ext uri="{FF2B5EF4-FFF2-40B4-BE49-F238E27FC236}">
                <a16:creationId xmlns:a16="http://schemas.microsoft.com/office/drawing/2014/main" id="{7E3755BB-0E77-48E5-93B9-8FD389C2F9FF}"/>
              </a:ext>
            </a:extLst>
          </p:cNvPr>
          <p:cNvSpPr>
            <a:spLocks noGrp="1" noChangeArrowheads="1"/>
          </p:cNvSpPr>
          <p:nvPr>
            <p:ph type="subTitle" idx="1"/>
          </p:nvPr>
        </p:nvSpPr>
        <p:spPr>
          <a:xfrm>
            <a:off x="1598578" y="1759088"/>
            <a:ext cx="8763000" cy="4038600"/>
          </a:xfrm>
          <a:ln w="50800">
            <a:solidFill>
              <a:srgbClr val="CE1E82"/>
            </a:solidFill>
          </a:ln>
        </p:spPr>
        <p:txBody>
          <a:bodyPr>
            <a:normAutofit lnSpcReduction="10000"/>
          </a:bodyPr>
          <a:lstStyle/>
          <a:p>
            <a:pPr algn="just">
              <a:buFontTx/>
              <a:buChar char="•"/>
            </a:pPr>
            <a:r>
              <a:rPr lang="el-GR" altLang="en-US" sz="2800" dirty="0">
                <a:cs typeface="Times New Roman" panose="02020603050405020304" pitchFamily="18" charset="0"/>
              </a:rPr>
              <a:t>Οι </a:t>
            </a:r>
            <a:r>
              <a:rPr lang="el-GR" altLang="en-US" sz="2800" dirty="0">
                <a:solidFill>
                  <a:srgbClr val="000066"/>
                </a:solidFill>
                <a:cs typeface="Times New Roman" panose="02020603050405020304" pitchFamily="18" charset="0"/>
              </a:rPr>
              <a:t>αντιλήψεις</a:t>
            </a:r>
            <a:r>
              <a:rPr lang="el-GR" altLang="en-US" sz="2800" dirty="0">
                <a:cs typeface="Times New Roman" panose="02020603050405020304" pitchFamily="18" charset="0"/>
              </a:rPr>
              <a:t> των παιδιών δεν είναι απλές παρανοήσεις που οφείλονται σε κακή πληροφόρηση, αλλά δημιουργούνται από τους μηχανισμούς που αυτά διαθέτουν και με τους οποίους αντιλαμβάνονται ό,τι συμβαίνει γύρω τους. </a:t>
            </a:r>
            <a:endParaRPr lang="el-GR" altLang="en-US" sz="2800" dirty="0"/>
          </a:p>
          <a:p>
            <a:pPr algn="just">
              <a:buFontTx/>
              <a:buChar char="•"/>
            </a:pPr>
            <a:endParaRPr lang="el-GR" altLang="en-US" sz="2800" dirty="0"/>
          </a:p>
          <a:p>
            <a:pPr algn="just">
              <a:buFontTx/>
              <a:buChar char="•"/>
            </a:pPr>
            <a:r>
              <a:rPr lang="el-GR" altLang="en-US" sz="2800" dirty="0">
                <a:cs typeface="Times New Roman" panose="02020603050405020304" pitchFamily="18" charset="0"/>
              </a:rPr>
              <a:t>Αλλά και ο τρόπος που οι μαθητές παρατηρούν και καταλήγουν σε συμπεράσματα επηρεά</a:t>
            </a:r>
            <a:r>
              <a:rPr lang="el-GR" altLang="en-US" sz="2800" dirty="0"/>
              <a:t>ζ</a:t>
            </a:r>
            <a:r>
              <a:rPr lang="el-GR" altLang="en-US" sz="2800" dirty="0">
                <a:cs typeface="Times New Roman" panose="02020603050405020304" pitchFamily="18" charset="0"/>
              </a:rPr>
              <a:t>εται από τα διαφορετικά ερμηνευτικά σχήματα που έχουν δημιουργήσει.</a:t>
            </a:r>
          </a:p>
          <a:p>
            <a:pPr algn="l"/>
            <a:endParaRPr lang="el-GR" altLang="en-US" sz="2800" dirty="0"/>
          </a:p>
        </p:txBody>
      </p:sp>
      <p:sp>
        <p:nvSpPr>
          <p:cNvPr id="4" name="Footer Placeholder 4">
            <a:extLst>
              <a:ext uri="{FF2B5EF4-FFF2-40B4-BE49-F238E27FC236}">
                <a16:creationId xmlns:a16="http://schemas.microsoft.com/office/drawing/2014/main" id="{E711096D-1DBF-4A17-9E75-FFC4CB425E52}"/>
              </a:ext>
            </a:extLst>
          </p:cNvPr>
          <p:cNvSpPr>
            <a:spLocks noGrp="1"/>
          </p:cNvSpPr>
          <p:nvPr>
            <p:ph type="ftr" sz="quarter" idx="11"/>
          </p:nvPr>
        </p:nvSpPr>
        <p:spPr>
          <a:xfrm>
            <a:off x="4038600" y="6356350"/>
            <a:ext cx="4114800" cy="365125"/>
          </a:xfrm>
        </p:spPr>
        <p:txBody>
          <a:bodyPr/>
          <a:lstStyle/>
          <a:p>
            <a:r>
              <a:rPr lang="el-GR" dirty="0">
                <a:solidFill>
                  <a:schemeClr val="tx2">
                    <a:lumMod val="50000"/>
                  </a:schemeClr>
                </a:solidFill>
                <a:latin typeface="Tahoma" pitchFamily="34" charset="0"/>
                <a:ea typeface="Tahoma" pitchFamily="34" charset="0"/>
                <a:cs typeface="Tahoma" pitchFamily="34" charset="0"/>
              </a:rPr>
              <a:t>Παναγιώτης </a:t>
            </a:r>
            <a:r>
              <a:rPr lang="el-GR" dirty="0" err="1">
                <a:solidFill>
                  <a:schemeClr val="tx2">
                    <a:lumMod val="50000"/>
                  </a:schemeClr>
                </a:solidFill>
                <a:latin typeface="Tahoma" pitchFamily="34" charset="0"/>
                <a:ea typeface="Tahoma" pitchFamily="34" charset="0"/>
                <a:cs typeface="Tahoma" pitchFamily="34" charset="0"/>
              </a:rPr>
              <a:t>Πήλιουρας</a:t>
            </a:r>
            <a:r>
              <a:rPr lang="el-GR" dirty="0">
                <a:solidFill>
                  <a:schemeClr val="tx2">
                    <a:lumMod val="50000"/>
                  </a:schemeClr>
                </a:solidFill>
                <a:latin typeface="Tahoma" pitchFamily="34" charset="0"/>
                <a:ea typeface="Tahoma" pitchFamily="34" charset="0"/>
                <a:cs typeface="Tahoma" pitchFamily="34" charset="0"/>
              </a:rPr>
              <a:t> @ Θ.Ε. ΕΚΠ63 1</a:t>
            </a:r>
            <a:r>
              <a:rPr lang="el-GR" baseline="30000" dirty="0">
                <a:solidFill>
                  <a:schemeClr val="tx2">
                    <a:lumMod val="50000"/>
                  </a:schemeClr>
                </a:solidFill>
                <a:latin typeface="Tahoma" pitchFamily="34" charset="0"/>
                <a:ea typeface="Tahoma" pitchFamily="34" charset="0"/>
                <a:cs typeface="Tahoma" pitchFamily="34" charset="0"/>
              </a:rPr>
              <a:t>Η</a:t>
            </a:r>
            <a:r>
              <a:rPr lang="el-GR" dirty="0">
                <a:solidFill>
                  <a:schemeClr val="tx2">
                    <a:lumMod val="50000"/>
                  </a:schemeClr>
                </a:solidFill>
                <a:latin typeface="Tahoma" pitchFamily="34" charset="0"/>
                <a:ea typeface="Tahoma" pitchFamily="34" charset="0"/>
                <a:cs typeface="Tahoma" pitchFamily="34" charset="0"/>
              </a:rPr>
              <a:t> ΟΣΣ 2020-21</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ext Box 2">
            <a:extLst>
              <a:ext uri="{FF2B5EF4-FFF2-40B4-BE49-F238E27FC236}">
                <a16:creationId xmlns:a16="http://schemas.microsoft.com/office/drawing/2014/main" id="{0EA4EEA7-1A90-4E2E-BA24-7CD1E0426521}"/>
              </a:ext>
            </a:extLst>
          </p:cNvPr>
          <p:cNvSpPr txBox="1">
            <a:spLocks noChangeArrowheads="1"/>
          </p:cNvSpPr>
          <p:nvPr/>
        </p:nvSpPr>
        <p:spPr bwMode="auto">
          <a:xfrm>
            <a:off x="1916349" y="1567370"/>
            <a:ext cx="8839200" cy="4708981"/>
          </a:xfrm>
          <a:prstGeom prst="rect">
            <a:avLst/>
          </a:prstGeom>
          <a:noFill/>
          <a:ln w="508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400">
                <a:solidFill>
                  <a:schemeClr val="tx1"/>
                </a:solidFill>
                <a:latin typeface="Times New Roman" panose="02020603050405020304" pitchFamily="18" charset="0"/>
              </a:defRPr>
            </a:lvl1pPr>
            <a:lvl2pPr marL="914400" indent="-457200">
              <a:defRPr sz="2400">
                <a:solidFill>
                  <a:schemeClr val="tx1"/>
                </a:solidFill>
                <a:latin typeface="Times New Roman" panose="02020603050405020304" pitchFamily="18" charset="0"/>
              </a:defRPr>
            </a:lvl2pPr>
            <a:lvl3pPr marL="1371600" indent="-457200">
              <a:defRPr sz="2400">
                <a:solidFill>
                  <a:schemeClr val="tx1"/>
                </a:solidFill>
                <a:latin typeface="Times New Roman" panose="02020603050405020304" pitchFamily="18" charset="0"/>
              </a:defRPr>
            </a:lvl3pPr>
            <a:lvl4pPr marL="1828800" indent="-457200">
              <a:defRPr sz="2400">
                <a:solidFill>
                  <a:schemeClr val="tx1"/>
                </a:solidFill>
                <a:latin typeface="Times New Roman" panose="02020603050405020304" pitchFamily="18" charset="0"/>
              </a:defRPr>
            </a:lvl4pPr>
            <a:lvl5pPr marL="2286000" indent="-457200">
              <a:defRPr sz="2400">
                <a:solidFill>
                  <a:schemeClr val="tx1"/>
                </a:solidFill>
                <a:latin typeface="Times New Roman" panose="02020603050405020304" pitchFamily="18" charset="0"/>
              </a:defRPr>
            </a:lvl5pPr>
            <a:lvl6pPr marL="2743200" indent="-457200" fontAlgn="base">
              <a:spcBef>
                <a:spcPct val="0"/>
              </a:spcBef>
              <a:spcAft>
                <a:spcPct val="0"/>
              </a:spcAft>
              <a:defRPr sz="2400">
                <a:solidFill>
                  <a:schemeClr val="tx1"/>
                </a:solidFill>
                <a:latin typeface="Times New Roman" panose="02020603050405020304" pitchFamily="18" charset="0"/>
              </a:defRPr>
            </a:lvl6pPr>
            <a:lvl7pPr marL="3200400" indent="-457200" fontAlgn="base">
              <a:spcBef>
                <a:spcPct val="0"/>
              </a:spcBef>
              <a:spcAft>
                <a:spcPct val="0"/>
              </a:spcAft>
              <a:defRPr sz="2400">
                <a:solidFill>
                  <a:schemeClr val="tx1"/>
                </a:solidFill>
                <a:latin typeface="Times New Roman" panose="02020603050405020304" pitchFamily="18" charset="0"/>
              </a:defRPr>
            </a:lvl7pPr>
            <a:lvl8pPr marL="3657600" indent="-457200" fontAlgn="base">
              <a:spcBef>
                <a:spcPct val="0"/>
              </a:spcBef>
              <a:spcAft>
                <a:spcPct val="0"/>
              </a:spcAft>
              <a:defRPr sz="2400">
                <a:solidFill>
                  <a:schemeClr val="tx1"/>
                </a:solidFill>
                <a:latin typeface="Times New Roman" panose="02020603050405020304" pitchFamily="18" charset="0"/>
              </a:defRPr>
            </a:lvl8pPr>
            <a:lvl9pPr marL="4114800" indent="-457200" fontAlgn="base">
              <a:spcBef>
                <a:spcPct val="0"/>
              </a:spcBef>
              <a:spcAft>
                <a:spcPct val="0"/>
              </a:spcAft>
              <a:defRPr sz="2400">
                <a:solidFill>
                  <a:schemeClr val="tx1"/>
                </a:solidFill>
                <a:latin typeface="Times New Roman" panose="02020603050405020304" pitchFamily="18" charset="0"/>
              </a:defRPr>
            </a:lvl9pPr>
          </a:lstStyle>
          <a:p>
            <a:pPr>
              <a:buFontTx/>
              <a:buAutoNum type="arabicPeriod"/>
            </a:pPr>
            <a:r>
              <a:rPr lang="el-GR" altLang="en-US" sz="2000" dirty="0">
                <a:cs typeface="Times New Roman" panose="02020603050405020304" pitchFamily="18" charset="0"/>
              </a:rPr>
              <a:t>Τα παιδιά πριν ακόμα φοιτήσουν στο σχολείο έχουν απόψεις </a:t>
            </a:r>
            <a:r>
              <a:rPr lang="el-GR" altLang="en-US" sz="2000" dirty="0"/>
              <a:t>για </a:t>
            </a:r>
            <a:r>
              <a:rPr lang="el-GR" altLang="en-US" sz="2000" dirty="0">
                <a:cs typeface="Times New Roman" panose="02020603050405020304" pitchFamily="18" charset="0"/>
              </a:rPr>
              <a:t>μια ποικιλία θεμάτων των Φ.Ε.</a:t>
            </a:r>
            <a:endParaRPr lang="el-GR" altLang="en-US" sz="2000" dirty="0"/>
          </a:p>
          <a:p>
            <a:endParaRPr lang="el-GR" altLang="en-US" sz="2000" dirty="0"/>
          </a:p>
          <a:p>
            <a:pPr>
              <a:buFontTx/>
              <a:buAutoNum type="arabicPeriod" startAt="2"/>
            </a:pPr>
            <a:r>
              <a:rPr lang="el-GR" altLang="en-US" sz="2000" dirty="0">
                <a:cs typeface="Times New Roman" panose="02020603050405020304" pitchFamily="18" charset="0"/>
              </a:rPr>
              <a:t>Οι αν</a:t>
            </a:r>
            <a:r>
              <a:rPr lang="el-GR" altLang="en-US" sz="2000" dirty="0"/>
              <a:t>τι</a:t>
            </a:r>
            <a:r>
              <a:rPr lang="el-GR" altLang="en-US" sz="2000" dirty="0">
                <a:cs typeface="Times New Roman" panose="02020603050405020304" pitchFamily="18" charset="0"/>
              </a:rPr>
              <a:t>λήψεις τους είναι δυνατό να επηρεαστούν από τη διδασκαλία με τρόπους που δε γνωρί</a:t>
            </a:r>
            <a:r>
              <a:rPr lang="el-GR" altLang="en-US" sz="2000" dirty="0"/>
              <a:t>ζ</a:t>
            </a:r>
            <a:r>
              <a:rPr lang="el-GR" altLang="en-US" sz="2000" dirty="0">
                <a:cs typeface="Times New Roman" panose="02020603050405020304" pitchFamily="18" charset="0"/>
              </a:rPr>
              <a:t>ουμε ή </a:t>
            </a:r>
            <a:r>
              <a:rPr lang="el-GR" altLang="en-US" sz="2000" dirty="0"/>
              <a:t>να </a:t>
            </a:r>
            <a:r>
              <a:rPr lang="el-GR" altLang="en-US" sz="2000" dirty="0">
                <a:cs typeface="Times New Roman" panose="02020603050405020304" pitchFamily="18" charset="0"/>
              </a:rPr>
              <a:t>παραμείνουν ανεπηρέαστες από αυτή.</a:t>
            </a:r>
            <a:endParaRPr lang="el-GR" altLang="en-US" sz="2000" dirty="0"/>
          </a:p>
          <a:p>
            <a:pPr>
              <a:buFontTx/>
              <a:buAutoNum type="arabicPeriod" startAt="2"/>
            </a:pPr>
            <a:endParaRPr lang="el-GR" altLang="en-US" sz="2000" dirty="0"/>
          </a:p>
          <a:p>
            <a:pPr>
              <a:buFontTx/>
              <a:buAutoNum type="arabicPeriod" startAt="3"/>
            </a:pPr>
            <a:r>
              <a:rPr lang="el-GR" altLang="en-US" sz="2000" dirty="0">
                <a:cs typeface="Times New Roman" panose="02020603050405020304" pitchFamily="18" charset="0"/>
              </a:rPr>
              <a:t>Οι διαισθητικές ιδέες τους ασκούν ισχυρή επιρροή στη μεταγενέστερη μάθηση.</a:t>
            </a:r>
            <a:endParaRPr lang="el-GR" altLang="en-US" sz="2000" dirty="0"/>
          </a:p>
          <a:p>
            <a:pPr>
              <a:buFontTx/>
              <a:buAutoNum type="arabicPeriod" startAt="3"/>
            </a:pPr>
            <a:endParaRPr lang="el-GR" altLang="en-US" sz="2000" dirty="0"/>
          </a:p>
          <a:p>
            <a:pPr>
              <a:buAutoNum type="arabicPeriod" startAt="4"/>
            </a:pPr>
            <a:r>
              <a:rPr lang="el-GR" altLang="en-US" sz="2000" dirty="0">
                <a:cs typeface="Times New Roman" panose="02020603050405020304" pitchFamily="18" charset="0"/>
              </a:rPr>
              <a:t>Οι αντιλήψεις των παιδιών είναι συχνά διαφορετικές από το επιστημονικό πρότυπο, όπως αυτό παρουσιά</a:t>
            </a:r>
            <a:r>
              <a:rPr lang="el-GR" altLang="en-US" sz="2000" dirty="0"/>
              <a:t>ζ</a:t>
            </a:r>
            <a:r>
              <a:rPr lang="el-GR" altLang="en-US" sz="2000" dirty="0">
                <a:cs typeface="Times New Roman" panose="02020603050405020304" pitchFamily="18" charset="0"/>
              </a:rPr>
              <a:t>εται στα σχολικά εγχειρίδια. Ωστόσο οι αντιλήψεις αυτές είναι χρήσιμες και λογικές επειδή αποτελούν το σκελετό της ερμηνείας των σχετικών φαινομένων.</a:t>
            </a:r>
          </a:p>
          <a:p>
            <a:pPr>
              <a:buAutoNum type="arabicPeriod" startAt="4"/>
            </a:pPr>
            <a:endParaRPr lang="el-GR" altLang="en-US" sz="2000" dirty="0">
              <a:cs typeface="Times New Roman" panose="02020603050405020304" pitchFamily="18" charset="0"/>
            </a:endParaRPr>
          </a:p>
          <a:p>
            <a:pPr marL="0" indent="0" algn="r"/>
            <a:r>
              <a:rPr lang="el-GR" altLang="en-US" sz="2000" dirty="0">
                <a:cs typeface="Times New Roman" panose="02020603050405020304" pitchFamily="18" charset="0"/>
              </a:rPr>
              <a:t>(</a:t>
            </a:r>
            <a:r>
              <a:rPr lang="el-GR" altLang="en-US" sz="2000" dirty="0" err="1">
                <a:cs typeface="Times New Roman" panose="02020603050405020304" pitchFamily="18" charset="0"/>
              </a:rPr>
              <a:t>Κόκκοτας</a:t>
            </a:r>
            <a:r>
              <a:rPr lang="el-GR" altLang="en-US" sz="2000" dirty="0">
                <a:cs typeface="Times New Roman" panose="02020603050405020304" pitchFamily="18" charset="0"/>
              </a:rPr>
              <a:t>, 2008)</a:t>
            </a:r>
          </a:p>
          <a:p>
            <a:endParaRPr lang="el-GR" altLang="en-US" sz="2000" dirty="0"/>
          </a:p>
        </p:txBody>
      </p:sp>
      <p:sp>
        <p:nvSpPr>
          <p:cNvPr id="2051" name="Text Box 3">
            <a:extLst>
              <a:ext uri="{FF2B5EF4-FFF2-40B4-BE49-F238E27FC236}">
                <a16:creationId xmlns:a16="http://schemas.microsoft.com/office/drawing/2014/main" id="{A2284780-B0C1-44E9-A521-D62A03E4063A}"/>
              </a:ext>
            </a:extLst>
          </p:cNvPr>
          <p:cNvSpPr txBox="1">
            <a:spLocks noChangeArrowheads="1"/>
          </p:cNvSpPr>
          <p:nvPr/>
        </p:nvSpPr>
        <p:spPr bwMode="auto">
          <a:xfrm>
            <a:off x="4811674" y="631385"/>
            <a:ext cx="418345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l-GR" altLang="en-US" sz="2800" dirty="0">
                <a:solidFill>
                  <a:srgbClr val="002060"/>
                </a:solidFill>
              </a:rPr>
              <a:t>Έρευνες για τις αντιλήψεις</a:t>
            </a:r>
          </a:p>
        </p:txBody>
      </p:sp>
      <p:sp>
        <p:nvSpPr>
          <p:cNvPr id="4" name="Footer Placeholder 4">
            <a:extLst>
              <a:ext uri="{FF2B5EF4-FFF2-40B4-BE49-F238E27FC236}">
                <a16:creationId xmlns:a16="http://schemas.microsoft.com/office/drawing/2014/main" id="{D90270EE-7634-4297-BC2F-921905A89155}"/>
              </a:ext>
            </a:extLst>
          </p:cNvPr>
          <p:cNvSpPr>
            <a:spLocks noGrp="1"/>
          </p:cNvSpPr>
          <p:nvPr>
            <p:ph type="ftr" sz="quarter" idx="11"/>
          </p:nvPr>
        </p:nvSpPr>
        <p:spPr>
          <a:xfrm>
            <a:off x="4038600" y="6356350"/>
            <a:ext cx="4114800" cy="365125"/>
          </a:xfrm>
        </p:spPr>
        <p:txBody>
          <a:bodyPr/>
          <a:lstStyle/>
          <a:p>
            <a:r>
              <a:rPr lang="el-GR" dirty="0">
                <a:solidFill>
                  <a:schemeClr val="tx2">
                    <a:lumMod val="50000"/>
                  </a:schemeClr>
                </a:solidFill>
                <a:latin typeface="Tahoma" pitchFamily="34" charset="0"/>
                <a:ea typeface="Tahoma" pitchFamily="34" charset="0"/>
                <a:cs typeface="Tahoma" pitchFamily="34" charset="0"/>
              </a:rPr>
              <a:t>Παναγιώτης </a:t>
            </a:r>
            <a:r>
              <a:rPr lang="el-GR" dirty="0" err="1">
                <a:solidFill>
                  <a:schemeClr val="tx2">
                    <a:lumMod val="50000"/>
                  </a:schemeClr>
                </a:solidFill>
                <a:latin typeface="Tahoma" pitchFamily="34" charset="0"/>
                <a:ea typeface="Tahoma" pitchFamily="34" charset="0"/>
                <a:cs typeface="Tahoma" pitchFamily="34" charset="0"/>
              </a:rPr>
              <a:t>Πήλιουρας</a:t>
            </a:r>
            <a:r>
              <a:rPr lang="el-GR" dirty="0">
                <a:solidFill>
                  <a:schemeClr val="tx2">
                    <a:lumMod val="50000"/>
                  </a:schemeClr>
                </a:solidFill>
                <a:latin typeface="Tahoma" pitchFamily="34" charset="0"/>
                <a:ea typeface="Tahoma" pitchFamily="34" charset="0"/>
                <a:cs typeface="Tahoma" pitchFamily="34" charset="0"/>
              </a:rPr>
              <a:t> @ Θ.Ε. ΕΚΠ63 1</a:t>
            </a:r>
            <a:r>
              <a:rPr lang="el-GR" baseline="30000" dirty="0">
                <a:solidFill>
                  <a:schemeClr val="tx2">
                    <a:lumMod val="50000"/>
                  </a:schemeClr>
                </a:solidFill>
                <a:latin typeface="Tahoma" pitchFamily="34" charset="0"/>
                <a:ea typeface="Tahoma" pitchFamily="34" charset="0"/>
                <a:cs typeface="Tahoma" pitchFamily="34" charset="0"/>
              </a:rPr>
              <a:t>Η</a:t>
            </a:r>
            <a:r>
              <a:rPr lang="el-GR" dirty="0">
                <a:solidFill>
                  <a:schemeClr val="tx2">
                    <a:lumMod val="50000"/>
                  </a:schemeClr>
                </a:solidFill>
                <a:latin typeface="Tahoma" pitchFamily="34" charset="0"/>
                <a:ea typeface="Tahoma" pitchFamily="34" charset="0"/>
                <a:cs typeface="Tahoma" pitchFamily="34" charset="0"/>
              </a:rPr>
              <a:t> ΟΣΣ 2020-21</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77CFE47E-75FB-4D44-8A52-9AD2D32CEB42}"/>
              </a:ext>
            </a:extLst>
          </p:cNvPr>
          <p:cNvSpPr>
            <a:spLocks noGrp="1" noChangeArrowheads="1"/>
          </p:cNvSpPr>
          <p:nvPr>
            <p:ph type="title"/>
          </p:nvPr>
        </p:nvSpPr>
        <p:spPr>
          <a:xfrm>
            <a:off x="3469689" y="486682"/>
            <a:ext cx="7772400" cy="533400"/>
          </a:xfrm>
        </p:spPr>
        <p:txBody>
          <a:bodyPr>
            <a:noAutofit/>
          </a:bodyPr>
          <a:lstStyle/>
          <a:p>
            <a:pPr algn="ctr"/>
            <a:r>
              <a:rPr lang="el-GR" altLang="en-US" sz="3200" b="1" dirty="0">
                <a:solidFill>
                  <a:srgbClr val="002060"/>
                </a:solidFill>
              </a:rPr>
              <a:t>Έρευνες για τις αντιλήψεις</a:t>
            </a:r>
          </a:p>
        </p:txBody>
      </p:sp>
      <p:sp>
        <p:nvSpPr>
          <p:cNvPr id="9219" name="Rectangle 3">
            <a:extLst>
              <a:ext uri="{FF2B5EF4-FFF2-40B4-BE49-F238E27FC236}">
                <a16:creationId xmlns:a16="http://schemas.microsoft.com/office/drawing/2014/main" id="{D39631C1-5556-4697-9152-9DE7ECDE526D}"/>
              </a:ext>
            </a:extLst>
          </p:cNvPr>
          <p:cNvSpPr>
            <a:spLocks noGrp="1" noChangeArrowheads="1"/>
          </p:cNvSpPr>
          <p:nvPr>
            <p:ph type="body" idx="1"/>
          </p:nvPr>
        </p:nvSpPr>
        <p:spPr>
          <a:xfrm>
            <a:off x="1524000" y="1833663"/>
            <a:ext cx="9144000" cy="4392039"/>
          </a:xfrm>
          <a:ln w="50800">
            <a:solidFill>
              <a:schemeClr val="tx1"/>
            </a:solidFill>
          </a:ln>
        </p:spPr>
        <p:txBody>
          <a:bodyPr>
            <a:normAutofit lnSpcReduction="10000"/>
          </a:bodyPr>
          <a:lstStyle/>
          <a:p>
            <a:r>
              <a:rPr lang="el-GR" altLang="en-US" dirty="0">
                <a:cs typeface="Times New Roman" panose="02020603050405020304" pitchFamily="18" charset="0"/>
              </a:rPr>
              <a:t>Οι </a:t>
            </a:r>
            <a:r>
              <a:rPr lang="el-GR" altLang="en-US" sz="2800" dirty="0">
                <a:solidFill>
                  <a:srgbClr val="000066"/>
                </a:solidFill>
                <a:cs typeface="Times New Roman" panose="02020603050405020304" pitchFamily="18" charset="0"/>
              </a:rPr>
              <a:t>αντιλήψεις</a:t>
            </a:r>
            <a:r>
              <a:rPr lang="el-GR" altLang="en-US" dirty="0">
                <a:cs typeface="Times New Roman" panose="02020603050405020304" pitchFamily="18" charset="0"/>
              </a:rPr>
              <a:t> είναι βαθιά ριζωμένες, τις περισσότερες φορές διαφέρουν σημαντικά από την επιστημονική άποψη και συνήθως μένουν ανεπηρέαστες από τη διδασκαλία ή επηρεάζονται κατά τρόπο απρόσμενο (</a:t>
            </a:r>
            <a:r>
              <a:rPr lang="el-GR" altLang="en-US" dirty="0" err="1">
                <a:cs typeface="Times New Roman" panose="02020603050405020304" pitchFamily="18" charset="0"/>
              </a:rPr>
              <a:t>Osborne</a:t>
            </a:r>
            <a:r>
              <a:rPr lang="el-GR" altLang="en-US" dirty="0">
                <a:cs typeface="Times New Roman" panose="02020603050405020304" pitchFamily="18" charset="0"/>
              </a:rPr>
              <a:t> &amp; </a:t>
            </a:r>
            <a:r>
              <a:rPr lang="el-GR" altLang="en-US" dirty="0" err="1">
                <a:cs typeface="Times New Roman" panose="02020603050405020304" pitchFamily="18" charset="0"/>
              </a:rPr>
              <a:t>Freyberg</a:t>
            </a:r>
            <a:r>
              <a:rPr lang="el-GR" altLang="en-US" dirty="0">
                <a:cs typeface="Times New Roman" panose="02020603050405020304" pitchFamily="18" charset="0"/>
              </a:rPr>
              <a:t> 1985</a:t>
            </a:r>
            <a:r>
              <a:rPr lang="el-GR" altLang="en-US" dirty="0"/>
              <a:t>)</a:t>
            </a:r>
          </a:p>
          <a:p>
            <a:endParaRPr lang="el-GR" altLang="en-US" dirty="0"/>
          </a:p>
          <a:p>
            <a:r>
              <a:rPr lang="el-GR" altLang="en-US" dirty="0">
                <a:cs typeface="Times New Roman" panose="02020603050405020304" pitchFamily="18" charset="0"/>
              </a:rPr>
              <a:t>Δεν είναι απομονωμένα σχήματα, αλλά μάλλον συνεπείς και ελκυστικές εννοιολογικές δομές που παρέχουν μια κατανόηση του κόσμου από τη σκοπιά των παιδιών και </a:t>
            </a:r>
            <a:r>
              <a:rPr lang="el-GR" altLang="en-US" dirty="0" err="1">
                <a:cs typeface="Times New Roman" panose="02020603050405020304" pitchFamily="18" charset="0"/>
              </a:rPr>
              <a:t>ονόμασ</a:t>
            </a:r>
            <a:r>
              <a:rPr lang="el-GR" altLang="en-US" dirty="0" err="1"/>
              <a:t>τηκαν</a:t>
            </a:r>
            <a:r>
              <a:rPr lang="el-GR" altLang="en-US" dirty="0">
                <a:cs typeface="Times New Roman" panose="02020603050405020304" pitchFamily="18" charset="0"/>
              </a:rPr>
              <a:t> μάλιστα και "επιστήμη των παιδιών</a:t>
            </a:r>
            <a:r>
              <a:rPr lang="el-GR" altLang="en-US" dirty="0"/>
              <a:t>» (</a:t>
            </a:r>
            <a:r>
              <a:rPr lang="el-GR" altLang="en-US" dirty="0" err="1">
                <a:cs typeface="Times New Roman" panose="02020603050405020304" pitchFamily="18" charset="0"/>
              </a:rPr>
              <a:t>Gildert</a:t>
            </a:r>
            <a:r>
              <a:rPr lang="el-GR" altLang="en-US" dirty="0">
                <a:cs typeface="Times New Roman" panose="02020603050405020304" pitchFamily="18" charset="0"/>
              </a:rPr>
              <a:t>, </a:t>
            </a:r>
            <a:r>
              <a:rPr lang="el-GR" altLang="en-US" dirty="0" err="1">
                <a:cs typeface="Times New Roman" panose="02020603050405020304" pitchFamily="18" charset="0"/>
              </a:rPr>
              <a:t>Osborne</a:t>
            </a:r>
            <a:r>
              <a:rPr lang="el-GR" altLang="en-US" dirty="0">
                <a:cs typeface="Times New Roman" panose="02020603050405020304" pitchFamily="18" charset="0"/>
              </a:rPr>
              <a:t> και </a:t>
            </a:r>
            <a:r>
              <a:rPr lang="el-GR" altLang="en-US" dirty="0" err="1">
                <a:cs typeface="Times New Roman" panose="02020603050405020304" pitchFamily="18" charset="0"/>
              </a:rPr>
              <a:t>Fensham</a:t>
            </a:r>
            <a:r>
              <a:rPr lang="el-GR" altLang="en-US" dirty="0">
                <a:cs typeface="Times New Roman" panose="02020603050405020304" pitchFamily="18" charset="0"/>
              </a:rPr>
              <a:t> 1982)</a:t>
            </a:r>
          </a:p>
        </p:txBody>
      </p:sp>
      <p:sp>
        <p:nvSpPr>
          <p:cNvPr id="4" name="Footer Placeholder 4">
            <a:extLst>
              <a:ext uri="{FF2B5EF4-FFF2-40B4-BE49-F238E27FC236}">
                <a16:creationId xmlns:a16="http://schemas.microsoft.com/office/drawing/2014/main" id="{CD2F9C10-94D7-4CA3-AE97-4B55CA562279}"/>
              </a:ext>
            </a:extLst>
          </p:cNvPr>
          <p:cNvSpPr>
            <a:spLocks noGrp="1"/>
          </p:cNvSpPr>
          <p:nvPr>
            <p:ph type="ftr" sz="quarter" idx="11"/>
          </p:nvPr>
        </p:nvSpPr>
        <p:spPr>
          <a:xfrm>
            <a:off x="4038600" y="6356350"/>
            <a:ext cx="4114800" cy="365125"/>
          </a:xfrm>
        </p:spPr>
        <p:txBody>
          <a:bodyPr/>
          <a:lstStyle/>
          <a:p>
            <a:r>
              <a:rPr lang="el-GR" dirty="0">
                <a:solidFill>
                  <a:schemeClr val="tx2">
                    <a:lumMod val="50000"/>
                  </a:schemeClr>
                </a:solidFill>
                <a:latin typeface="Tahoma" pitchFamily="34" charset="0"/>
                <a:ea typeface="Tahoma" pitchFamily="34" charset="0"/>
                <a:cs typeface="Tahoma" pitchFamily="34" charset="0"/>
              </a:rPr>
              <a:t>Παναγιώτης </a:t>
            </a:r>
            <a:r>
              <a:rPr lang="el-GR" dirty="0" err="1">
                <a:solidFill>
                  <a:schemeClr val="tx2">
                    <a:lumMod val="50000"/>
                  </a:schemeClr>
                </a:solidFill>
                <a:latin typeface="Tahoma" pitchFamily="34" charset="0"/>
                <a:ea typeface="Tahoma" pitchFamily="34" charset="0"/>
                <a:cs typeface="Tahoma" pitchFamily="34" charset="0"/>
              </a:rPr>
              <a:t>Πήλιουρας</a:t>
            </a:r>
            <a:r>
              <a:rPr lang="el-GR" dirty="0">
                <a:solidFill>
                  <a:schemeClr val="tx2">
                    <a:lumMod val="50000"/>
                  </a:schemeClr>
                </a:solidFill>
                <a:latin typeface="Tahoma" pitchFamily="34" charset="0"/>
                <a:ea typeface="Tahoma" pitchFamily="34" charset="0"/>
                <a:cs typeface="Tahoma" pitchFamily="34" charset="0"/>
              </a:rPr>
              <a:t> @ Θ.Ε. ΕΚΠ63 1</a:t>
            </a:r>
            <a:r>
              <a:rPr lang="el-GR" baseline="30000" dirty="0">
                <a:solidFill>
                  <a:schemeClr val="tx2">
                    <a:lumMod val="50000"/>
                  </a:schemeClr>
                </a:solidFill>
                <a:latin typeface="Tahoma" pitchFamily="34" charset="0"/>
                <a:ea typeface="Tahoma" pitchFamily="34" charset="0"/>
                <a:cs typeface="Tahoma" pitchFamily="34" charset="0"/>
              </a:rPr>
              <a:t>Η</a:t>
            </a:r>
            <a:r>
              <a:rPr lang="el-GR" dirty="0">
                <a:solidFill>
                  <a:schemeClr val="tx2">
                    <a:lumMod val="50000"/>
                  </a:schemeClr>
                </a:solidFill>
                <a:latin typeface="Tahoma" pitchFamily="34" charset="0"/>
                <a:ea typeface="Tahoma" pitchFamily="34" charset="0"/>
                <a:cs typeface="Tahoma" pitchFamily="34" charset="0"/>
              </a:rPr>
              <a:t> ΟΣΣ 2020-21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55099DDC-AA11-40E2-AC56-9DA13C1EF17E}"/>
              </a:ext>
            </a:extLst>
          </p:cNvPr>
          <p:cNvSpPr>
            <a:spLocks noGrp="1" noChangeArrowheads="1"/>
          </p:cNvSpPr>
          <p:nvPr>
            <p:ph type="title"/>
          </p:nvPr>
        </p:nvSpPr>
        <p:spPr>
          <a:xfrm>
            <a:off x="3855396" y="306421"/>
            <a:ext cx="7772400" cy="762000"/>
          </a:xfrm>
        </p:spPr>
        <p:txBody>
          <a:bodyPr>
            <a:normAutofit/>
          </a:bodyPr>
          <a:lstStyle/>
          <a:p>
            <a:pPr algn="ctr"/>
            <a:r>
              <a:rPr lang="el-GR" altLang="en-US" sz="4000" b="1" dirty="0">
                <a:solidFill>
                  <a:srgbClr val="002060"/>
                </a:solidFill>
              </a:rPr>
              <a:t>Έρευνες για τις αντιλήψεις</a:t>
            </a:r>
          </a:p>
        </p:txBody>
      </p:sp>
      <p:sp>
        <p:nvSpPr>
          <p:cNvPr id="10243" name="Rectangle 3">
            <a:extLst>
              <a:ext uri="{FF2B5EF4-FFF2-40B4-BE49-F238E27FC236}">
                <a16:creationId xmlns:a16="http://schemas.microsoft.com/office/drawing/2014/main" id="{AAD6DC24-016C-4619-82DC-80CDA633245D}"/>
              </a:ext>
            </a:extLst>
          </p:cNvPr>
          <p:cNvSpPr>
            <a:spLocks noGrp="1" noChangeArrowheads="1"/>
          </p:cNvSpPr>
          <p:nvPr>
            <p:ph type="body" idx="1"/>
          </p:nvPr>
        </p:nvSpPr>
        <p:spPr>
          <a:xfrm>
            <a:off x="1120302" y="2203802"/>
            <a:ext cx="9951396" cy="3016267"/>
          </a:xfrm>
          <a:ln w="50800">
            <a:solidFill>
              <a:schemeClr val="tx1"/>
            </a:solidFill>
          </a:ln>
        </p:spPr>
        <p:txBody>
          <a:bodyPr>
            <a:noAutofit/>
          </a:bodyPr>
          <a:lstStyle/>
          <a:p>
            <a:pPr algn="just">
              <a:buFontTx/>
              <a:buNone/>
            </a:pPr>
            <a:endParaRPr lang="el-GR" altLang="en-US" sz="1800" dirty="0">
              <a:cs typeface="Times New Roman" panose="02020603050405020304" pitchFamily="18" charset="0"/>
            </a:endParaRPr>
          </a:p>
          <a:p>
            <a:pPr algn="just">
              <a:buFontTx/>
              <a:buNone/>
            </a:pPr>
            <a:r>
              <a:rPr lang="el-GR" altLang="en-US" dirty="0">
                <a:cs typeface="Times New Roman" panose="02020603050405020304" pitchFamily="18" charset="0"/>
              </a:rPr>
              <a:t>Οι </a:t>
            </a:r>
            <a:r>
              <a:rPr lang="el-GR" altLang="en-US" dirty="0">
                <a:solidFill>
                  <a:srgbClr val="000066"/>
                </a:solidFill>
                <a:cs typeface="Times New Roman" panose="02020603050405020304" pitchFamily="18" charset="0"/>
              </a:rPr>
              <a:t>αντιλήψεις</a:t>
            </a:r>
            <a:r>
              <a:rPr lang="el-GR" altLang="en-US" dirty="0">
                <a:cs typeface="Times New Roman" panose="02020603050405020304" pitchFamily="18" charset="0"/>
              </a:rPr>
              <a:t> μοιάζουν με θεωρίες που έχουν εσωτερική συνεκτική δομή και χρησιμοποιούνται με συνέπεια σε διαφορετικά πλαίσια (</a:t>
            </a:r>
            <a:r>
              <a:rPr lang="el-GR" altLang="en-US" dirty="0" err="1">
                <a:cs typeface="Times New Roman" panose="02020603050405020304" pitchFamily="18" charset="0"/>
              </a:rPr>
              <a:t>contexts</a:t>
            </a:r>
            <a:r>
              <a:rPr lang="el-GR" altLang="en-US" dirty="0">
                <a:cs typeface="Times New Roman" panose="02020603050405020304" pitchFamily="18" charset="0"/>
              </a:rPr>
              <a:t>). </a:t>
            </a:r>
            <a:endParaRPr lang="el-GR" altLang="en-US" dirty="0"/>
          </a:p>
          <a:p>
            <a:pPr algn="just">
              <a:buFontTx/>
              <a:buNone/>
            </a:pPr>
            <a:r>
              <a:rPr lang="el-GR" altLang="en-US" i="1" dirty="0" err="1">
                <a:cs typeface="Times New Roman" panose="02020603050405020304" pitchFamily="18" charset="0"/>
              </a:rPr>
              <a:t>McClosky</a:t>
            </a:r>
            <a:r>
              <a:rPr lang="el-GR" altLang="en-US" i="1" dirty="0">
                <a:cs typeface="Times New Roman" panose="02020603050405020304" pitchFamily="18" charset="0"/>
              </a:rPr>
              <a:t> (1983) και </a:t>
            </a:r>
            <a:r>
              <a:rPr lang="el-GR" altLang="en-US" i="1" dirty="0" err="1">
                <a:cs typeface="Times New Roman" panose="02020603050405020304" pitchFamily="18" charset="0"/>
              </a:rPr>
              <a:t>Carey</a:t>
            </a:r>
            <a:r>
              <a:rPr lang="el-GR" altLang="en-US" i="1" dirty="0">
                <a:cs typeface="Times New Roman" panose="02020603050405020304" pitchFamily="18" charset="0"/>
              </a:rPr>
              <a:t> (1985)</a:t>
            </a:r>
            <a:endParaRPr lang="el-GR" altLang="en-US" i="1" dirty="0"/>
          </a:p>
          <a:p>
            <a:pPr algn="just">
              <a:buFontTx/>
              <a:buNone/>
            </a:pPr>
            <a:r>
              <a:rPr lang="el-GR" altLang="en-US" i="1" dirty="0" err="1">
                <a:cs typeface="Times New Roman" panose="02020603050405020304" pitchFamily="18" charset="0"/>
              </a:rPr>
              <a:t>Vosniadou</a:t>
            </a:r>
            <a:r>
              <a:rPr lang="el-GR" altLang="en-US" i="1" dirty="0">
                <a:cs typeface="Times New Roman" panose="02020603050405020304" pitchFamily="18" charset="0"/>
              </a:rPr>
              <a:t> &amp; </a:t>
            </a:r>
            <a:r>
              <a:rPr lang="el-GR" altLang="en-US" i="1" dirty="0" err="1">
                <a:cs typeface="Times New Roman" panose="02020603050405020304" pitchFamily="18" charset="0"/>
              </a:rPr>
              <a:t>Brewer</a:t>
            </a:r>
            <a:r>
              <a:rPr lang="el-GR" altLang="en-US" i="1" dirty="0">
                <a:cs typeface="Times New Roman" panose="02020603050405020304" pitchFamily="18" charset="0"/>
              </a:rPr>
              <a:t> (1992)</a:t>
            </a:r>
            <a:endParaRPr lang="el-GR" altLang="en-US" i="1" dirty="0"/>
          </a:p>
          <a:p>
            <a:pPr algn="just"/>
            <a:endParaRPr lang="el-GR" altLang="en-US" i="1" dirty="0"/>
          </a:p>
          <a:p>
            <a:pPr>
              <a:buFontTx/>
              <a:buNone/>
            </a:pPr>
            <a:r>
              <a:rPr lang="el-GR" altLang="en-US" dirty="0"/>
              <a:t>	</a:t>
            </a:r>
          </a:p>
        </p:txBody>
      </p:sp>
      <p:sp>
        <p:nvSpPr>
          <p:cNvPr id="4" name="Footer Placeholder 4">
            <a:extLst>
              <a:ext uri="{FF2B5EF4-FFF2-40B4-BE49-F238E27FC236}">
                <a16:creationId xmlns:a16="http://schemas.microsoft.com/office/drawing/2014/main" id="{A1532617-8BF7-4ADC-9305-6974BD6736EE}"/>
              </a:ext>
            </a:extLst>
          </p:cNvPr>
          <p:cNvSpPr>
            <a:spLocks noGrp="1"/>
          </p:cNvSpPr>
          <p:nvPr>
            <p:ph type="ftr" sz="quarter" idx="11"/>
          </p:nvPr>
        </p:nvSpPr>
        <p:spPr>
          <a:xfrm>
            <a:off x="4038600" y="6356350"/>
            <a:ext cx="4114800" cy="365125"/>
          </a:xfrm>
        </p:spPr>
        <p:txBody>
          <a:bodyPr/>
          <a:lstStyle/>
          <a:p>
            <a:r>
              <a:rPr lang="el-GR" dirty="0">
                <a:solidFill>
                  <a:schemeClr val="tx2">
                    <a:lumMod val="50000"/>
                  </a:schemeClr>
                </a:solidFill>
                <a:latin typeface="Tahoma" pitchFamily="34" charset="0"/>
                <a:ea typeface="Tahoma" pitchFamily="34" charset="0"/>
                <a:cs typeface="Tahoma" pitchFamily="34" charset="0"/>
              </a:rPr>
              <a:t>Παναγιώτης </a:t>
            </a:r>
            <a:r>
              <a:rPr lang="el-GR" dirty="0" err="1">
                <a:solidFill>
                  <a:schemeClr val="tx2">
                    <a:lumMod val="50000"/>
                  </a:schemeClr>
                </a:solidFill>
                <a:latin typeface="Tahoma" pitchFamily="34" charset="0"/>
                <a:ea typeface="Tahoma" pitchFamily="34" charset="0"/>
                <a:cs typeface="Tahoma" pitchFamily="34" charset="0"/>
              </a:rPr>
              <a:t>Πήλιουρας</a:t>
            </a:r>
            <a:r>
              <a:rPr lang="el-GR" dirty="0">
                <a:solidFill>
                  <a:schemeClr val="tx2">
                    <a:lumMod val="50000"/>
                  </a:schemeClr>
                </a:solidFill>
                <a:latin typeface="Tahoma" pitchFamily="34" charset="0"/>
                <a:ea typeface="Tahoma" pitchFamily="34" charset="0"/>
                <a:cs typeface="Tahoma" pitchFamily="34" charset="0"/>
              </a:rPr>
              <a:t> @ Θ.Ε. ΕΚΠ63 1</a:t>
            </a:r>
            <a:r>
              <a:rPr lang="el-GR" baseline="30000" dirty="0">
                <a:solidFill>
                  <a:schemeClr val="tx2">
                    <a:lumMod val="50000"/>
                  </a:schemeClr>
                </a:solidFill>
                <a:latin typeface="Tahoma" pitchFamily="34" charset="0"/>
                <a:ea typeface="Tahoma" pitchFamily="34" charset="0"/>
                <a:cs typeface="Tahoma" pitchFamily="34" charset="0"/>
              </a:rPr>
              <a:t>Η</a:t>
            </a:r>
            <a:r>
              <a:rPr lang="el-GR" dirty="0">
                <a:solidFill>
                  <a:schemeClr val="tx2">
                    <a:lumMod val="50000"/>
                  </a:schemeClr>
                </a:solidFill>
                <a:latin typeface="Tahoma" pitchFamily="34" charset="0"/>
                <a:ea typeface="Tahoma" pitchFamily="34" charset="0"/>
                <a:cs typeface="Tahoma" pitchFamily="34" charset="0"/>
              </a:rPr>
              <a:t> ΟΣΣ 2020-21</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BA5C31CA-CB3E-4C18-A0C7-6736A3AA7594}"/>
              </a:ext>
            </a:extLst>
          </p:cNvPr>
          <p:cNvSpPr>
            <a:spLocks noGrp="1" noChangeArrowheads="1"/>
          </p:cNvSpPr>
          <p:nvPr>
            <p:ph type="title"/>
          </p:nvPr>
        </p:nvSpPr>
        <p:spPr/>
        <p:txBody>
          <a:bodyPr>
            <a:normAutofit fontScale="90000"/>
          </a:bodyPr>
          <a:lstStyle/>
          <a:p>
            <a:r>
              <a:rPr lang="el-GR" altLang="en-US" b="1">
                <a:cs typeface="Times New Roman" panose="02020603050405020304" pitchFamily="18" charset="0"/>
              </a:rPr>
              <a:t>Παράγοντες που διαμορφώνουν τις αντιλήψεις των μαθητών</a:t>
            </a:r>
            <a:br>
              <a:rPr lang="el-GR" altLang="en-US" b="1">
                <a:cs typeface="Times New Roman" panose="02020603050405020304" pitchFamily="18" charset="0"/>
              </a:rPr>
            </a:br>
            <a:endParaRPr lang="el-GR" altLang="en-US" b="1">
              <a:cs typeface="Times New Roman" panose="02020603050405020304" pitchFamily="18" charset="0"/>
            </a:endParaRPr>
          </a:p>
        </p:txBody>
      </p:sp>
      <p:sp>
        <p:nvSpPr>
          <p:cNvPr id="27652" name="Rectangle 4">
            <a:extLst>
              <a:ext uri="{FF2B5EF4-FFF2-40B4-BE49-F238E27FC236}">
                <a16:creationId xmlns:a16="http://schemas.microsoft.com/office/drawing/2014/main" id="{C4F1BA0B-846D-40B8-B38F-84AD7E0792D0}"/>
              </a:ext>
            </a:extLst>
          </p:cNvPr>
          <p:cNvSpPr>
            <a:spLocks noGrp="1" noChangeArrowheads="1"/>
          </p:cNvSpPr>
          <p:nvPr>
            <p:ph type="body" idx="1"/>
          </p:nvPr>
        </p:nvSpPr>
        <p:spPr>
          <a:xfrm>
            <a:off x="1832043" y="1695552"/>
            <a:ext cx="8305800" cy="4275306"/>
          </a:xfrm>
          <a:ln w="50800">
            <a:solidFill>
              <a:schemeClr val="tx1"/>
            </a:solidFill>
          </a:ln>
        </p:spPr>
        <p:txBody>
          <a:bodyPr>
            <a:normAutofit fontScale="85000" lnSpcReduction="20000"/>
          </a:bodyPr>
          <a:lstStyle/>
          <a:p>
            <a:pPr algn="just">
              <a:lnSpc>
                <a:spcPct val="90000"/>
              </a:lnSpc>
              <a:buFontTx/>
              <a:buNone/>
            </a:pPr>
            <a:r>
              <a:rPr lang="el-GR" altLang="en-US" dirty="0">
                <a:latin typeface="Symbol" panose="05050102010706020507" pitchFamily="18" charset="2"/>
                <a:cs typeface="Times New Roman" panose="02020603050405020304" pitchFamily="18" charset="0"/>
              </a:rPr>
              <a:t>·</a:t>
            </a:r>
            <a:r>
              <a:rPr lang="el-GR" altLang="en-US" dirty="0">
                <a:cs typeface="Times New Roman" panose="02020603050405020304" pitchFamily="18" charset="0"/>
              </a:rPr>
              <a:t>  </a:t>
            </a:r>
            <a:r>
              <a:rPr lang="el-GR" altLang="en-US" dirty="0"/>
              <a:t>Η </a:t>
            </a:r>
            <a:r>
              <a:rPr lang="el-GR" altLang="en-US" dirty="0">
                <a:cs typeface="Times New Roman" panose="02020603050405020304" pitchFamily="18" charset="0"/>
              </a:rPr>
              <a:t>επίδραση των αντιλήψεων των μεγάλων</a:t>
            </a:r>
            <a:endParaRPr lang="el-GR" altLang="en-US" dirty="0"/>
          </a:p>
          <a:p>
            <a:pPr algn="just">
              <a:lnSpc>
                <a:spcPct val="90000"/>
              </a:lnSpc>
              <a:buFontTx/>
              <a:buNone/>
            </a:pPr>
            <a:r>
              <a:rPr lang="el-GR" altLang="en-US" dirty="0">
                <a:cs typeface="Times New Roman" panose="02020603050405020304" pitchFamily="18" charset="0"/>
              </a:rPr>
              <a:t> </a:t>
            </a:r>
          </a:p>
          <a:p>
            <a:pPr algn="just">
              <a:lnSpc>
                <a:spcPct val="90000"/>
              </a:lnSpc>
              <a:buFontTx/>
              <a:buNone/>
            </a:pPr>
            <a:r>
              <a:rPr lang="el-GR" altLang="en-US" dirty="0">
                <a:latin typeface="Symbol" panose="05050102010706020507" pitchFamily="18" charset="2"/>
                <a:cs typeface="Times New Roman" panose="02020603050405020304" pitchFamily="18" charset="0"/>
              </a:rPr>
              <a:t>·</a:t>
            </a:r>
            <a:r>
              <a:rPr lang="el-GR" altLang="en-US" dirty="0">
                <a:cs typeface="Times New Roman" panose="02020603050405020304" pitchFamily="18" charset="0"/>
              </a:rPr>
              <a:t>  </a:t>
            </a:r>
            <a:r>
              <a:rPr lang="el-GR" altLang="en-US" dirty="0"/>
              <a:t>Τα </a:t>
            </a:r>
            <a:r>
              <a:rPr lang="el-GR" altLang="en-US" dirty="0">
                <a:cs typeface="Times New Roman" panose="02020603050405020304" pitchFamily="18" charset="0"/>
              </a:rPr>
              <a:t>μέσ</a:t>
            </a:r>
            <a:r>
              <a:rPr lang="el-GR" altLang="en-US" dirty="0"/>
              <a:t>α μαζικής</a:t>
            </a:r>
            <a:r>
              <a:rPr lang="el-GR" altLang="en-US" dirty="0">
                <a:cs typeface="Times New Roman" panose="02020603050405020304" pitchFamily="18" charset="0"/>
              </a:rPr>
              <a:t> επικοινωνίας </a:t>
            </a:r>
            <a:endParaRPr lang="el-GR" altLang="en-US" dirty="0"/>
          </a:p>
          <a:p>
            <a:pPr algn="just">
              <a:lnSpc>
                <a:spcPct val="90000"/>
              </a:lnSpc>
              <a:buFontTx/>
              <a:buNone/>
            </a:pPr>
            <a:endParaRPr lang="el-GR" altLang="en-US" dirty="0"/>
          </a:p>
          <a:p>
            <a:pPr algn="just">
              <a:lnSpc>
                <a:spcPct val="90000"/>
              </a:lnSpc>
              <a:buFontTx/>
              <a:buNone/>
            </a:pPr>
            <a:r>
              <a:rPr lang="el-GR" altLang="en-US" dirty="0">
                <a:latin typeface="Symbol" panose="05050102010706020507" pitchFamily="18" charset="2"/>
                <a:cs typeface="Times New Roman" panose="02020603050405020304" pitchFamily="18" charset="0"/>
              </a:rPr>
              <a:t>·</a:t>
            </a:r>
            <a:r>
              <a:rPr lang="el-GR" altLang="en-US" dirty="0">
                <a:cs typeface="Times New Roman" panose="02020603050405020304" pitchFamily="18" charset="0"/>
              </a:rPr>
              <a:t>   </a:t>
            </a:r>
            <a:r>
              <a:rPr lang="el-GR" altLang="en-US" dirty="0"/>
              <a:t>Η</a:t>
            </a:r>
            <a:r>
              <a:rPr lang="el-GR" altLang="en-US" dirty="0">
                <a:cs typeface="Times New Roman" panose="02020603050405020304" pitchFamily="18" charset="0"/>
              </a:rPr>
              <a:t> αλληλεπίδραση με άλλα παιδιά </a:t>
            </a:r>
            <a:endParaRPr lang="el-GR" altLang="en-US" dirty="0"/>
          </a:p>
          <a:p>
            <a:pPr algn="just">
              <a:lnSpc>
                <a:spcPct val="90000"/>
              </a:lnSpc>
              <a:buFontTx/>
              <a:buNone/>
            </a:pPr>
            <a:endParaRPr lang="el-GR" altLang="en-US" dirty="0"/>
          </a:p>
          <a:p>
            <a:pPr algn="just">
              <a:lnSpc>
                <a:spcPct val="90000"/>
              </a:lnSpc>
              <a:buFontTx/>
              <a:buNone/>
            </a:pPr>
            <a:r>
              <a:rPr lang="el-GR" altLang="en-US" dirty="0">
                <a:latin typeface="Symbol" panose="05050102010706020507" pitchFamily="18" charset="2"/>
                <a:cs typeface="Times New Roman" panose="02020603050405020304" pitchFamily="18" charset="0"/>
              </a:rPr>
              <a:t>·</a:t>
            </a:r>
            <a:r>
              <a:rPr lang="el-GR" altLang="en-US" dirty="0">
                <a:cs typeface="Times New Roman" panose="02020603050405020304" pitchFamily="18" charset="0"/>
              </a:rPr>
              <a:t>   </a:t>
            </a:r>
            <a:r>
              <a:rPr lang="el-GR" altLang="en-US" dirty="0"/>
              <a:t>Η</a:t>
            </a:r>
            <a:r>
              <a:rPr lang="el-GR" altLang="en-US" dirty="0">
                <a:cs typeface="Times New Roman" panose="02020603050405020304" pitchFamily="18" charset="0"/>
              </a:rPr>
              <a:t> διδασκαλία </a:t>
            </a:r>
            <a:endParaRPr lang="el-GR" altLang="en-US" dirty="0"/>
          </a:p>
          <a:p>
            <a:pPr algn="just">
              <a:lnSpc>
                <a:spcPct val="90000"/>
              </a:lnSpc>
              <a:buFontTx/>
              <a:buNone/>
            </a:pPr>
            <a:endParaRPr lang="el-GR" altLang="en-US" dirty="0"/>
          </a:p>
          <a:p>
            <a:pPr algn="just">
              <a:lnSpc>
                <a:spcPct val="90000"/>
              </a:lnSpc>
              <a:buFontTx/>
              <a:buNone/>
            </a:pPr>
            <a:r>
              <a:rPr lang="el-GR" altLang="en-US" dirty="0">
                <a:latin typeface="Symbol" panose="05050102010706020507" pitchFamily="18" charset="2"/>
                <a:cs typeface="Times New Roman" panose="02020603050405020304" pitchFamily="18" charset="0"/>
              </a:rPr>
              <a:t>·</a:t>
            </a:r>
            <a:r>
              <a:rPr lang="el-GR" altLang="en-US" dirty="0">
                <a:cs typeface="Times New Roman" panose="02020603050405020304" pitchFamily="18" charset="0"/>
              </a:rPr>
              <a:t>    </a:t>
            </a:r>
            <a:r>
              <a:rPr lang="el-GR" altLang="en-US" dirty="0"/>
              <a:t>Τ</a:t>
            </a:r>
            <a:r>
              <a:rPr lang="el-GR" altLang="en-US" dirty="0">
                <a:cs typeface="Times New Roman" panose="02020603050405020304" pitchFamily="18" charset="0"/>
              </a:rPr>
              <a:t>α σχολικά εγχειρίδια κ.τ.λ.</a:t>
            </a:r>
          </a:p>
          <a:p>
            <a:pPr algn="just">
              <a:lnSpc>
                <a:spcPct val="90000"/>
              </a:lnSpc>
              <a:buFontTx/>
              <a:buNone/>
            </a:pPr>
            <a:endParaRPr lang="el-GR" altLang="en-US" dirty="0">
              <a:cs typeface="Times New Roman" panose="02020603050405020304" pitchFamily="18" charset="0"/>
            </a:endParaRPr>
          </a:p>
          <a:p>
            <a:pPr algn="just"/>
            <a:r>
              <a:rPr lang="el-GR" altLang="en-US" dirty="0"/>
              <a:t>Η</a:t>
            </a:r>
            <a:r>
              <a:rPr lang="el-GR" altLang="en-US" dirty="0">
                <a:cs typeface="Times New Roman" panose="02020603050405020304" pitchFamily="18" charset="0"/>
              </a:rPr>
              <a:t> γλώσσα που χρησιμοποιείται από τους μεγάλους.</a:t>
            </a:r>
            <a:r>
              <a:rPr lang="el-GR" altLang="en-US" dirty="0"/>
              <a:t> </a:t>
            </a:r>
          </a:p>
        </p:txBody>
      </p:sp>
      <p:sp>
        <p:nvSpPr>
          <p:cNvPr id="4" name="Footer Placeholder 4">
            <a:extLst>
              <a:ext uri="{FF2B5EF4-FFF2-40B4-BE49-F238E27FC236}">
                <a16:creationId xmlns:a16="http://schemas.microsoft.com/office/drawing/2014/main" id="{87B56913-38F0-4B65-8386-E70D3F7A2A01}"/>
              </a:ext>
            </a:extLst>
          </p:cNvPr>
          <p:cNvSpPr>
            <a:spLocks noGrp="1"/>
          </p:cNvSpPr>
          <p:nvPr>
            <p:ph type="ftr" sz="quarter" idx="11"/>
          </p:nvPr>
        </p:nvSpPr>
        <p:spPr>
          <a:xfrm>
            <a:off x="4038600" y="6356350"/>
            <a:ext cx="4114800" cy="365125"/>
          </a:xfrm>
        </p:spPr>
        <p:txBody>
          <a:bodyPr/>
          <a:lstStyle/>
          <a:p>
            <a:r>
              <a:rPr lang="el-GR" dirty="0">
                <a:solidFill>
                  <a:schemeClr val="tx2">
                    <a:lumMod val="50000"/>
                  </a:schemeClr>
                </a:solidFill>
                <a:latin typeface="Tahoma" pitchFamily="34" charset="0"/>
                <a:ea typeface="Tahoma" pitchFamily="34" charset="0"/>
                <a:cs typeface="Tahoma" pitchFamily="34" charset="0"/>
              </a:rPr>
              <a:t>Παναγιώτης </a:t>
            </a:r>
            <a:r>
              <a:rPr lang="el-GR" dirty="0" err="1">
                <a:solidFill>
                  <a:schemeClr val="tx2">
                    <a:lumMod val="50000"/>
                  </a:schemeClr>
                </a:solidFill>
                <a:latin typeface="Tahoma" pitchFamily="34" charset="0"/>
                <a:ea typeface="Tahoma" pitchFamily="34" charset="0"/>
                <a:cs typeface="Tahoma" pitchFamily="34" charset="0"/>
              </a:rPr>
              <a:t>Πήλιουρας</a:t>
            </a:r>
            <a:r>
              <a:rPr lang="el-GR" dirty="0">
                <a:solidFill>
                  <a:schemeClr val="tx2">
                    <a:lumMod val="50000"/>
                  </a:schemeClr>
                </a:solidFill>
                <a:latin typeface="Tahoma" pitchFamily="34" charset="0"/>
                <a:ea typeface="Tahoma" pitchFamily="34" charset="0"/>
                <a:cs typeface="Tahoma" pitchFamily="34" charset="0"/>
              </a:rPr>
              <a:t> @ Θ.Ε. ΕΚΠ63 1</a:t>
            </a:r>
            <a:r>
              <a:rPr lang="el-GR" baseline="30000" dirty="0">
                <a:solidFill>
                  <a:schemeClr val="tx2">
                    <a:lumMod val="50000"/>
                  </a:schemeClr>
                </a:solidFill>
                <a:latin typeface="Tahoma" pitchFamily="34" charset="0"/>
                <a:ea typeface="Tahoma" pitchFamily="34" charset="0"/>
                <a:cs typeface="Tahoma" pitchFamily="34" charset="0"/>
              </a:rPr>
              <a:t>Η</a:t>
            </a:r>
            <a:r>
              <a:rPr lang="el-GR" dirty="0">
                <a:solidFill>
                  <a:schemeClr val="tx2">
                    <a:lumMod val="50000"/>
                  </a:schemeClr>
                </a:solidFill>
                <a:latin typeface="Tahoma" pitchFamily="34" charset="0"/>
                <a:ea typeface="Tahoma" pitchFamily="34" charset="0"/>
                <a:cs typeface="Tahoma" pitchFamily="34" charset="0"/>
              </a:rPr>
              <a:t> ΟΣΣ 2020-21</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 Box 2">
            <a:extLst>
              <a:ext uri="{FF2B5EF4-FFF2-40B4-BE49-F238E27FC236}">
                <a16:creationId xmlns:a16="http://schemas.microsoft.com/office/drawing/2014/main" id="{F875195C-3E9B-4005-A2FE-B146A17C7922}"/>
              </a:ext>
            </a:extLst>
          </p:cNvPr>
          <p:cNvSpPr txBox="1">
            <a:spLocks noChangeArrowheads="1"/>
          </p:cNvSpPr>
          <p:nvPr/>
        </p:nvSpPr>
        <p:spPr bwMode="auto">
          <a:xfrm>
            <a:off x="2879726" y="193675"/>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a:p>
        </p:txBody>
      </p:sp>
      <p:pic>
        <p:nvPicPr>
          <p:cNvPr id="3075" name="Picture 3">
            <a:extLst>
              <a:ext uri="{FF2B5EF4-FFF2-40B4-BE49-F238E27FC236}">
                <a16:creationId xmlns:a16="http://schemas.microsoft.com/office/drawing/2014/main" id="{42C36D30-AE01-41BF-A884-584CBA68D6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9389" y="0"/>
            <a:ext cx="6753225"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A6034E4-90D0-440D-B51F-BE2335B94B64}"/>
              </a:ext>
            </a:extLst>
          </p:cNvPr>
          <p:cNvSpPr txBox="1"/>
          <p:nvPr/>
        </p:nvSpPr>
        <p:spPr>
          <a:xfrm>
            <a:off x="5180121" y="6204582"/>
            <a:ext cx="6098958" cy="369332"/>
          </a:xfrm>
          <a:prstGeom prst="rect">
            <a:avLst/>
          </a:prstGeom>
          <a:noFill/>
        </p:spPr>
        <p:txBody>
          <a:bodyPr wrap="square">
            <a:spAutoFit/>
          </a:bodyPr>
          <a:lstStyle/>
          <a:p>
            <a:pPr marL="0" indent="0" algn="r"/>
            <a:r>
              <a:rPr lang="el-GR" altLang="en-US" sz="1800" dirty="0">
                <a:cs typeface="Times New Roman" panose="02020603050405020304" pitchFamily="18" charset="0"/>
              </a:rPr>
              <a:t>(</a:t>
            </a:r>
            <a:r>
              <a:rPr lang="el-GR" altLang="en-US" sz="1800" dirty="0" err="1">
                <a:cs typeface="Times New Roman" panose="02020603050405020304" pitchFamily="18" charset="0"/>
              </a:rPr>
              <a:t>Κόκκοτας</a:t>
            </a:r>
            <a:r>
              <a:rPr lang="el-GR" altLang="en-US" sz="1800" dirty="0">
                <a:cs typeface="Times New Roman" panose="02020603050405020304" pitchFamily="18" charset="0"/>
              </a:rPr>
              <a:t>, 2008)</a:t>
            </a:r>
          </a:p>
        </p:txBody>
      </p:sp>
      <p:sp>
        <p:nvSpPr>
          <p:cNvPr id="6" name="Footer Placeholder 4">
            <a:extLst>
              <a:ext uri="{FF2B5EF4-FFF2-40B4-BE49-F238E27FC236}">
                <a16:creationId xmlns:a16="http://schemas.microsoft.com/office/drawing/2014/main" id="{8B364FFE-9638-43AC-9443-5ECE5429F34F}"/>
              </a:ext>
            </a:extLst>
          </p:cNvPr>
          <p:cNvSpPr>
            <a:spLocks noGrp="1"/>
          </p:cNvSpPr>
          <p:nvPr>
            <p:ph type="ftr" sz="quarter" idx="11"/>
          </p:nvPr>
        </p:nvSpPr>
        <p:spPr>
          <a:xfrm>
            <a:off x="4038600" y="6356350"/>
            <a:ext cx="4114800" cy="365125"/>
          </a:xfrm>
        </p:spPr>
        <p:txBody>
          <a:bodyPr/>
          <a:lstStyle/>
          <a:p>
            <a:r>
              <a:rPr lang="el-GR" dirty="0">
                <a:solidFill>
                  <a:schemeClr val="tx2">
                    <a:lumMod val="50000"/>
                  </a:schemeClr>
                </a:solidFill>
                <a:latin typeface="Tahoma" pitchFamily="34" charset="0"/>
                <a:ea typeface="Tahoma" pitchFamily="34" charset="0"/>
                <a:cs typeface="Tahoma" pitchFamily="34" charset="0"/>
              </a:rPr>
              <a:t>Παναγιώτης </a:t>
            </a:r>
            <a:r>
              <a:rPr lang="el-GR" dirty="0" err="1">
                <a:solidFill>
                  <a:schemeClr val="tx2">
                    <a:lumMod val="50000"/>
                  </a:schemeClr>
                </a:solidFill>
                <a:latin typeface="Tahoma" pitchFamily="34" charset="0"/>
                <a:ea typeface="Tahoma" pitchFamily="34" charset="0"/>
                <a:cs typeface="Tahoma" pitchFamily="34" charset="0"/>
              </a:rPr>
              <a:t>Πήλιουρας</a:t>
            </a:r>
            <a:r>
              <a:rPr lang="el-GR" dirty="0">
                <a:solidFill>
                  <a:schemeClr val="tx2">
                    <a:lumMod val="50000"/>
                  </a:schemeClr>
                </a:solidFill>
                <a:latin typeface="Tahoma" pitchFamily="34" charset="0"/>
                <a:ea typeface="Tahoma" pitchFamily="34" charset="0"/>
                <a:cs typeface="Tahoma" pitchFamily="34" charset="0"/>
              </a:rPr>
              <a:t> @ Θ.Ε. ΕΚΠ63 1</a:t>
            </a:r>
            <a:r>
              <a:rPr lang="el-GR" baseline="30000" dirty="0">
                <a:solidFill>
                  <a:schemeClr val="tx2">
                    <a:lumMod val="50000"/>
                  </a:schemeClr>
                </a:solidFill>
                <a:latin typeface="Tahoma" pitchFamily="34" charset="0"/>
                <a:ea typeface="Tahoma" pitchFamily="34" charset="0"/>
                <a:cs typeface="Tahoma" pitchFamily="34" charset="0"/>
              </a:rPr>
              <a:t>Η</a:t>
            </a:r>
            <a:r>
              <a:rPr lang="el-GR" dirty="0">
                <a:solidFill>
                  <a:schemeClr val="tx2">
                    <a:lumMod val="50000"/>
                  </a:schemeClr>
                </a:solidFill>
                <a:latin typeface="Tahoma" pitchFamily="34" charset="0"/>
                <a:ea typeface="Tahoma" pitchFamily="34" charset="0"/>
                <a:cs typeface="Tahoma" pitchFamily="34" charset="0"/>
              </a:rPr>
              <a:t> ΟΣΣ 2020-21</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2">
            <a:extLst>
              <a:ext uri="{FF2B5EF4-FFF2-40B4-BE49-F238E27FC236}">
                <a16:creationId xmlns:a16="http://schemas.microsoft.com/office/drawing/2014/main" id="{653D4A84-116F-4F2B-9899-437E51981FC5}"/>
              </a:ext>
            </a:extLst>
          </p:cNvPr>
          <p:cNvSpPr txBox="1">
            <a:spLocks noChangeArrowheads="1"/>
          </p:cNvSpPr>
          <p:nvPr/>
        </p:nvSpPr>
        <p:spPr bwMode="auto">
          <a:xfrm>
            <a:off x="1752600" y="1751987"/>
            <a:ext cx="8686800" cy="4154984"/>
          </a:xfrm>
          <a:prstGeom prst="rect">
            <a:avLst/>
          </a:prstGeom>
          <a:noFill/>
          <a:ln w="508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l-GR" altLang="en-US" sz="2400" dirty="0">
                <a:solidFill>
                  <a:schemeClr val="tx2"/>
                </a:solidFill>
                <a:latin typeface="Symbol" panose="05050102010706020507" pitchFamily="18" charset="2"/>
                <a:cs typeface="Times New Roman" panose="02020603050405020304" pitchFamily="18" charset="0"/>
              </a:rPr>
              <a:t>·</a:t>
            </a:r>
            <a:r>
              <a:rPr lang="el-GR" altLang="en-US" sz="2400" dirty="0">
                <a:solidFill>
                  <a:schemeClr val="tx2"/>
                </a:solidFill>
                <a:cs typeface="Times New Roman" panose="02020603050405020304" pitchFamily="18" charset="0"/>
              </a:rPr>
              <a:t> </a:t>
            </a:r>
            <a:r>
              <a:rPr lang="el-GR" altLang="en-US" sz="2400" dirty="0">
                <a:solidFill>
                  <a:srgbClr val="000066"/>
                </a:solidFill>
                <a:cs typeface="Times New Roman" panose="02020603050405020304" pitchFamily="18" charset="0"/>
              </a:rPr>
              <a:t>Εκφράσεις π.χ. όπως </a:t>
            </a:r>
            <a:r>
              <a:rPr lang="el-GR" altLang="en-US" sz="2400" dirty="0">
                <a:solidFill>
                  <a:srgbClr val="336600"/>
                </a:solidFill>
                <a:cs typeface="Times New Roman" panose="02020603050405020304" pitchFamily="18" charset="0"/>
              </a:rPr>
              <a:t>"κλείσε την πόρτα για να μη φύγει η «ζέστη» ή «να μη μπει το κρύο»</a:t>
            </a:r>
            <a:r>
              <a:rPr lang="el-GR" altLang="en-US" sz="2400" dirty="0">
                <a:solidFill>
                  <a:srgbClr val="000066"/>
                </a:solidFill>
                <a:cs typeface="Times New Roman" panose="02020603050405020304" pitchFamily="18" charset="0"/>
              </a:rPr>
              <a:t> οδηγούν στην άποψη ότι υπάρχουν δύο διαφορετικά φυσικά μεγέθη, η ζέστη και το κρύο.</a:t>
            </a:r>
            <a:endParaRPr lang="el-GR" altLang="en-US" sz="2400" dirty="0">
              <a:solidFill>
                <a:srgbClr val="000066"/>
              </a:solidFill>
            </a:endParaRPr>
          </a:p>
          <a:p>
            <a:r>
              <a:rPr lang="el-GR" altLang="en-US" sz="2400" dirty="0">
                <a:solidFill>
                  <a:srgbClr val="000066"/>
                </a:solidFill>
                <a:cs typeface="Times New Roman" panose="02020603050405020304" pitchFamily="18" charset="0"/>
              </a:rPr>
              <a:t> </a:t>
            </a:r>
            <a:endParaRPr lang="el-GR" altLang="en-US" sz="2400" dirty="0">
              <a:solidFill>
                <a:srgbClr val="000066"/>
              </a:solidFill>
            </a:endParaRPr>
          </a:p>
          <a:p>
            <a:endParaRPr lang="el-GR" altLang="en-US" sz="2400" dirty="0">
              <a:solidFill>
                <a:srgbClr val="000066"/>
              </a:solidFill>
            </a:endParaRPr>
          </a:p>
          <a:p>
            <a:r>
              <a:rPr lang="el-GR" altLang="en-US" sz="2400" dirty="0">
                <a:solidFill>
                  <a:srgbClr val="000066"/>
                </a:solidFill>
                <a:latin typeface="Symbol" panose="05050102010706020507" pitchFamily="18" charset="2"/>
                <a:cs typeface="Times New Roman" panose="02020603050405020304" pitchFamily="18" charset="0"/>
              </a:rPr>
              <a:t>·</a:t>
            </a:r>
            <a:r>
              <a:rPr lang="el-GR" altLang="en-US" sz="2400" dirty="0">
                <a:solidFill>
                  <a:srgbClr val="000066"/>
                </a:solidFill>
                <a:cs typeface="Times New Roman" panose="02020603050405020304" pitchFamily="18" charset="0"/>
              </a:rPr>
              <a:t> </a:t>
            </a:r>
            <a:r>
              <a:rPr lang="el-GR" altLang="en-US" sz="2400" dirty="0">
                <a:solidFill>
                  <a:srgbClr val="000066"/>
                </a:solidFill>
              </a:rPr>
              <a:t>Σ</a:t>
            </a:r>
            <a:r>
              <a:rPr lang="el-GR" altLang="en-US" sz="2400" dirty="0">
                <a:solidFill>
                  <a:srgbClr val="000066"/>
                </a:solidFill>
                <a:cs typeface="Times New Roman" panose="02020603050405020304" pitchFamily="18" charset="0"/>
              </a:rPr>
              <a:t>υχνά ακούγεται η έκφραση: </a:t>
            </a:r>
            <a:r>
              <a:rPr lang="el-GR" altLang="en-US" sz="2400" dirty="0">
                <a:solidFill>
                  <a:srgbClr val="336600"/>
                </a:solidFill>
                <a:cs typeface="Times New Roman" panose="02020603050405020304" pitchFamily="18" charset="0"/>
              </a:rPr>
              <a:t>"η κατανάλωση του ηλεκτρικού ρεύματος...".</a:t>
            </a:r>
            <a:r>
              <a:rPr lang="el-GR" altLang="en-US" sz="2400" dirty="0">
                <a:solidFill>
                  <a:srgbClr val="000066"/>
                </a:solidFill>
                <a:cs typeface="Times New Roman" panose="02020603050405020304" pitchFamily="18" charset="0"/>
              </a:rPr>
              <a:t> Στα παιδιά δημιουργείται η εσφαλμένη εντύπωση ότι το ηλεκτρικό ρεύμα είναι κάτι που καταναλώνεται.</a:t>
            </a:r>
            <a:endParaRPr lang="el-GR" altLang="en-US" sz="2400" dirty="0">
              <a:solidFill>
                <a:srgbClr val="000066"/>
              </a:solidFill>
            </a:endParaRPr>
          </a:p>
          <a:p>
            <a:endParaRPr lang="el-GR" altLang="en-US" sz="2400" dirty="0">
              <a:solidFill>
                <a:srgbClr val="000066"/>
              </a:solidFill>
            </a:endParaRPr>
          </a:p>
          <a:p>
            <a:r>
              <a:rPr lang="el-GR" altLang="en-US" sz="2400" dirty="0">
                <a:solidFill>
                  <a:srgbClr val="000066"/>
                </a:solidFill>
              </a:rPr>
              <a:t>Η διαφήμιση κινητής τηλεφωνίας</a:t>
            </a:r>
            <a:r>
              <a:rPr lang="el-GR" altLang="en-US" sz="2400" dirty="0">
                <a:solidFill>
                  <a:srgbClr val="336600"/>
                </a:solidFill>
              </a:rPr>
              <a:t>: «η φωνή σου έχει δύναμη»</a:t>
            </a:r>
            <a:endParaRPr lang="el-GR" altLang="en-US" sz="2400" dirty="0">
              <a:solidFill>
                <a:schemeClr val="tx2"/>
              </a:solidFill>
              <a:cs typeface="Times New Roman" panose="02020603050405020304" pitchFamily="18" charset="0"/>
            </a:endParaRPr>
          </a:p>
          <a:p>
            <a:endParaRPr lang="el-GR" altLang="en-US" sz="2400" dirty="0"/>
          </a:p>
        </p:txBody>
      </p:sp>
      <p:sp>
        <p:nvSpPr>
          <p:cNvPr id="17411" name="Text Box 3">
            <a:extLst>
              <a:ext uri="{FF2B5EF4-FFF2-40B4-BE49-F238E27FC236}">
                <a16:creationId xmlns:a16="http://schemas.microsoft.com/office/drawing/2014/main" id="{B06AC465-4334-44AB-AA70-B5D81B410372}"/>
              </a:ext>
            </a:extLst>
          </p:cNvPr>
          <p:cNvSpPr txBox="1">
            <a:spLocks noChangeArrowheads="1"/>
          </p:cNvSpPr>
          <p:nvPr/>
        </p:nvSpPr>
        <p:spPr bwMode="auto">
          <a:xfrm>
            <a:off x="4343400" y="381000"/>
            <a:ext cx="240136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l-GR" altLang="en-US" sz="2800" b="1" dirty="0">
                <a:solidFill>
                  <a:srgbClr val="000066"/>
                </a:solidFill>
              </a:rPr>
              <a:t>Παραδείγματα</a:t>
            </a:r>
          </a:p>
        </p:txBody>
      </p:sp>
      <p:sp>
        <p:nvSpPr>
          <p:cNvPr id="4" name="Footer Placeholder 4">
            <a:extLst>
              <a:ext uri="{FF2B5EF4-FFF2-40B4-BE49-F238E27FC236}">
                <a16:creationId xmlns:a16="http://schemas.microsoft.com/office/drawing/2014/main" id="{B0E5C510-C9B4-4A06-9F37-761462DF01D1}"/>
              </a:ext>
            </a:extLst>
          </p:cNvPr>
          <p:cNvSpPr>
            <a:spLocks noGrp="1"/>
          </p:cNvSpPr>
          <p:nvPr>
            <p:ph type="ftr" sz="quarter" idx="11"/>
          </p:nvPr>
        </p:nvSpPr>
        <p:spPr>
          <a:xfrm>
            <a:off x="4038600" y="6356350"/>
            <a:ext cx="4114800" cy="365125"/>
          </a:xfrm>
        </p:spPr>
        <p:txBody>
          <a:bodyPr/>
          <a:lstStyle/>
          <a:p>
            <a:r>
              <a:rPr lang="el-GR" dirty="0">
                <a:solidFill>
                  <a:schemeClr val="tx2">
                    <a:lumMod val="50000"/>
                  </a:schemeClr>
                </a:solidFill>
                <a:latin typeface="Tahoma" pitchFamily="34" charset="0"/>
                <a:ea typeface="Tahoma" pitchFamily="34" charset="0"/>
                <a:cs typeface="Tahoma" pitchFamily="34" charset="0"/>
              </a:rPr>
              <a:t>Παναγιώτης </a:t>
            </a:r>
            <a:r>
              <a:rPr lang="el-GR" dirty="0" err="1">
                <a:solidFill>
                  <a:schemeClr val="tx2">
                    <a:lumMod val="50000"/>
                  </a:schemeClr>
                </a:solidFill>
                <a:latin typeface="Tahoma" pitchFamily="34" charset="0"/>
                <a:ea typeface="Tahoma" pitchFamily="34" charset="0"/>
                <a:cs typeface="Tahoma" pitchFamily="34" charset="0"/>
              </a:rPr>
              <a:t>Πήλιουρας</a:t>
            </a:r>
            <a:r>
              <a:rPr lang="el-GR" dirty="0">
                <a:solidFill>
                  <a:schemeClr val="tx2">
                    <a:lumMod val="50000"/>
                  </a:schemeClr>
                </a:solidFill>
                <a:latin typeface="Tahoma" pitchFamily="34" charset="0"/>
                <a:ea typeface="Tahoma" pitchFamily="34" charset="0"/>
                <a:cs typeface="Tahoma" pitchFamily="34" charset="0"/>
              </a:rPr>
              <a:t> @ Θ.Ε. ΕΚΠ63 1</a:t>
            </a:r>
            <a:r>
              <a:rPr lang="el-GR" baseline="30000" dirty="0">
                <a:solidFill>
                  <a:schemeClr val="tx2">
                    <a:lumMod val="50000"/>
                  </a:schemeClr>
                </a:solidFill>
                <a:latin typeface="Tahoma" pitchFamily="34" charset="0"/>
                <a:ea typeface="Tahoma" pitchFamily="34" charset="0"/>
                <a:cs typeface="Tahoma" pitchFamily="34" charset="0"/>
              </a:rPr>
              <a:t>Η</a:t>
            </a:r>
            <a:r>
              <a:rPr lang="el-GR" dirty="0">
                <a:solidFill>
                  <a:schemeClr val="tx2">
                    <a:lumMod val="50000"/>
                  </a:schemeClr>
                </a:solidFill>
                <a:latin typeface="Tahoma" pitchFamily="34" charset="0"/>
                <a:ea typeface="Tahoma" pitchFamily="34" charset="0"/>
                <a:cs typeface="Tahoma" pitchFamily="34" charset="0"/>
              </a:rPr>
              <a:t> ΟΣΣ 2020-21</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B9BDC7F0-39E1-49BD-B1E0-BCB0037C3434}"/>
              </a:ext>
            </a:extLst>
          </p:cNvPr>
          <p:cNvSpPr>
            <a:spLocks noGrp="1" noChangeArrowheads="1"/>
          </p:cNvSpPr>
          <p:nvPr>
            <p:ph type="title"/>
          </p:nvPr>
        </p:nvSpPr>
        <p:spPr/>
        <p:txBody>
          <a:bodyPr>
            <a:normAutofit fontScale="90000"/>
          </a:bodyPr>
          <a:lstStyle/>
          <a:p>
            <a:r>
              <a:rPr lang="el-GR" altLang="en-US" sz="2800" b="1" dirty="0">
                <a:solidFill>
                  <a:srgbClr val="000099"/>
                </a:solidFill>
                <a:cs typeface="Times New Roman" panose="02020603050405020304" pitchFamily="18" charset="0"/>
              </a:rPr>
              <a:t>Ομοιότητες μεταξύ των αντιλήψεων των παιδιών και των επιστημονικών θεωριών του παρελθόντος</a:t>
            </a:r>
            <a:r>
              <a:rPr lang="el-GR" altLang="en-US" sz="2800" b="1" dirty="0">
                <a:solidFill>
                  <a:srgbClr val="000099"/>
                </a:solidFill>
              </a:rPr>
              <a:t> (Ι)</a:t>
            </a:r>
            <a:r>
              <a:rPr lang="el-GR" altLang="en-US" dirty="0"/>
              <a:t> </a:t>
            </a:r>
          </a:p>
        </p:txBody>
      </p:sp>
      <p:sp>
        <p:nvSpPr>
          <p:cNvPr id="32771" name="Rectangle 3">
            <a:extLst>
              <a:ext uri="{FF2B5EF4-FFF2-40B4-BE49-F238E27FC236}">
                <a16:creationId xmlns:a16="http://schemas.microsoft.com/office/drawing/2014/main" id="{0F0ED127-4C3F-4CD5-BC55-872AAA36F6FF}"/>
              </a:ext>
            </a:extLst>
          </p:cNvPr>
          <p:cNvSpPr>
            <a:spLocks noGrp="1" noChangeArrowheads="1"/>
          </p:cNvSpPr>
          <p:nvPr>
            <p:ph type="body" idx="1"/>
          </p:nvPr>
        </p:nvSpPr>
        <p:spPr>
          <a:xfrm>
            <a:off x="1562910" y="2097999"/>
            <a:ext cx="9066179" cy="3446766"/>
          </a:xfrm>
          <a:ln w="50800">
            <a:solidFill>
              <a:schemeClr val="tx1"/>
            </a:solidFill>
          </a:ln>
        </p:spPr>
        <p:txBody>
          <a:bodyPr/>
          <a:lstStyle/>
          <a:p>
            <a:pPr algn="just">
              <a:buFontTx/>
              <a:buNone/>
            </a:pPr>
            <a:r>
              <a:rPr lang="el-GR" altLang="en-US" dirty="0"/>
              <a:t>΄</a:t>
            </a:r>
            <a:r>
              <a:rPr lang="el-GR" altLang="en-US" dirty="0" err="1"/>
              <a:t>Οταν</a:t>
            </a:r>
            <a:r>
              <a:rPr lang="el-GR" altLang="en-US" dirty="0">
                <a:cs typeface="Times New Roman" panose="02020603050405020304" pitchFamily="18" charset="0"/>
              </a:rPr>
              <a:t> ένα σώμα ριχθεί προς τα πάνω κατά την άποψη των παιδιών κινείται επειδή η δύναμη που του δώσαμε το αναγκά</a:t>
            </a:r>
            <a:r>
              <a:rPr lang="el-GR" altLang="en-US" dirty="0"/>
              <a:t>ζ</a:t>
            </a:r>
            <a:r>
              <a:rPr lang="el-GR" altLang="en-US" dirty="0">
                <a:cs typeface="Times New Roman" panose="02020603050405020304" pitchFamily="18" charset="0"/>
              </a:rPr>
              <a:t>ει να ανεβαίνει. Το σώμα θα σταματήσει να ανεβαίνει όταν τελειώσει η δύναμη αυτή. </a:t>
            </a:r>
            <a:endParaRPr lang="el-GR" altLang="en-US" dirty="0"/>
          </a:p>
          <a:p>
            <a:pPr algn="just">
              <a:buFontTx/>
              <a:buNone/>
            </a:pPr>
            <a:endParaRPr lang="el-GR" altLang="en-US" dirty="0"/>
          </a:p>
          <a:p>
            <a:pPr algn="just">
              <a:buFontTx/>
              <a:buNone/>
            </a:pPr>
            <a:r>
              <a:rPr lang="el-GR" altLang="en-US" dirty="0">
                <a:cs typeface="Times New Roman" panose="02020603050405020304" pitchFamily="18" charset="0"/>
              </a:rPr>
              <a:t>Οι αντιλήψεις αυτές είναι όμοιες με εκείνες του</a:t>
            </a:r>
            <a:r>
              <a:rPr lang="el-GR" altLang="en-US" dirty="0"/>
              <a:t> </a:t>
            </a:r>
            <a:r>
              <a:rPr lang="el-GR" altLang="en-US" dirty="0">
                <a:cs typeface="Times New Roman" panose="02020603050405020304" pitchFamily="18" charset="0"/>
              </a:rPr>
              <a:t>Αριστοτέλη και του </a:t>
            </a:r>
            <a:r>
              <a:rPr lang="en-US" altLang="en-US" dirty="0" err="1">
                <a:cs typeface="Times New Roman" panose="02020603050405020304" pitchFamily="18" charset="0"/>
              </a:rPr>
              <a:t>Buridan</a:t>
            </a:r>
            <a:r>
              <a:rPr lang="el-GR" altLang="en-US" dirty="0">
                <a:cs typeface="Times New Roman" panose="02020603050405020304" pitchFamily="18" charset="0"/>
              </a:rPr>
              <a:t> για τη δύναμη.</a:t>
            </a:r>
            <a:endParaRPr lang="el-GR" altLang="en-US" dirty="0"/>
          </a:p>
        </p:txBody>
      </p:sp>
      <p:sp>
        <p:nvSpPr>
          <p:cNvPr id="4" name="Footer Placeholder 4">
            <a:extLst>
              <a:ext uri="{FF2B5EF4-FFF2-40B4-BE49-F238E27FC236}">
                <a16:creationId xmlns:a16="http://schemas.microsoft.com/office/drawing/2014/main" id="{A43D8DED-55BF-4C92-A5DB-2179637D107F}"/>
              </a:ext>
            </a:extLst>
          </p:cNvPr>
          <p:cNvSpPr>
            <a:spLocks noGrp="1"/>
          </p:cNvSpPr>
          <p:nvPr>
            <p:ph type="ftr" sz="quarter" idx="11"/>
          </p:nvPr>
        </p:nvSpPr>
        <p:spPr>
          <a:xfrm>
            <a:off x="3541451" y="6356350"/>
            <a:ext cx="4114800" cy="365125"/>
          </a:xfrm>
        </p:spPr>
        <p:txBody>
          <a:bodyPr/>
          <a:lstStyle/>
          <a:p>
            <a:r>
              <a:rPr lang="el-GR" dirty="0">
                <a:solidFill>
                  <a:schemeClr val="tx2">
                    <a:lumMod val="50000"/>
                  </a:schemeClr>
                </a:solidFill>
                <a:latin typeface="Tahoma" pitchFamily="34" charset="0"/>
                <a:ea typeface="Tahoma" pitchFamily="34" charset="0"/>
                <a:cs typeface="Tahoma" pitchFamily="34" charset="0"/>
              </a:rPr>
              <a:t>Παναγιώτης </a:t>
            </a:r>
            <a:r>
              <a:rPr lang="el-GR" dirty="0" err="1">
                <a:solidFill>
                  <a:schemeClr val="tx2">
                    <a:lumMod val="50000"/>
                  </a:schemeClr>
                </a:solidFill>
                <a:latin typeface="Tahoma" pitchFamily="34" charset="0"/>
                <a:ea typeface="Tahoma" pitchFamily="34" charset="0"/>
                <a:cs typeface="Tahoma" pitchFamily="34" charset="0"/>
              </a:rPr>
              <a:t>Πήλιουρας</a:t>
            </a:r>
            <a:r>
              <a:rPr lang="el-GR" dirty="0">
                <a:solidFill>
                  <a:schemeClr val="tx2">
                    <a:lumMod val="50000"/>
                  </a:schemeClr>
                </a:solidFill>
                <a:latin typeface="Tahoma" pitchFamily="34" charset="0"/>
                <a:ea typeface="Tahoma" pitchFamily="34" charset="0"/>
                <a:cs typeface="Tahoma" pitchFamily="34" charset="0"/>
              </a:rPr>
              <a:t> @ Θ.Ε. ΕΚΠ63 1</a:t>
            </a:r>
            <a:r>
              <a:rPr lang="el-GR" baseline="30000" dirty="0">
                <a:solidFill>
                  <a:schemeClr val="tx2">
                    <a:lumMod val="50000"/>
                  </a:schemeClr>
                </a:solidFill>
                <a:latin typeface="Tahoma" pitchFamily="34" charset="0"/>
                <a:ea typeface="Tahoma" pitchFamily="34" charset="0"/>
                <a:cs typeface="Tahoma" pitchFamily="34" charset="0"/>
              </a:rPr>
              <a:t>Η</a:t>
            </a:r>
            <a:r>
              <a:rPr lang="el-GR" dirty="0">
                <a:solidFill>
                  <a:schemeClr val="tx2">
                    <a:lumMod val="50000"/>
                  </a:schemeClr>
                </a:solidFill>
                <a:latin typeface="Tahoma" pitchFamily="34" charset="0"/>
                <a:ea typeface="Tahoma" pitchFamily="34" charset="0"/>
                <a:cs typeface="Tahoma" pitchFamily="34" charset="0"/>
              </a:rPr>
              <a:t> ΟΣΣ 2020-21</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DF56EC89-1212-437C-8247-7C9A2B56926F}"/>
              </a:ext>
            </a:extLst>
          </p:cNvPr>
          <p:cNvSpPr>
            <a:spLocks noGrp="1" noChangeArrowheads="1"/>
          </p:cNvSpPr>
          <p:nvPr>
            <p:ph type="title"/>
          </p:nvPr>
        </p:nvSpPr>
        <p:spPr/>
        <p:txBody>
          <a:bodyPr/>
          <a:lstStyle/>
          <a:p>
            <a:r>
              <a:rPr lang="el-GR" altLang="en-US" sz="2800" b="1">
                <a:solidFill>
                  <a:srgbClr val="000099"/>
                </a:solidFill>
                <a:cs typeface="Times New Roman" panose="02020603050405020304" pitchFamily="18" charset="0"/>
              </a:rPr>
              <a:t>Ομοιότητες μεταξύ των ιδεών των παιδιών και των επιστημονικών θεωριών του παρελθόντος</a:t>
            </a:r>
            <a:r>
              <a:rPr lang="el-GR" altLang="en-US" sz="2800" b="1">
                <a:solidFill>
                  <a:srgbClr val="000099"/>
                </a:solidFill>
              </a:rPr>
              <a:t> (ΙΙ)</a:t>
            </a:r>
          </a:p>
        </p:txBody>
      </p:sp>
      <p:sp>
        <p:nvSpPr>
          <p:cNvPr id="33795" name="Rectangle 3">
            <a:extLst>
              <a:ext uri="{FF2B5EF4-FFF2-40B4-BE49-F238E27FC236}">
                <a16:creationId xmlns:a16="http://schemas.microsoft.com/office/drawing/2014/main" id="{32750157-1048-42EA-8029-652567B97903}"/>
              </a:ext>
            </a:extLst>
          </p:cNvPr>
          <p:cNvSpPr>
            <a:spLocks noGrp="1" noChangeArrowheads="1"/>
          </p:cNvSpPr>
          <p:nvPr>
            <p:ph type="body" idx="1"/>
          </p:nvPr>
        </p:nvSpPr>
        <p:spPr>
          <a:xfrm>
            <a:off x="1974715" y="2409285"/>
            <a:ext cx="8142052" cy="2726919"/>
          </a:xfrm>
          <a:ln w="50800">
            <a:solidFill>
              <a:schemeClr val="tx1"/>
            </a:solidFill>
          </a:ln>
        </p:spPr>
        <p:txBody>
          <a:bodyPr/>
          <a:lstStyle/>
          <a:p>
            <a:pPr algn="just"/>
            <a:r>
              <a:rPr lang="el-GR" altLang="en-US" dirty="0"/>
              <a:t>Τ</a:t>
            </a:r>
            <a:r>
              <a:rPr lang="el-GR" altLang="en-US" dirty="0">
                <a:cs typeface="Times New Roman" panose="02020603050405020304" pitchFamily="18" charset="0"/>
              </a:rPr>
              <a:t>α παιδιά θεωρούν</a:t>
            </a:r>
            <a:r>
              <a:rPr lang="el-GR" altLang="en-US" dirty="0"/>
              <a:t> τη θερμότητα ως</a:t>
            </a:r>
            <a:r>
              <a:rPr lang="el-GR" altLang="en-US" dirty="0">
                <a:cs typeface="Times New Roman" panose="02020603050405020304" pitchFamily="18" charset="0"/>
              </a:rPr>
              <a:t> ρευστό που μεταφέρεται από ένα σώμα</a:t>
            </a:r>
            <a:r>
              <a:rPr lang="el-GR" altLang="en-US" dirty="0"/>
              <a:t> </a:t>
            </a:r>
            <a:r>
              <a:rPr lang="el-GR" altLang="en-US" dirty="0">
                <a:cs typeface="Times New Roman" panose="02020603050405020304" pitchFamily="18" charset="0"/>
              </a:rPr>
              <a:t>σε ένα άλλο. </a:t>
            </a:r>
            <a:endParaRPr lang="el-GR" altLang="en-US" dirty="0"/>
          </a:p>
          <a:p>
            <a:pPr algn="just"/>
            <a:endParaRPr lang="el-GR" altLang="en-US" dirty="0"/>
          </a:p>
          <a:p>
            <a:pPr algn="just"/>
            <a:r>
              <a:rPr lang="el-GR" altLang="en-US" dirty="0"/>
              <a:t>Η</a:t>
            </a:r>
            <a:r>
              <a:rPr lang="el-GR" altLang="en-US" dirty="0">
                <a:cs typeface="Times New Roman" panose="02020603050405020304" pitchFamily="18" charset="0"/>
              </a:rPr>
              <a:t> άποψη </a:t>
            </a:r>
            <a:r>
              <a:rPr lang="el-GR" altLang="en-US" dirty="0"/>
              <a:t>αυτή </a:t>
            </a:r>
            <a:r>
              <a:rPr lang="el-GR" altLang="en-US" dirty="0">
                <a:cs typeface="Times New Roman" panose="02020603050405020304" pitchFamily="18" charset="0"/>
              </a:rPr>
              <a:t>συμπίπτει</a:t>
            </a:r>
            <a:r>
              <a:rPr lang="el-GR" altLang="en-US" dirty="0"/>
              <a:t> </a:t>
            </a:r>
            <a:r>
              <a:rPr lang="el-GR" altLang="en-US" dirty="0">
                <a:cs typeface="Times New Roman" panose="02020603050405020304" pitchFamily="18" charset="0"/>
              </a:rPr>
              <a:t>με την άποψη των επιστημόνων ακόμα και του προηγούμενου αιώνα.</a:t>
            </a:r>
          </a:p>
          <a:p>
            <a:endParaRPr lang="el-GR" altLang="en-US" dirty="0"/>
          </a:p>
        </p:txBody>
      </p:sp>
      <p:sp>
        <p:nvSpPr>
          <p:cNvPr id="4" name="Footer Placeholder 4">
            <a:extLst>
              <a:ext uri="{FF2B5EF4-FFF2-40B4-BE49-F238E27FC236}">
                <a16:creationId xmlns:a16="http://schemas.microsoft.com/office/drawing/2014/main" id="{A1B52D1E-DF5A-4D70-B7CB-F3029AAFCB89}"/>
              </a:ext>
            </a:extLst>
          </p:cNvPr>
          <p:cNvSpPr>
            <a:spLocks noGrp="1"/>
          </p:cNvSpPr>
          <p:nvPr>
            <p:ph type="ftr" sz="quarter" idx="11"/>
          </p:nvPr>
        </p:nvSpPr>
        <p:spPr>
          <a:xfrm>
            <a:off x="3541451" y="6356350"/>
            <a:ext cx="4114800" cy="365125"/>
          </a:xfrm>
        </p:spPr>
        <p:txBody>
          <a:bodyPr/>
          <a:lstStyle/>
          <a:p>
            <a:r>
              <a:rPr lang="el-GR" dirty="0">
                <a:solidFill>
                  <a:schemeClr val="tx2">
                    <a:lumMod val="50000"/>
                  </a:schemeClr>
                </a:solidFill>
                <a:latin typeface="Tahoma" pitchFamily="34" charset="0"/>
                <a:ea typeface="Tahoma" pitchFamily="34" charset="0"/>
                <a:cs typeface="Tahoma" pitchFamily="34" charset="0"/>
              </a:rPr>
              <a:t>Παναγιώτης </a:t>
            </a:r>
            <a:r>
              <a:rPr lang="el-GR" dirty="0" err="1">
                <a:solidFill>
                  <a:schemeClr val="tx2">
                    <a:lumMod val="50000"/>
                  </a:schemeClr>
                </a:solidFill>
                <a:latin typeface="Tahoma" pitchFamily="34" charset="0"/>
                <a:ea typeface="Tahoma" pitchFamily="34" charset="0"/>
                <a:cs typeface="Tahoma" pitchFamily="34" charset="0"/>
              </a:rPr>
              <a:t>Πήλιουρας</a:t>
            </a:r>
            <a:r>
              <a:rPr lang="el-GR" dirty="0">
                <a:solidFill>
                  <a:schemeClr val="tx2">
                    <a:lumMod val="50000"/>
                  </a:schemeClr>
                </a:solidFill>
                <a:latin typeface="Tahoma" pitchFamily="34" charset="0"/>
                <a:ea typeface="Tahoma" pitchFamily="34" charset="0"/>
                <a:cs typeface="Tahoma" pitchFamily="34" charset="0"/>
              </a:rPr>
              <a:t> @ Θ.Ε. ΕΚΠ63 1</a:t>
            </a:r>
            <a:r>
              <a:rPr lang="el-GR" baseline="30000" dirty="0">
                <a:solidFill>
                  <a:schemeClr val="tx2">
                    <a:lumMod val="50000"/>
                  </a:schemeClr>
                </a:solidFill>
                <a:latin typeface="Tahoma" pitchFamily="34" charset="0"/>
                <a:ea typeface="Tahoma" pitchFamily="34" charset="0"/>
                <a:cs typeface="Tahoma" pitchFamily="34" charset="0"/>
              </a:rPr>
              <a:t>Η</a:t>
            </a:r>
            <a:r>
              <a:rPr lang="el-GR" dirty="0">
                <a:solidFill>
                  <a:schemeClr val="tx2">
                    <a:lumMod val="50000"/>
                  </a:schemeClr>
                </a:solidFill>
                <a:latin typeface="Tahoma" pitchFamily="34" charset="0"/>
                <a:ea typeface="Tahoma" pitchFamily="34" charset="0"/>
                <a:cs typeface="Tahoma" pitchFamily="34" charset="0"/>
              </a:rPr>
              <a:t> ΟΣΣ 2020-21</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F155C2B-0C9C-4BD2-B6C7-804AF6A85710}" type="datetime1">
              <a:rPr lang="el-GR" smtClean="0"/>
              <a:pPr/>
              <a:t>25/10/2020</a:t>
            </a:fld>
            <a:endParaRPr lang="el-GR"/>
          </a:p>
        </p:txBody>
      </p:sp>
      <p:sp>
        <p:nvSpPr>
          <p:cNvPr id="6" name="Slide Number Placeholder 5"/>
          <p:cNvSpPr>
            <a:spLocks noGrp="1"/>
          </p:cNvSpPr>
          <p:nvPr>
            <p:ph type="sldNum" sz="quarter" idx="12"/>
          </p:nvPr>
        </p:nvSpPr>
        <p:spPr/>
        <p:txBody>
          <a:bodyPr/>
          <a:lstStyle/>
          <a:p>
            <a:fld id="{28C4B9FD-BBCD-4D20-BE68-D5FD8F544B57}" type="slidenum">
              <a:rPr lang="el-GR" smtClean="0"/>
              <a:pPr/>
              <a:t>38</a:t>
            </a:fld>
            <a:endParaRPr lang="el-GR"/>
          </a:p>
        </p:txBody>
      </p:sp>
      <p:sp>
        <p:nvSpPr>
          <p:cNvPr id="12" name="Rectangle 11"/>
          <p:cNvSpPr/>
          <p:nvPr/>
        </p:nvSpPr>
        <p:spPr>
          <a:xfrm>
            <a:off x="4559300" y="616635"/>
            <a:ext cx="6146800" cy="646331"/>
          </a:xfrm>
          <a:prstGeom prst="rect">
            <a:avLst/>
          </a:prstGeom>
        </p:spPr>
        <p:txBody>
          <a:bodyPr wrap="square">
            <a:spAutoFit/>
          </a:bodyPr>
          <a:lstStyle/>
          <a:p>
            <a:r>
              <a:rPr lang="el-GR" b="1" dirty="0">
                <a:latin typeface="Tahoma" pitchFamily="34" charset="0"/>
                <a:ea typeface="Tahoma" pitchFamily="34" charset="0"/>
                <a:cs typeface="Tahoma" pitchFamily="34" charset="0"/>
              </a:rPr>
              <a:t>Η 1η Γραπτή Εργασία στη Θεματική Ενότητα ΕΚΠ63 </a:t>
            </a:r>
          </a:p>
          <a:p>
            <a:pPr algn="r"/>
            <a:r>
              <a:rPr lang="el-GR" b="1" dirty="0">
                <a:latin typeface="Tahoma" pitchFamily="34" charset="0"/>
                <a:ea typeface="Tahoma" pitchFamily="34" charset="0"/>
                <a:cs typeface="Tahoma" pitchFamily="34" charset="0"/>
              </a:rPr>
              <a:t>(2020 – 2021)</a:t>
            </a:r>
          </a:p>
        </p:txBody>
      </p:sp>
      <p:sp>
        <p:nvSpPr>
          <p:cNvPr id="7" name="Rectangle 6"/>
          <p:cNvSpPr/>
          <p:nvPr/>
        </p:nvSpPr>
        <p:spPr>
          <a:xfrm>
            <a:off x="1664725" y="2265037"/>
            <a:ext cx="8793805" cy="2554545"/>
          </a:xfrm>
          <a:prstGeom prst="rect">
            <a:avLst/>
          </a:prstGeom>
          <a:ln w="50800">
            <a:solidFill>
              <a:srgbClr val="CE1E82"/>
            </a:solidFill>
          </a:ln>
        </p:spPr>
        <p:txBody>
          <a:bodyPr wrap="square">
            <a:spAutoFit/>
          </a:bodyPr>
          <a:lstStyle/>
          <a:p>
            <a:r>
              <a:rPr lang="el-GR" sz="3200" dirty="0">
                <a:latin typeface="Tahoma" pitchFamily="34" charset="0"/>
                <a:ea typeface="Tahoma" pitchFamily="34" charset="0"/>
                <a:cs typeface="Tahoma" pitchFamily="34" charset="0"/>
              </a:rPr>
              <a:t>Όπου κρίνετε αναγκαίο, εμπλουτίστε το κείμενό σας με παραδείγματα, με έρευνες, με μελέτες περίπτωσης και γενικά με κάθε μέσο που μπορεί να τεκμηριώσει τις θέσεις σας, πέρα βέβαια από την αναζήτηση και αξιοποίηση έγκυρων.</a:t>
            </a:r>
            <a:endParaRPr lang="en-US" sz="3200" dirty="0">
              <a:latin typeface="Tahoma" pitchFamily="34" charset="0"/>
              <a:ea typeface="Tahoma" pitchFamily="34" charset="0"/>
              <a:cs typeface="Tahoma" pitchFamily="34" charset="0"/>
            </a:endParaRPr>
          </a:p>
        </p:txBody>
      </p:sp>
      <p:grpSp>
        <p:nvGrpSpPr>
          <p:cNvPr id="8" name="Group 7"/>
          <p:cNvGrpSpPr/>
          <p:nvPr/>
        </p:nvGrpSpPr>
        <p:grpSpPr>
          <a:xfrm>
            <a:off x="-752889" y="849243"/>
            <a:ext cx="13671274" cy="5840895"/>
            <a:chOff x="-752889" y="849243"/>
            <a:chExt cx="13671274" cy="5840895"/>
          </a:xfrm>
        </p:grpSpPr>
        <p:sp>
          <p:nvSpPr>
            <p:cNvPr id="10" name="Oval 9"/>
            <p:cNvSpPr/>
            <p:nvPr/>
          </p:nvSpPr>
          <p:spPr>
            <a:xfrm>
              <a:off x="11383618" y="849243"/>
              <a:ext cx="1505778" cy="17526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11396871" y="2697921"/>
              <a:ext cx="1521514" cy="17526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11423375" y="4546599"/>
              <a:ext cx="1495010" cy="17526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752889" y="1266686"/>
              <a:ext cx="1505778" cy="17526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752889" y="3102111"/>
              <a:ext cx="1505778" cy="17526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752889" y="4937538"/>
              <a:ext cx="1505778" cy="17526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Footer Placeholder 4">
            <a:extLst>
              <a:ext uri="{FF2B5EF4-FFF2-40B4-BE49-F238E27FC236}">
                <a16:creationId xmlns:a16="http://schemas.microsoft.com/office/drawing/2014/main" id="{E8015071-AD83-4191-942C-4046A46F593C}"/>
              </a:ext>
            </a:extLst>
          </p:cNvPr>
          <p:cNvSpPr>
            <a:spLocks noGrp="1"/>
          </p:cNvSpPr>
          <p:nvPr>
            <p:ph type="ftr" sz="quarter" idx="11"/>
          </p:nvPr>
        </p:nvSpPr>
        <p:spPr>
          <a:xfrm>
            <a:off x="4038600" y="6356350"/>
            <a:ext cx="4114800" cy="365125"/>
          </a:xfrm>
        </p:spPr>
        <p:txBody>
          <a:bodyPr/>
          <a:lstStyle/>
          <a:p>
            <a:r>
              <a:rPr lang="el-GR" dirty="0">
                <a:solidFill>
                  <a:schemeClr val="tx2">
                    <a:lumMod val="50000"/>
                  </a:schemeClr>
                </a:solidFill>
                <a:latin typeface="Tahoma" pitchFamily="34" charset="0"/>
                <a:ea typeface="Tahoma" pitchFamily="34" charset="0"/>
                <a:cs typeface="Tahoma" pitchFamily="34" charset="0"/>
              </a:rPr>
              <a:t>Παναγιώτης </a:t>
            </a:r>
            <a:r>
              <a:rPr lang="el-GR" dirty="0" err="1">
                <a:solidFill>
                  <a:schemeClr val="tx2">
                    <a:lumMod val="50000"/>
                  </a:schemeClr>
                </a:solidFill>
                <a:latin typeface="Tahoma" pitchFamily="34" charset="0"/>
                <a:ea typeface="Tahoma" pitchFamily="34" charset="0"/>
                <a:cs typeface="Tahoma" pitchFamily="34" charset="0"/>
              </a:rPr>
              <a:t>Πήλιουρας</a:t>
            </a:r>
            <a:r>
              <a:rPr lang="el-GR" dirty="0">
                <a:solidFill>
                  <a:schemeClr val="tx2">
                    <a:lumMod val="50000"/>
                  </a:schemeClr>
                </a:solidFill>
                <a:latin typeface="Tahoma" pitchFamily="34" charset="0"/>
                <a:ea typeface="Tahoma" pitchFamily="34" charset="0"/>
                <a:cs typeface="Tahoma" pitchFamily="34" charset="0"/>
              </a:rPr>
              <a:t> @ Θ.Ε. ΕΚΠ63 1</a:t>
            </a:r>
            <a:r>
              <a:rPr lang="el-GR" baseline="30000" dirty="0">
                <a:solidFill>
                  <a:schemeClr val="tx2">
                    <a:lumMod val="50000"/>
                  </a:schemeClr>
                </a:solidFill>
                <a:latin typeface="Tahoma" pitchFamily="34" charset="0"/>
                <a:ea typeface="Tahoma" pitchFamily="34" charset="0"/>
                <a:cs typeface="Tahoma" pitchFamily="34" charset="0"/>
              </a:rPr>
              <a:t>Η</a:t>
            </a:r>
            <a:r>
              <a:rPr lang="el-GR" dirty="0">
                <a:solidFill>
                  <a:schemeClr val="tx2">
                    <a:lumMod val="50000"/>
                  </a:schemeClr>
                </a:solidFill>
                <a:latin typeface="Tahoma" pitchFamily="34" charset="0"/>
                <a:ea typeface="Tahoma" pitchFamily="34" charset="0"/>
                <a:cs typeface="Tahoma" pitchFamily="34" charset="0"/>
              </a:rPr>
              <a:t> ΟΣΣ 2020-21</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F155C2B-0C9C-4BD2-B6C7-804AF6A85710}" type="datetime1">
              <a:rPr lang="el-GR" smtClean="0"/>
              <a:pPr/>
              <a:t>25/10/2020</a:t>
            </a:fld>
            <a:endParaRPr lang="el-GR"/>
          </a:p>
        </p:txBody>
      </p:sp>
      <p:sp>
        <p:nvSpPr>
          <p:cNvPr id="6" name="Slide Number Placeholder 5"/>
          <p:cNvSpPr>
            <a:spLocks noGrp="1"/>
          </p:cNvSpPr>
          <p:nvPr>
            <p:ph type="sldNum" sz="quarter" idx="12"/>
          </p:nvPr>
        </p:nvSpPr>
        <p:spPr/>
        <p:txBody>
          <a:bodyPr/>
          <a:lstStyle/>
          <a:p>
            <a:fld id="{28C4B9FD-BBCD-4D20-BE68-D5FD8F544B57}" type="slidenum">
              <a:rPr lang="el-GR" smtClean="0"/>
              <a:pPr/>
              <a:t>39</a:t>
            </a:fld>
            <a:endParaRPr lang="el-GR" dirty="0"/>
          </a:p>
        </p:txBody>
      </p:sp>
      <p:sp>
        <p:nvSpPr>
          <p:cNvPr id="12" name="Rectangle 11"/>
          <p:cNvSpPr/>
          <p:nvPr/>
        </p:nvSpPr>
        <p:spPr>
          <a:xfrm>
            <a:off x="4559300" y="616635"/>
            <a:ext cx="6146800" cy="646331"/>
          </a:xfrm>
          <a:prstGeom prst="rect">
            <a:avLst/>
          </a:prstGeom>
        </p:spPr>
        <p:txBody>
          <a:bodyPr wrap="square">
            <a:spAutoFit/>
          </a:bodyPr>
          <a:lstStyle/>
          <a:p>
            <a:r>
              <a:rPr lang="el-GR" b="1" dirty="0">
                <a:latin typeface="Tahoma" pitchFamily="34" charset="0"/>
                <a:ea typeface="Tahoma" pitchFamily="34" charset="0"/>
                <a:cs typeface="Tahoma" pitchFamily="34" charset="0"/>
              </a:rPr>
              <a:t>Η 1η Γραπτή Εργασία στη Θεματική Ενότητα ΕΚΠ63 </a:t>
            </a:r>
          </a:p>
          <a:p>
            <a:pPr algn="r"/>
            <a:r>
              <a:rPr lang="el-GR" b="1" dirty="0">
                <a:latin typeface="Tahoma" pitchFamily="34" charset="0"/>
                <a:ea typeface="Tahoma" pitchFamily="34" charset="0"/>
                <a:cs typeface="Tahoma" pitchFamily="34" charset="0"/>
              </a:rPr>
              <a:t>(2020 – 2021)</a:t>
            </a:r>
          </a:p>
        </p:txBody>
      </p:sp>
      <p:sp>
        <p:nvSpPr>
          <p:cNvPr id="8" name="Rectangle 7"/>
          <p:cNvSpPr/>
          <p:nvPr/>
        </p:nvSpPr>
        <p:spPr>
          <a:xfrm>
            <a:off x="1346200" y="1907699"/>
            <a:ext cx="9398000" cy="1754326"/>
          </a:xfrm>
          <a:prstGeom prst="rect">
            <a:avLst/>
          </a:prstGeom>
        </p:spPr>
        <p:txBody>
          <a:bodyPr wrap="square">
            <a:spAutoFit/>
          </a:bodyPr>
          <a:lstStyle/>
          <a:p>
            <a:r>
              <a:rPr lang="el-GR" dirty="0">
                <a:latin typeface="Tahoma" pitchFamily="34" charset="0"/>
                <a:ea typeface="Tahoma" pitchFamily="34" charset="0"/>
                <a:cs typeface="Tahoma" pitchFamily="34" charset="0"/>
              </a:rPr>
              <a:t>Επιπλέον, η 1η ΓΕ θα πρέπει να περιλαμβάνει -πέρα από τον Τίτλο που σας δόθηκε τα ακόλουθα δομικά μέρη που εντοπίζονται σε κάθε ακαδημαϊκό κείμενο, ήτοι:</a:t>
            </a:r>
          </a:p>
          <a:p>
            <a:endParaRPr lang="el-GR" dirty="0">
              <a:latin typeface="Tahoma" pitchFamily="34" charset="0"/>
              <a:ea typeface="Tahoma" pitchFamily="34" charset="0"/>
              <a:cs typeface="Tahoma" pitchFamily="34" charset="0"/>
            </a:endParaRPr>
          </a:p>
          <a:p>
            <a:r>
              <a:rPr lang="el-GR" b="1" dirty="0">
                <a:latin typeface="Tahoma" pitchFamily="34" charset="0"/>
                <a:ea typeface="Tahoma" pitchFamily="34" charset="0"/>
                <a:cs typeface="Tahoma" pitchFamily="34" charset="0"/>
              </a:rPr>
              <a:t>• Εισαγωγή</a:t>
            </a:r>
            <a:r>
              <a:rPr lang="el-GR" dirty="0">
                <a:latin typeface="Tahoma" pitchFamily="34" charset="0"/>
                <a:ea typeface="Tahoma" pitchFamily="34" charset="0"/>
                <a:cs typeface="Tahoma" pitchFamily="34" charset="0"/>
              </a:rPr>
              <a:t>,</a:t>
            </a:r>
          </a:p>
          <a:p>
            <a:r>
              <a:rPr lang="el-GR" b="1" dirty="0">
                <a:latin typeface="Tahoma" pitchFamily="34" charset="0"/>
                <a:ea typeface="Tahoma" pitchFamily="34" charset="0"/>
                <a:cs typeface="Tahoma" pitchFamily="34" charset="0"/>
              </a:rPr>
              <a:t>• Κυρίως Μέρος</a:t>
            </a:r>
            <a:r>
              <a:rPr lang="el-GR" dirty="0">
                <a:latin typeface="Tahoma" pitchFamily="34" charset="0"/>
                <a:ea typeface="Tahoma" pitchFamily="34" charset="0"/>
                <a:cs typeface="Tahoma" pitchFamily="34" charset="0"/>
              </a:rPr>
              <a:t>,</a:t>
            </a:r>
          </a:p>
          <a:p>
            <a:r>
              <a:rPr lang="el-GR" b="1" dirty="0">
                <a:latin typeface="Tahoma" pitchFamily="34" charset="0"/>
                <a:ea typeface="Tahoma" pitchFamily="34" charset="0"/>
                <a:cs typeface="Tahoma" pitchFamily="34" charset="0"/>
              </a:rPr>
              <a:t>• Συμπεράσματα</a:t>
            </a:r>
            <a:endParaRPr lang="en-US" dirty="0">
              <a:latin typeface="Tahoma" pitchFamily="34" charset="0"/>
              <a:ea typeface="Tahoma" pitchFamily="34" charset="0"/>
              <a:cs typeface="Tahoma" pitchFamily="34" charset="0"/>
            </a:endParaRPr>
          </a:p>
        </p:txBody>
      </p:sp>
      <p:sp>
        <p:nvSpPr>
          <p:cNvPr id="9" name="Rectangle 8"/>
          <p:cNvSpPr/>
          <p:nvPr/>
        </p:nvSpPr>
        <p:spPr>
          <a:xfrm>
            <a:off x="1371600" y="3737920"/>
            <a:ext cx="9486900" cy="1754326"/>
          </a:xfrm>
          <a:prstGeom prst="rect">
            <a:avLst/>
          </a:prstGeom>
        </p:spPr>
        <p:txBody>
          <a:bodyPr wrap="square">
            <a:spAutoFit/>
          </a:bodyPr>
          <a:lstStyle/>
          <a:p>
            <a:r>
              <a:rPr lang="el-GR" dirty="0">
                <a:latin typeface="Tahoma" pitchFamily="34" charset="0"/>
                <a:ea typeface="Tahoma" pitchFamily="34" charset="0"/>
                <a:cs typeface="Tahoma" pitchFamily="34" charset="0"/>
              </a:rPr>
              <a:t>και να καταλήγει με τις </a:t>
            </a:r>
            <a:r>
              <a:rPr lang="el-GR" b="1" dirty="0">
                <a:latin typeface="Tahoma" pitchFamily="34" charset="0"/>
                <a:ea typeface="Tahoma" pitchFamily="34" charset="0"/>
                <a:cs typeface="Tahoma" pitchFamily="34" charset="0"/>
              </a:rPr>
              <a:t>Βιβλιογραφικές Αναφορές</a:t>
            </a:r>
            <a:r>
              <a:rPr lang="el-GR" dirty="0">
                <a:latin typeface="Tahoma" pitchFamily="34" charset="0"/>
                <a:ea typeface="Tahoma" pitchFamily="34" charset="0"/>
                <a:cs typeface="Tahoma" pitchFamily="34" charset="0"/>
              </a:rPr>
              <a:t>, δηλαδή, την αναλυτική καταγραφή σύμφωνα με το σύστημα ΑΡΑ εκείνων των πηγών, στις οποίες έγινε παραπομπή στη ροή του κειμένου (και όχι όλων όσων μελετήσατε, αλλά τελικά δεν χρησιμοποιήσατε). </a:t>
            </a:r>
          </a:p>
          <a:p>
            <a:endParaRPr lang="el-GR" b="1" dirty="0">
              <a:latin typeface="Tahoma" pitchFamily="34" charset="0"/>
              <a:ea typeface="Tahoma" pitchFamily="34" charset="0"/>
              <a:cs typeface="Tahoma" pitchFamily="34" charset="0"/>
            </a:endParaRPr>
          </a:p>
          <a:p>
            <a:r>
              <a:rPr lang="el-GR" b="1" dirty="0">
                <a:latin typeface="Tahoma" pitchFamily="34" charset="0"/>
                <a:ea typeface="Tahoma" pitchFamily="34" charset="0"/>
                <a:cs typeface="Tahoma" pitchFamily="34" charset="0"/>
              </a:rPr>
              <a:t>Προσοχή: Στην εργασία σας ΔΕΝ θα έχετε υποσημειώσεις! </a:t>
            </a:r>
            <a:r>
              <a:rPr lang="el-GR" dirty="0" err="1">
                <a:latin typeface="Tahoma" pitchFamily="34" charset="0"/>
                <a:ea typeface="Tahoma" pitchFamily="34" charset="0"/>
                <a:cs typeface="Tahoma" pitchFamily="34" charset="0"/>
              </a:rPr>
              <a:t>Ό,τι</a:t>
            </a:r>
            <a:r>
              <a:rPr lang="el-GR" dirty="0">
                <a:latin typeface="Tahoma" pitchFamily="34" charset="0"/>
                <a:ea typeface="Tahoma" pitchFamily="34" charset="0"/>
                <a:cs typeface="Tahoma" pitchFamily="34" charset="0"/>
              </a:rPr>
              <a:t> θέλετε να εντάξετε σε αυτήν, να το συμπεριλάβετε στη ροή του κειμένου σας και όχι στο περιθώριο αυτού.</a:t>
            </a:r>
            <a:endParaRPr lang="en-US" dirty="0">
              <a:latin typeface="Tahoma" pitchFamily="34" charset="0"/>
              <a:ea typeface="Tahoma" pitchFamily="34" charset="0"/>
              <a:cs typeface="Tahoma" pitchFamily="34" charset="0"/>
            </a:endParaRPr>
          </a:p>
        </p:txBody>
      </p:sp>
      <p:grpSp>
        <p:nvGrpSpPr>
          <p:cNvPr id="10" name="Group 9"/>
          <p:cNvGrpSpPr/>
          <p:nvPr/>
        </p:nvGrpSpPr>
        <p:grpSpPr>
          <a:xfrm>
            <a:off x="-752889" y="849243"/>
            <a:ext cx="13671274" cy="5840895"/>
            <a:chOff x="-752889" y="849243"/>
            <a:chExt cx="13671274" cy="5840895"/>
          </a:xfrm>
        </p:grpSpPr>
        <p:sp>
          <p:nvSpPr>
            <p:cNvPr id="13" name="Oval 12"/>
            <p:cNvSpPr/>
            <p:nvPr/>
          </p:nvSpPr>
          <p:spPr>
            <a:xfrm>
              <a:off x="11383618" y="849243"/>
              <a:ext cx="1505778" cy="17526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11396871" y="2697921"/>
              <a:ext cx="1521514" cy="17526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11423375" y="4546599"/>
              <a:ext cx="1495010" cy="17526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752889" y="1266686"/>
              <a:ext cx="1505778" cy="17526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752889" y="3102111"/>
              <a:ext cx="1505778" cy="17526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752889" y="4937538"/>
              <a:ext cx="1505778" cy="17526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Footer Placeholder 4">
            <a:extLst>
              <a:ext uri="{FF2B5EF4-FFF2-40B4-BE49-F238E27FC236}">
                <a16:creationId xmlns:a16="http://schemas.microsoft.com/office/drawing/2014/main" id="{266802E4-C2C2-4A06-A3B7-641F3E0B6142}"/>
              </a:ext>
            </a:extLst>
          </p:cNvPr>
          <p:cNvSpPr>
            <a:spLocks noGrp="1"/>
          </p:cNvSpPr>
          <p:nvPr>
            <p:ph type="ftr" sz="quarter" idx="11"/>
          </p:nvPr>
        </p:nvSpPr>
        <p:spPr>
          <a:xfrm>
            <a:off x="4038600" y="6356350"/>
            <a:ext cx="4114800" cy="365125"/>
          </a:xfrm>
        </p:spPr>
        <p:txBody>
          <a:bodyPr/>
          <a:lstStyle/>
          <a:p>
            <a:r>
              <a:rPr lang="el-GR" dirty="0">
                <a:solidFill>
                  <a:schemeClr val="tx2">
                    <a:lumMod val="50000"/>
                  </a:schemeClr>
                </a:solidFill>
                <a:latin typeface="Tahoma" pitchFamily="34" charset="0"/>
                <a:ea typeface="Tahoma" pitchFamily="34" charset="0"/>
                <a:cs typeface="Tahoma" pitchFamily="34" charset="0"/>
              </a:rPr>
              <a:t>Παναγιώτης </a:t>
            </a:r>
            <a:r>
              <a:rPr lang="el-GR" dirty="0" err="1">
                <a:solidFill>
                  <a:schemeClr val="tx2">
                    <a:lumMod val="50000"/>
                  </a:schemeClr>
                </a:solidFill>
                <a:latin typeface="Tahoma" pitchFamily="34" charset="0"/>
                <a:ea typeface="Tahoma" pitchFamily="34" charset="0"/>
                <a:cs typeface="Tahoma" pitchFamily="34" charset="0"/>
              </a:rPr>
              <a:t>Πήλιουρας</a:t>
            </a:r>
            <a:r>
              <a:rPr lang="el-GR" dirty="0">
                <a:solidFill>
                  <a:schemeClr val="tx2">
                    <a:lumMod val="50000"/>
                  </a:schemeClr>
                </a:solidFill>
                <a:latin typeface="Tahoma" pitchFamily="34" charset="0"/>
                <a:ea typeface="Tahoma" pitchFamily="34" charset="0"/>
                <a:cs typeface="Tahoma" pitchFamily="34" charset="0"/>
              </a:rPr>
              <a:t> @ Θ.Ε. ΕΚΠ63 1</a:t>
            </a:r>
            <a:r>
              <a:rPr lang="el-GR" baseline="30000" dirty="0">
                <a:solidFill>
                  <a:schemeClr val="tx2">
                    <a:lumMod val="50000"/>
                  </a:schemeClr>
                </a:solidFill>
                <a:latin typeface="Tahoma" pitchFamily="34" charset="0"/>
                <a:ea typeface="Tahoma" pitchFamily="34" charset="0"/>
                <a:cs typeface="Tahoma" pitchFamily="34" charset="0"/>
              </a:rPr>
              <a:t>Η</a:t>
            </a:r>
            <a:r>
              <a:rPr lang="el-GR" dirty="0">
                <a:solidFill>
                  <a:schemeClr val="tx2">
                    <a:lumMod val="50000"/>
                  </a:schemeClr>
                </a:solidFill>
                <a:latin typeface="Tahoma" pitchFamily="34" charset="0"/>
                <a:ea typeface="Tahoma" pitchFamily="34" charset="0"/>
                <a:cs typeface="Tahoma" pitchFamily="34" charset="0"/>
              </a:rPr>
              <a:t> ΟΣΣ 2020-21</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F155C2B-0C9C-4BD2-B6C7-804AF6A85710}" type="datetime1">
              <a:rPr lang="el-GR" smtClean="0"/>
              <a:pPr/>
              <a:t>25/10/2020</a:t>
            </a:fld>
            <a:endParaRPr lang="el-GR"/>
          </a:p>
        </p:txBody>
      </p:sp>
      <p:sp>
        <p:nvSpPr>
          <p:cNvPr id="6" name="Slide Number Placeholder 5"/>
          <p:cNvSpPr>
            <a:spLocks noGrp="1"/>
          </p:cNvSpPr>
          <p:nvPr>
            <p:ph type="sldNum" sz="quarter" idx="12"/>
          </p:nvPr>
        </p:nvSpPr>
        <p:spPr/>
        <p:txBody>
          <a:bodyPr/>
          <a:lstStyle/>
          <a:p>
            <a:fld id="{28C4B9FD-BBCD-4D20-BE68-D5FD8F544B57}" type="slidenum">
              <a:rPr lang="el-GR" smtClean="0"/>
              <a:pPr/>
              <a:t>40</a:t>
            </a:fld>
            <a:endParaRPr lang="el-GR" dirty="0"/>
          </a:p>
        </p:txBody>
      </p:sp>
      <p:sp>
        <p:nvSpPr>
          <p:cNvPr id="12" name="Rectangle 11"/>
          <p:cNvSpPr/>
          <p:nvPr/>
        </p:nvSpPr>
        <p:spPr>
          <a:xfrm>
            <a:off x="4559300" y="616635"/>
            <a:ext cx="6146800" cy="646331"/>
          </a:xfrm>
          <a:prstGeom prst="rect">
            <a:avLst/>
          </a:prstGeom>
        </p:spPr>
        <p:txBody>
          <a:bodyPr wrap="square">
            <a:spAutoFit/>
          </a:bodyPr>
          <a:lstStyle/>
          <a:p>
            <a:r>
              <a:rPr lang="el-GR" b="1" dirty="0">
                <a:latin typeface="Tahoma" pitchFamily="34" charset="0"/>
                <a:ea typeface="Tahoma" pitchFamily="34" charset="0"/>
                <a:cs typeface="Tahoma" pitchFamily="34" charset="0"/>
              </a:rPr>
              <a:t>Η 1η Γραπτή Εργασία στη Θεματική Ενότητα ΕΚΠ63 </a:t>
            </a:r>
          </a:p>
          <a:p>
            <a:pPr algn="r"/>
            <a:r>
              <a:rPr lang="el-GR" b="1" dirty="0">
                <a:latin typeface="Tahoma" pitchFamily="34" charset="0"/>
                <a:ea typeface="Tahoma" pitchFamily="34" charset="0"/>
                <a:cs typeface="Tahoma" pitchFamily="34" charset="0"/>
              </a:rPr>
              <a:t>(2020 – 2021)</a:t>
            </a:r>
          </a:p>
        </p:txBody>
      </p:sp>
      <p:grpSp>
        <p:nvGrpSpPr>
          <p:cNvPr id="2" name="Group 12"/>
          <p:cNvGrpSpPr/>
          <p:nvPr/>
        </p:nvGrpSpPr>
        <p:grpSpPr>
          <a:xfrm>
            <a:off x="-752889" y="849243"/>
            <a:ext cx="13671274" cy="5840895"/>
            <a:chOff x="-752889" y="849243"/>
            <a:chExt cx="13671274" cy="5840895"/>
          </a:xfrm>
        </p:grpSpPr>
        <p:sp>
          <p:nvSpPr>
            <p:cNvPr id="14" name="Oval 13"/>
            <p:cNvSpPr/>
            <p:nvPr/>
          </p:nvSpPr>
          <p:spPr>
            <a:xfrm>
              <a:off x="11383618" y="849243"/>
              <a:ext cx="1505778" cy="17526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11396871" y="2697921"/>
              <a:ext cx="1521514" cy="17526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11423375" y="4546599"/>
              <a:ext cx="1495010" cy="17526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752889" y="1266686"/>
              <a:ext cx="1505778" cy="17526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752889" y="3102111"/>
              <a:ext cx="1505778" cy="17526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752889" y="4937538"/>
              <a:ext cx="1505778" cy="17526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Rectangle 19"/>
          <p:cNvSpPr/>
          <p:nvPr/>
        </p:nvSpPr>
        <p:spPr>
          <a:xfrm>
            <a:off x="1537253" y="1455167"/>
            <a:ext cx="9660834" cy="4855175"/>
          </a:xfrm>
          <a:prstGeom prst="rect">
            <a:avLst/>
          </a:prstGeom>
          <a:ln w="50800">
            <a:solidFill>
              <a:schemeClr val="tx1"/>
            </a:solidFill>
          </a:ln>
        </p:spPr>
        <p:txBody>
          <a:bodyPr wrap="square">
            <a:spAutoFit/>
          </a:bodyPr>
          <a:lstStyle/>
          <a:p>
            <a:pPr>
              <a:spcAft>
                <a:spcPts val="600"/>
              </a:spcAft>
            </a:pPr>
            <a:r>
              <a:rPr lang="el-GR" dirty="0">
                <a:latin typeface="Tahoma" pitchFamily="34" charset="0"/>
                <a:ea typeface="Tahoma" pitchFamily="34" charset="0"/>
                <a:cs typeface="Tahoma" pitchFamily="34" charset="0"/>
              </a:rPr>
              <a:t>Τέλος, μην ξεχνάτε:</a:t>
            </a:r>
          </a:p>
          <a:p>
            <a:pPr marL="225425" indent="-225425">
              <a:spcAft>
                <a:spcPts val="600"/>
              </a:spcAft>
              <a:buFont typeface="Wingdings" pitchFamily="2" charset="2"/>
              <a:buChar char="ü"/>
            </a:pPr>
            <a:r>
              <a:rPr lang="el-GR" dirty="0">
                <a:latin typeface="Tahoma" pitchFamily="34" charset="0"/>
                <a:ea typeface="Tahoma" pitchFamily="34" charset="0"/>
                <a:cs typeface="Tahoma" pitchFamily="34" charset="0"/>
              </a:rPr>
              <a:t>Σε όλη αυτή τη διαδρομή προς την ολοκλήρωση της ΓΕ, σύμμαχός σας και συνοδοιπόρος είναι ο Καθηγητής-Σύμβουλος του τμήματός σας, στον οποίο μπορείτε να απευθύνεστε για συμβουλές </a:t>
            </a:r>
            <a:r>
              <a:rPr lang="el-GR" dirty="0" err="1">
                <a:latin typeface="Tahoma" pitchFamily="34" charset="0"/>
                <a:ea typeface="Tahoma" pitchFamily="34" charset="0"/>
                <a:cs typeface="Tahoma" pitchFamily="34" charset="0"/>
              </a:rPr>
              <a:t>στοχευμένες</a:t>
            </a:r>
            <a:r>
              <a:rPr lang="el-GR" dirty="0">
                <a:latin typeface="Tahoma" pitchFamily="34" charset="0"/>
                <a:ea typeface="Tahoma" pitchFamily="34" charset="0"/>
                <a:cs typeface="Tahoma" pitchFamily="34" charset="0"/>
              </a:rPr>
              <a:t> (και όχι π.χ. για προ-διόρθωση της εργασίας σας).</a:t>
            </a:r>
          </a:p>
          <a:p>
            <a:pPr marL="225425" indent="-225425">
              <a:spcAft>
                <a:spcPts val="600"/>
              </a:spcAft>
              <a:buFont typeface="Wingdings" pitchFamily="2" charset="2"/>
              <a:buChar char="ü"/>
            </a:pPr>
            <a:endParaRPr lang="el-GR" sz="1050" dirty="0">
              <a:latin typeface="Tahoma" pitchFamily="34" charset="0"/>
              <a:ea typeface="Tahoma" pitchFamily="34" charset="0"/>
              <a:cs typeface="Tahoma" pitchFamily="34" charset="0"/>
            </a:endParaRPr>
          </a:p>
          <a:p>
            <a:pPr marL="225425" indent="-225425">
              <a:spcAft>
                <a:spcPts val="600"/>
              </a:spcAft>
              <a:buFont typeface="Wingdings" pitchFamily="2" charset="2"/>
              <a:buChar char="ü"/>
            </a:pPr>
            <a:r>
              <a:rPr lang="el-GR" dirty="0">
                <a:latin typeface="Tahoma" pitchFamily="34" charset="0"/>
                <a:ea typeface="Tahoma" pitchFamily="34" charset="0"/>
                <a:cs typeface="Tahoma" pitchFamily="34" charset="0"/>
              </a:rPr>
              <a:t>Σύμφωνα με το Χρονοδιάγραμμα Μελέτης, ως καταληκτική ημερομηνία ηλεκτρονικής υποβολής της 1ης Γραπτής Εργασίας στη διαδικτυακή πύλη του ΕΑΠ, έχει οριστεί η </a:t>
            </a:r>
            <a:r>
              <a:rPr lang="en-US" dirty="0">
                <a:latin typeface="Tahoma" pitchFamily="34" charset="0"/>
                <a:ea typeface="Tahoma" pitchFamily="34" charset="0"/>
                <a:cs typeface="Tahoma" pitchFamily="34" charset="0"/>
              </a:rPr>
              <a:t>30</a:t>
            </a:r>
            <a:r>
              <a:rPr lang="el-GR" dirty="0">
                <a:latin typeface="Tahoma" pitchFamily="34" charset="0"/>
                <a:ea typeface="Tahoma" pitchFamily="34" charset="0"/>
                <a:cs typeface="Tahoma" pitchFamily="34" charset="0"/>
              </a:rPr>
              <a:t>η Νοεμβρίου 2020, ημέρα Δευτέρα.</a:t>
            </a:r>
          </a:p>
          <a:p>
            <a:pPr marL="225425" indent="-225425">
              <a:spcAft>
                <a:spcPts val="600"/>
              </a:spcAft>
              <a:buFont typeface="Wingdings" pitchFamily="2" charset="2"/>
              <a:buChar char="ü"/>
            </a:pPr>
            <a:endParaRPr lang="el-GR" dirty="0">
              <a:latin typeface="Tahoma" pitchFamily="34" charset="0"/>
              <a:ea typeface="Tahoma" pitchFamily="34" charset="0"/>
              <a:cs typeface="Tahoma" pitchFamily="34" charset="0"/>
            </a:endParaRPr>
          </a:p>
          <a:p>
            <a:pPr marL="225425" indent="-225425">
              <a:spcAft>
                <a:spcPts val="600"/>
              </a:spcAft>
              <a:buFont typeface="Wingdings" pitchFamily="2" charset="2"/>
              <a:buChar char="ü"/>
            </a:pPr>
            <a:r>
              <a:rPr lang="el-GR" dirty="0">
                <a:latin typeface="Tahoma" pitchFamily="34" charset="0"/>
                <a:ea typeface="Tahoma" pitchFamily="34" charset="0"/>
                <a:cs typeface="Tahoma" pitchFamily="34" charset="0"/>
              </a:rPr>
              <a:t>Σύμφωνα με τον Κανονισμό Σπουδών του ΕΑΠ "</a:t>
            </a:r>
            <a:r>
              <a:rPr lang="el-GR" i="1" dirty="0">
                <a:latin typeface="Tahoma" pitchFamily="34" charset="0"/>
                <a:ea typeface="Tahoma" pitchFamily="34" charset="0"/>
                <a:cs typeface="Tahoma" pitchFamily="34" charset="0"/>
              </a:rPr>
              <a:t>Σε περιπτώσεις κατά τις οποίες διαπιστώνεται αντιγραφή ή/και λογοκλοπή από το σύστημα </a:t>
            </a:r>
            <a:r>
              <a:rPr lang="el-GR" i="1" dirty="0" err="1">
                <a:latin typeface="Tahoma" pitchFamily="34" charset="0"/>
                <a:ea typeface="Tahoma" pitchFamily="34" charset="0"/>
                <a:cs typeface="Tahoma" pitchFamily="34" charset="0"/>
              </a:rPr>
              <a:t>Turnitin</a:t>
            </a:r>
            <a:r>
              <a:rPr lang="el-GR" i="1" dirty="0">
                <a:latin typeface="Tahoma" pitchFamily="34" charset="0"/>
                <a:ea typeface="Tahoma" pitchFamily="34" charset="0"/>
                <a:cs typeface="Tahoma" pitchFamily="34" charset="0"/>
              </a:rPr>
              <a:t> ή/και από τον διδάσκοντα, γίνεται επικοινωνία του διδάσκοντα με τον φοιτητή, ενημερώνεται ο Συντονιστής και ο Διευθυντής Σπουδών του προγράμματος, ενώ η ΓΕ μηδενίζεται ή βαθμολογείται αναλόγως".</a:t>
            </a:r>
          </a:p>
          <a:p>
            <a:pPr marL="225425" indent="-225425">
              <a:spcAft>
                <a:spcPts val="600"/>
              </a:spcAft>
              <a:buFont typeface="Wingdings" pitchFamily="2" charset="2"/>
              <a:buChar char="ü"/>
            </a:pPr>
            <a:endParaRPr lang="el-GR" sz="1000" i="1" dirty="0">
              <a:latin typeface="Tahoma" pitchFamily="34" charset="0"/>
              <a:ea typeface="Tahoma" pitchFamily="34" charset="0"/>
              <a:cs typeface="Tahoma" pitchFamily="34" charset="0"/>
            </a:endParaRPr>
          </a:p>
          <a:p>
            <a:pPr marL="225425" indent="-225425">
              <a:spcAft>
                <a:spcPts val="600"/>
              </a:spcAft>
              <a:buFont typeface="Wingdings" pitchFamily="2" charset="2"/>
              <a:buChar char="ü"/>
            </a:pPr>
            <a:r>
              <a:rPr lang="el-GR" dirty="0">
                <a:latin typeface="Tahoma" pitchFamily="34" charset="0"/>
                <a:ea typeface="Tahoma" pitchFamily="34" charset="0"/>
                <a:cs typeface="Tahoma" pitchFamily="34" charset="0"/>
              </a:rPr>
              <a:t>Να γράφετε απλά, αλλά όχι απλοϊκά.</a:t>
            </a:r>
            <a:endParaRPr lang="en-US" dirty="0">
              <a:latin typeface="Tahoma" pitchFamily="34" charset="0"/>
              <a:ea typeface="Tahoma" pitchFamily="34" charset="0"/>
              <a:cs typeface="Tahoma" pitchFamily="34" charset="0"/>
            </a:endParaRPr>
          </a:p>
        </p:txBody>
      </p:sp>
      <p:sp>
        <p:nvSpPr>
          <p:cNvPr id="21" name="Footer Placeholder 4">
            <a:extLst>
              <a:ext uri="{FF2B5EF4-FFF2-40B4-BE49-F238E27FC236}">
                <a16:creationId xmlns:a16="http://schemas.microsoft.com/office/drawing/2014/main" id="{765E817F-6C86-4336-8EA6-EE8868C3FF3C}"/>
              </a:ext>
            </a:extLst>
          </p:cNvPr>
          <p:cNvSpPr>
            <a:spLocks noGrp="1"/>
          </p:cNvSpPr>
          <p:nvPr>
            <p:ph type="ftr" sz="quarter" idx="11"/>
          </p:nvPr>
        </p:nvSpPr>
        <p:spPr>
          <a:xfrm>
            <a:off x="4038600" y="6356350"/>
            <a:ext cx="4114800" cy="365125"/>
          </a:xfrm>
        </p:spPr>
        <p:txBody>
          <a:bodyPr/>
          <a:lstStyle/>
          <a:p>
            <a:r>
              <a:rPr lang="el-GR" dirty="0">
                <a:solidFill>
                  <a:schemeClr val="tx2">
                    <a:lumMod val="50000"/>
                  </a:schemeClr>
                </a:solidFill>
                <a:latin typeface="Tahoma" pitchFamily="34" charset="0"/>
                <a:ea typeface="Tahoma" pitchFamily="34" charset="0"/>
                <a:cs typeface="Tahoma" pitchFamily="34" charset="0"/>
              </a:rPr>
              <a:t>Παναγιώτης </a:t>
            </a:r>
            <a:r>
              <a:rPr lang="el-GR" dirty="0" err="1">
                <a:solidFill>
                  <a:schemeClr val="tx2">
                    <a:lumMod val="50000"/>
                  </a:schemeClr>
                </a:solidFill>
                <a:latin typeface="Tahoma" pitchFamily="34" charset="0"/>
                <a:ea typeface="Tahoma" pitchFamily="34" charset="0"/>
                <a:cs typeface="Tahoma" pitchFamily="34" charset="0"/>
              </a:rPr>
              <a:t>Πήλιουρας</a:t>
            </a:r>
            <a:r>
              <a:rPr lang="el-GR" dirty="0">
                <a:solidFill>
                  <a:schemeClr val="tx2">
                    <a:lumMod val="50000"/>
                  </a:schemeClr>
                </a:solidFill>
                <a:latin typeface="Tahoma" pitchFamily="34" charset="0"/>
                <a:ea typeface="Tahoma" pitchFamily="34" charset="0"/>
                <a:cs typeface="Tahoma" pitchFamily="34" charset="0"/>
              </a:rPr>
              <a:t> @ Θ.Ε. ΕΚΠ63 1</a:t>
            </a:r>
            <a:r>
              <a:rPr lang="el-GR" baseline="30000" dirty="0">
                <a:solidFill>
                  <a:schemeClr val="tx2">
                    <a:lumMod val="50000"/>
                  </a:schemeClr>
                </a:solidFill>
                <a:latin typeface="Tahoma" pitchFamily="34" charset="0"/>
                <a:ea typeface="Tahoma" pitchFamily="34" charset="0"/>
                <a:cs typeface="Tahoma" pitchFamily="34" charset="0"/>
              </a:rPr>
              <a:t>Η</a:t>
            </a:r>
            <a:r>
              <a:rPr lang="el-GR" dirty="0">
                <a:solidFill>
                  <a:schemeClr val="tx2">
                    <a:lumMod val="50000"/>
                  </a:schemeClr>
                </a:solidFill>
                <a:latin typeface="Tahoma" pitchFamily="34" charset="0"/>
                <a:ea typeface="Tahoma" pitchFamily="34" charset="0"/>
                <a:cs typeface="Tahoma" pitchFamily="34" charset="0"/>
              </a:rPr>
              <a:t> ΟΣΣ 2020-21</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6193" y="2314298"/>
            <a:ext cx="9886122" cy="701675"/>
          </a:xfrm>
        </p:spPr>
        <p:txBody>
          <a:bodyPr>
            <a:normAutofit/>
          </a:bodyPr>
          <a:lstStyle/>
          <a:p>
            <a:r>
              <a:rPr lang="el-GR" b="1" dirty="0">
                <a:solidFill>
                  <a:schemeClr val="tx2">
                    <a:lumMod val="50000"/>
                  </a:schemeClr>
                </a:solidFill>
                <a:latin typeface="Tahoma" pitchFamily="34" charset="0"/>
                <a:ea typeface="Tahoma" pitchFamily="34" charset="0"/>
                <a:cs typeface="Tahoma" pitchFamily="34" charset="0"/>
              </a:rPr>
              <a:t>Θ.Ε. «Διδακτική Φυσικών Επιστημών»</a:t>
            </a:r>
          </a:p>
        </p:txBody>
      </p:sp>
      <p:sp>
        <p:nvSpPr>
          <p:cNvPr id="4" name="Date Placeholder 3"/>
          <p:cNvSpPr>
            <a:spLocks noGrp="1"/>
          </p:cNvSpPr>
          <p:nvPr>
            <p:ph type="dt" sz="half" idx="10"/>
          </p:nvPr>
        </p:nvSpPr>
        <p:spPr/>
        <p:txBody>
          <a:bodyPr/>
          <a:lstStyle/>
          <a:p>
            <a:fld id="{2F155C2B-0C9C-4BD2-B6C7-804AF6A85710}" type="datetime1">
              <a:rPr lang="el-GR" smtClean="0"/>
              <a:pPr/>
              <a:t>25/10/2020</a:t>
            </a:fld>
            <a:endParaRPr lang="el-GR"/>
          </a:p>
        </p:txBody>
      </p:sp>
      <p:sp>
        <p:nvSpPr>
          <p:cNvPr id="6" name="Slide Number Placeholder 5"/>
          <p:cNvSpPr>
            <a:spLocks noGrp="1"/>
          </p:cNvSpPr>
          <p:nvPr>
            <p:ph type="sldNum" sz="quarter" idx="12"/>
          </p:nvPr>
        </p:nvSpPr>
        <p:spPr/>
        <p:txBody>
          <a:bodyPr/>
          <a:lstStyle/>
          <a:p>
            <a:fld id="{28C4B9FD-BBCD-4D20-BE68-D5FD8F544B57}" type="slidenum">
              <a:rPr lang="el-GR" smtClean="0"/>
              <a:pPr/>
              <a:t>41</a:t>
            </a:fld>
            <a:endParaRPr lang="el-GR"/>
          </a:p>
        </p:txBody>
      </p:sp>
      <p:sp>
        <p:nvSpPr>
          <p:cNvPr id="7" name="Title 1"/>
          <p:cNvSpPr txBox="1">
            <a:spLocks/>
          </p:cNvSpPr>
          <p:nvPr/>
        </p:nvSpPr>
        <p:spPr>
          <a:xfrm>
            <a:off x="2411895" y="3228009"/>
            <a:ext cx="8327721" cy="744151"/>
          </a:xfrm>
          <a:prstGeom prst="rect">
            <a:avLst/>
          </a:prstGeom>
        </p:spPr>
        <p:txBody>
          <a:bodyPr vert="horz" lIns="91440" tIns="45720" rIns="91440" bIns="45720" rtlCol="0" anchor="t">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l-GR" sz="2800" i="0" u="none" strike="noStrike" kern="1200" cap="none" spc="0" normalizeH="0" baseline="0" noProof="0" dirty="0">
                <a:ln>
                  <a:noFill/>
                </a:ln>
                <a:solidFill>
                  <a:schemeClr val="tx2">
                    <a:lumMod val="50000"/>
                  </a:schemeClr>
                </a:solidFill>
                <a:effectLst/>
                <a:uLnTx/>
                <a:uFillTx/>
                <a:latin typeface="Tahoma" pitchFamily="34" charset="0"/>
                <a:ea typeface="Tahoma" pitchFamily="34" charset="0"/>
                <a:cs typeface="Tahoma" pitchFamily="34" charset="0"/>
              </a:rPr>
              <a:t>1</a:t>
            </a:r>
            <a:r>
              <a:rPr kumimoji="0" lang="el-GR" sz="2800" i="0" u="none" strike="noStrike" kern="1200" cap="none" spc="0" normalizeH="0" baseline="30000" noProof="0" dirty="0">
                <a:ln>
                  <a:noFill/>
                </a:ln>
                <a:solidFill>
                  <a:schemeClr val="tx2">
                    <a:lumMod val="50000"/>
                  </a:schemeClr>
                </a:solidFill>
                <a:effectLst/>
                <a:uLnTx/>
                <a:uFillTx/>
                <a:latin typeface="Tahoma" pitchFamily="34" charset="0"/>
                <a:ea typeface="Tahoma" pitchFamily="34" charset="0"/>
                <a:cs typeface="Tahoma" pitchFamily="34" charset="0"/>
              </a:rPr>
              <a:t>η</a:t>
            </a:r>
            <a:r>
              <a:rPr kumimoji="0" lang="el-GR" sz="2800" i="0" u="none" strike="noStrike" kern="1200" cap="none" spc="0" normalizeH="0" baseline="0" noProof="0" dirty="0">
                <a:ln>
                  <a:noFill/>
                </a:ln>
                <a:solidFill>
                  <a:schemeClr val="tx2">
                    <a:lumMod val="50000"/>
                  </a:schemeClr>
                </a:solidFill>
                <a:effectLst/>
                <a:uLnTx/>
                <a:uFillTx/>
                <a:latin typeface="Tahoma" pitchFamily="34" charset="0"/>
                <a:ea typeface="Tahoma" pitchFamily="34" charset="0"/>
                <a:cs typeface="Tahoma" pitchFamily="34" charset="0"/>
              </a:rPr>
              <a:t> </a:t>
            </a:r>
            <a:r>
              <a:rPr kumimoji="0" lang="en-US" sz="2800" i="0" u="none" strike="noStrike" kern="1200" cap="none" spc="0" normalizeH="0" baseline="0" noProof="0" dirty="0">
                <a:ln>
                  <a:noFill/>
                </a:ln>
                <a:solidFill>
                  <a:schemeClr val="tx2">
                    <a:lumMod val="50000"/>
                  </a:schemeClr>
                </a:solidFill>
                <a:effectLst/>
                <a:uLnTx/>
                <a:uFillTx/>
                <a:latin typeface="Tahoma" pitchFamily="34" charset="0"/>
                <a:ea typeface="Tahoma" pitchFamily="34" charset="0"/>
                <a:cs typeface="Tahoma" pitchFamily="34" charset="0"/>
              </a:rPr>
              <a:t>e</a:t>
            </a:r>
            <a:r>
              <a:rPr kumimoji="0" lang="el-GR" sz="2800" i="0" u="none" strike="noStrike" kern="1200" cap="none" spc="0" normalizeH="0" baseline="0" noProof="0" dirty="0">
                <a:ln>
                  <a:noFill/>
                </a:ln>
                <a:solidFill>
                  <a:schemeClr val="tx2">
                    <a:lumMod val="50000"/>
                  </a:schemeClr>
                </a:solidFill>
                <a:effectLst/>
                <a:uLnTx/>
                <a:uFillTx/>
                <a:latin typeface="Tahoma" pitchFamily="34" charset="0"/>
                <a:ea typeface="Tahoma" pitchFamily="34" charset="0"/>
                <a:cs typeface="Tahoma" pitchFamily="34" charset="0"/>
              </a:rPr>
              <a:t>Ομαδική Συμβουλευτική Συνάντηση (</a:t>
            </a:r>
            <a:r>
              <a:rPr kumimoji="0" lang="en-US" sz="2800" i="0" u="none" strike="noStrike" kern="1200" cap="none" spc="0" normalizeH="0" baseline="0" noProof="0" dirty="0">
                <a:ln>
                  <a:noFill/>
                </a:ln>
                <a:solidFill>
                  <a:schemeClr val="tx2">
                    <a:lumMod val="50000"/>
                  </a:schemeClr>
                </a:solidFill>
                <a:effectLst/>
                <a:uLnTx/>
                <a:uFillTx/>
                <a:latin typeface="Tahoma" pitchFamily="34" charset="0"/>
                <a:ea typeface="Tahoma" pitchFamily="34" charset="0"/>
                <a:cs typeface="Tahoma" pitchFamily="34" charset="0"/>
              </a:rPr>
              <a:t>e</a:t>
            </a:r>
            <a:r>
              <a:rPr kumimoji="0" lang="el-GR" sz="2800" i="0" u="none" strike="noStrike" kern="1200" cap="none" spc="0" normalizeH="0" baseline="0" noProof="0" dirty="0">
                <a:ln>
                  <a:noFill/>
                </a:ln>
                <a:solidFill>
                  <a:schemeClr val="tx2">
                    <a:lumMod val="50000"/>
                  </a:schemeClr>
                </a:solidFill>
                <a:effectLst/>
                <a:uLnTx/>
                <a:uFillTx/>
                <a:latin typeface="Tahoma" pitchFamily="34" charset="0"/>
                <a:ea typeface="Tahoma" pitchFamily="34" charset="0"/>
                <a:cs typeface="Tahoma" pitchFamily="34" charset="0"/>
              </a:rPr>
              <a:t>ΟΣΣ)</a:t>
            </a:r>
          </a:p>
        </p:txBody>
      </p:sp>
      <p:sp>
        <p:nvSpPr>
          <p:cNvPr id="9" name="Oval 8"/>
          <p:cNvSpPr/>
          <p:nvPr/>
        </p:nvSpPr>
        <p:spPr>
          <a:xfrm>
            <a:off x="11383618" y="849243"/>
            <a:ext cx="1505778" cy="17526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396871" y="2697921"/>
            <a:ext cx="1521514" cy="17526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11423375" y="4546599"/>
            <a:ext cx="1495010" cy="17526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752889" y="1266686"/>
            <a:ext cx="1505778" cy="17526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752889" y="3102111"/>
            <a:ext cx="1505778" cy="17526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752889" y="4937538"/>
            <a:ext cx="1505778" cy="17526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2804986" y="4170969"/>
            <a:ext cx="6603091" cy="830997"/>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l-GR" sz="4800" b="1" dirty="0">
                <a:ln w="11430"/>
                <a:solidFill>
                  <a:srgbClr val="00B0F0"/>
                </a:solidFill>
                <a:effectLst>
                  <a:outerShdw blurRad="50800" dist="39000" dir="5460000" algn="tl">
                    <a:srgbClr val="000000">
                      <a:alpha val="38000"/>
                    </a:srgbClr>
                  </a:outerShdw>
                </a:effectLst>
                <a:latin typeface="Tahoma" pitchFamily="34" charset="0"/>
                <a:ea typeface="Tahoma" pitchFamily="34" charset="0"/>
                <a:cs typeface="Tahoma" pitchFamily="34" charset="0"/>
              </a:rPr>
              <a:t>Σας ευχαριστώ πολύ!</a:t>
            </a:r>
            <a:endParaRPr lang="en-US" sz="4800" b="1" cap="none" spc="0" dirty="0">
              <a:ln w="11430"/>
              <a:solidFill>
                <a:srgbClr val="00B0F0"/>
              </a:solidFill>
              <a:effectLst>
                <a:outerShdw blurRad="50800" dist="39000" dir="5460000" algn="tl">
                  <a:srgbClr val="000000">
                    <a:alpha val="38000"/>
                  </a:srgbClr>
                </a:outerShdw>
              </a:effectLst>
              <a:latin typeface="Tahoma" pitchFamily="34" charset="0"/>
              <a:ea typeface="Tahoma" pitchFamily="34" charset="0"/>
              <a:cs typeface="Tahoma" pitchFamily="34" charset="0"/>
            </a:endParaRPr>
          </a:p>
        </p:txBody>
      </p:sp>
      <p:sp>
        <p:nvSpPr>
          <p:cNvPr id="16" name="Footer Placeholder 4">
            <a:extLst>
              <a:ext uri="{FF2B5EF4-FFF2-40B4-BE49-F238E27FC236}">
                <a16:creationId xmlns:a16="http://schemas.microsoft.com/office/drawing/2014/main" id="{840B55E2-C8B2-42D5-AADF-74C0CB233AEC}"/>
              </a:ext>
            </a:extLst>
          </p:cNvPr>
          <p:cNvSpPr>
            <a:spLocks noGrp="1"/>
          </p:cNvSpPr>
          <p:nvPr>
            <p:ph type="ftr" sz="quarter" idx="11"/>
          </p:nvPr>
        </p:nvSpPr>
        <p:spPr>
          <a:xfrm>
            <a:off x="4038600" y="6356350"/>
            <a:ext cx="4114800" cy="365125"/>
          </a:xfrm>
        </p:spPr>
        <p:txBody>
          <a:bodyPr/>
          <a:lstStyle/>
          <a:p>
            <a:r>
              <a:rPr lang="el-GR" dirty="0">
                <a:solidFill>
                  <a:schemeClr val="tx2">
                    <a:lumMod val="50000"/>
                  </a:schemeClr>
                </a:solidFill>
                <a:latin typeface="Tahoma" pitchFamily="34" charset="0"/>
                <a:ea typeface="Tahoma" pitchFamily="34" charset="0"/>
                <a:cs typeface="Tahoma" pitchFamily="34" charset="0"/>
              </a:rPr>
              <a:t>Παναγιώτης </a:t>
            </a:r>
            <a:r>
              <a:rPr lang="el-GR" dirty="0" err="1">
                <a:solidFill>
                  <a:schemeClr val="tx2">
                    <a:lumMod val="50000"/>
                  </a:schemeClr>
                </a:solidFill>
                <a:latin typeface="Tahoma" pitchFamily="34" charset="0"/>
                <a:ea typeface="Tahoma" pitchFamily="34" charset="0"/>
                <a:cs typeface="Tahoma" pitchFamily="34" charset="0"/>
              </a:rPr>
              <a:t>Πήλιουρας</a:t>
            </a:r>
            <a:r>
              <a:rPr lang="el-GR" dirty="0">
                <a:solidFill>
                  <a:schemeClr val="tx2">
                    <a:lumMod val="50000"/>
                  </a:schemeClr>
                </a:solidFill>
                <a:latin typeface="Tahoma" pitchFamily="34" charset="0"/>
                <a:ea typeface="Tahoma" pitchFamily="34" charset="0"/>
                <a:cs typeface="Tahoma" pitchFamily="34" charset="0"/>
              </a:rPr>
              <a:t> @ Θ.Ε. ΕΚΠ63 1</a:t>
            </a:r>
            <a:r>
              <a:rPr lang="el-GR" baseline="30000" dirty="0">
                <a:solidFill>
                  <a:schemeClr val="tx2">
                    <a:lumMod val="50000"/>
                  </a:schemeClr>
                </a:solidFill>
                <a:latin typeface="Tahoma" pitchFamily="34" charset="0"/>
                <a:ea typeface="Tahoma" pitchFamily="34" charset="0"/>
                <a:cs typeface="Tahoma" pitchFamily="34" charset="0"/>
              </a:rPr>
              <a:t>Η</a:t>
            </a:r>
            <a:r>
              <a:rPr lang="el-GR" dirty="0">
                <a:solidFill>
                  <a:schemeClr val="tx2">
                    <a:lumMod val="50000"/>
                  </a:schemeClr>
                </a:solidFill>
                <a:latin typeface="Tahoma" pitchFamily="34" charset="0"/>
                <a:ea typeface="Tahoma" pitchFamily="34" charset="0"/>
                <a:cs typeface="Tahoma" pitchFamily="34" charset="0"/>
              </a:rPr>
              <a:t> ΟΣΣ 2020-21</a:t>
            </a:r>
          </a:p>
        </p:txBody>
      </p:sp>
    </p:spTree>
    <p:extLst>
      <p:ext uri="{BB962C8B-B14F-4D97-AF65-F5344CB8AC3E}">
        <p14:creationId xmlns:p14="http://schemas.microsoft.com/office/powerpoint/2010/main" val="26896654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2C1799F7-B698-4182-9425-05B70A6FFCD6}" vid="{1CE26449-DB6F-4F43-97D8-53CDEB0810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Πρότυπο Παρουσίασης ΔΕ</Template>
  <TotalTime>1973</TotalTime>
  <Words>3378</Words>
  <Application>Microsoft Office PowerPoint</Application>
  <PresentationFormat>Ευρεία οθόνη</PresentationFormat>
  <Paragraphs>389</Paragraphs>
  <Slides>41</Slides>
  <Notes>0</Notes>
  <HiddenSlides>0</HiddenSlides>
  <MMClips>0</MMClips>
  <ScaleCrop>false</ScaleCrop>
  <HeadingPairs>
    <vt:vector size="6" baseType="variant">
      <vt:variant>
        <vt:lpstr>Γραμματοσειρές που χρησιμοποιούνται</vt:lpstr>
      </vt:variant>
      <vt:variant>
        <vt:i4>8</vt:i4>
      </vt:variant>
      <vt:variant>
        <vt:lpstr>Θέμα</vt:lpstr>
      </vt:variant>
      <vt:variant>
        <vt:i4>1</vt:i4>
      </vt:variant>
      <vt:variant>
        <vt:lpstr>Τίτλοι διαφανειών</vt:lpstr>
      </vt:variant>
      <vt:variant>
        <vt:i4>41</vt:i4>
      </vt:variant>
    </vt:vector>
  </HeadingPairs>
  <TitlesOfParts>
    <vt:vector size="50" baseType="lpstr">
      <vt:lpstr>Arial</vt:lpstr>
      <vt:lpstr>Calibri</vt:lpstr>
      <vt:lpstr>Calibri Light</vt:lpstr>
      <vt:lpstr>Open Sans</vt:lpstr>
      <vt:lpstr>Symbol</vt:lpstr>
      <vt:lpstr>Tahoma</vt:lpstr>
      <vt:lpstr>Times New Roman</vt:lpstr>
      <vt:lpstr>Wingdings</vt:lpstr>
      <vt:lpstr>Office Theme</vt:lpstr>
      <vt:lpstr>Θ.Ε. «Διδακτική Φυσικών Επιστημών»</vt:lpstr>
      <vt:lpstr>https://padlet.com/ppiliour/5p98jta5cg2vzdhf </vt:lpstr>
      <vt:lpstr>«Επιστημονικός γραμματισμός» σημαίνει το ίδιο για όλους; </vt:lpstr>
      <vt:lpstr>Παρουσίαση του PowerPoint</vt:lpstr>
      <vt:lpstr>Παρουσίαση του PowerPoint</vt:lpstr>
      <vt:lpstr>Επιστημονικός γραμματισμός: … εδράζεται σε επιλογές επιστημολογικής φύσης</vt:lpstr>
      <vt:lpstr>Επιστημονικός γραμματισμός: … εδράζεται σε θεωρήσεις που υιοθετούνται για τη γνωστική και μαθησιακή διαδικασία</vt:lpstr>
      <vt:lpstr>Επιστημονικός γραμματισμός</vt:lpstr>
      <vt:lpstr>Επιστημονικός γραμματισμός</vt:lpstr>
      <vt:lpstr>Όψεις επίτευξης επιστημονικού εγγραμματισμού (1) </vt:lpstr>
      <vt:lpstr>Όψεις επίτευξης επιστημονικού εγγραμματισμού (2) </vt:lpstr>
      <vt:lpstr>Τελικά τι είδους επιστημονικό γραμματισμό διδάσκουμε στην πράξη;</vt:lpstr>
      <vt:lpstr>Παρουσίαση του PowerPoint</vt:lpstr>
      <vt:lpstr>Η 1η Γραπτή Εργασία</vt:lpstr>
      <vt:lpstr>Παρουσίαση του PowerPoint</vt:lpstr>
      <vt:lpstr>Σημασία των ΓΕ </vt:lpstr>
      <vt:lpstr>Παρουσίαση του PowerPoint</vt:lpstr>
      <vt:lpstr>Γενικά  χαρακτηριστικά των αντιλήψεων των μαθητών </vt:lpstr>
      <vt:lpstr>Παρουσίαση του PowerPoint</vt:lpstr>
      <vt:lpstr>Παρουσίαση του PowerPoint</vt:lpstr>
      <vt:lpstr>Αντιλήψεις των μαθητών για έννοιες ΦΕ: Οι εμπειρίες μας</vt:lpstr>
      <vt:lpstr>Παρουσίαση του PowerPoint</vt:lpstr>
      <vt:lpstr>Παρουσίαση του PowerPoint</vt:lpstr>
      <vt:lpstr>Ο πιo σπουδαίος απλός παράγοντας που επηρεάζει τη μάθηση είναι αυτό που ο μαθητής ήδη γνωρίζει. Εξακρίβωσε το και δίδαξε τον σύμφωνα με αυτό   (Ausubel, 1968). </vt:lpstr>
      <vt:lpstr>Οι αντιλήψεις των μαθητών αναφέρονται και ως:</vt:lpstr>
      <vt:lpstr>Οι αντιλήψεις των μαθητών  στις Φυσικές Επιστήμες </vt:lpstr>
      <vt:lpstr>Οι αντιλήψεις των μαθητών  στις Φυσικές Επιστήμες </vt:lpstr>
      <vt:lpstr>Οι αντιλήψεις των μαθητών  στις Φυσικές Επιστήμες</vt:lpstr>
      <vt:lpstr>Οι αντιλήψεις των μαθητών  στις Φυσικές Επιστήμες </vt:lpstr>
      <vt:lpstr>Παρουσίαση του PowerPoint</vt:lpstr>
      <vt:lpstr>Έρευνες για τις αντιλήψεις</vt:lpstr>
      <vt:lpstr>Έρευνες για τις αντιλήψεις</vt:lpstr>
      <vt:lpstr>Παράγοντες που διαμορφώνουν τις αντιλήψεις των μαθητών </vt:lpstr>
      <vt:lpstr>Παρουσίαση του PowerPoint</vt:lpstr>
      <vt:lpstr>Παρουσίαση του PowerPoint</vt:lpstr>
      <vt:lpstr>Ομοιότητες μεταξύ των αντιλήψεων των παιδιών και των επιστημονικών θεωριών του παρελθόντος (Ι) </vt:lpstr>
      <vt:lpstr>Ομοιότητες μεταξύ των ιδεών των παιδιών και των επιστημονικών θεωριών του παρελθόντος (ΙΙ)</vt:lpstr>
      <vt:lpstr>Παρουσίαση του PowerPoint</vt:lpstr>
      <vt:lpstr>Παρουσίαση του PowerPoint</vt:lpstr>
      <vt:lpstr>Παρουσίαση του PowerPoint</vt:lpstr>
      <vt:lpstr>Θ.Ε. «Διδακτική Φυσικών Επιστημών»</vt:lpstr>
    </vt:vector>
  </TitlesOfParts>
  <Company>ΕΕΥΕΜ/ΕΑΠ</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Elias C. Stavropoulos</dc:creator>
  <cp:lastModifiedBy>Panagiotis Piliouras</cp:lastModifiedBy>
  <cp:revision>236</cp:revision>
  <dcterms:created xsi:type="dcterms:W3CDTF">2016-10-18T07:42:06Z</dcterms:created>
  <dcterms:modified xsi:type="dcterms:W3CDTF">2020-10-25T14:33:03Z</dcterms:modified>
</cp:coreProperties>
</file>